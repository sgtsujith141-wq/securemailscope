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22000"/>
              </a:lnSpc>
              <a:spcAft>
                <a:spcPts val="300"/>
              </a:spcAft>
            </a:pPr>
            <a:r>
              <a:rPr sz="1300" b="0">
                <a:solidFill>
                  <a:srgbClr val="111B2A"/>
                </a:solidFill>
                <a:latin typeface="Calibri"/>
              </a:rPr>
              <a:t>Problem Statement ID – SIH26159</a:t>
            </a:r>
            <a:endParaRPr lang="en-US" dirty="0"/>
          </a:p>
          <a:p>
            <a:pPr>
              <a:lnSpc>
                <a:spcPct val="122000"/>
              </a:lnSpc>
              <a:spcAft>
                <a:spcPts val="300"/>
              </a:spcAft>
            </a:pPr>
            <a:r>
              <a:rPr sz="1300" b="0">
                <a:solidFill>
                  <a:srgbClr val="111B2A"/>
                </a:solidFill>
                <a:latin typeface="Calibri"/>
              </a:rPr>
              <a:t>Problem Statement Title – SecureMailScope: AI-Assisted Cryptographic Security Posture Assessment for Secure Email Communications</a:t>
            </a:r>
          </a:p>
          <a:p>
            <a:pPr>
              <a:lnSpc>
                <a:spcPct val="122000"/>
              </a:lnSpc>
              <a:spcAft>
                <a:spcPts val="300"/>
              </a:spcAft>
            </a:pPr>
            <a:r>
              <a:rPr sz="1300" b="0">
                <a:solidFill>
                  <a:srgbClr val="111B2A"/>
                </a:solidFill>
                <a:latin typeface="Calibri"/>
              </a:rPr>
              <a:t>Organisation – National Technical Research Organisation (NTRO)</a:t>
            </a:r>
          </a:p>
          <a:p>
            <a:pPr>
              <a:lnSpc>
                <a:spcPct val="122000"/>
              </a:lnSpc>
              <a:spcAft>
                <a:spcPts val="300"/>
              </a:spcAft>
            </a:pPr>
            <a:r>
              <a:rPr sz="1300" b="0">
                <a:solidFill>
                  <a:srgbClr val="C01A1A"/>
                </a:solidFill>
                <a:latin typeface="Calibri"/>
              </a:rPr>
              <a:t>Theme – [UNRESOLVED: theme]</a:t>
            </a:r>
          </a:p>
          <a:p>
            <a:pPr>
              <a:lnSpc>
                <a:spcPct val="122000"/>
              </a:lnSpc>
              <a:spcAft>
                <a:spcPts val="300"/>
              </a:spcAft>
            </a:pPr>
            <a:r>
              <a:rPr sz="1300" b="0">
                <a:solidFill>
                  <a:srgbClr val="111B2A"/>
                </a:solidFill>
                <a:latin typeface="Calibri"/>
              </a:rPr>
              <a:t>PS Category – Software</a:t>
            </a:r>
          </a:p>
          <a:p>
            <a:pPr>
              <a:lnSpc>
                <a:spcPct val="122000"/>
              </a:lnSpc>
              <a:spcAft>
                <a:spcPts val="300"/>
              </a:spcAft>
            </a:pPr>
            <a:r>
              <a:rPr sz="1300" b="0">
                <a:solidFill>
                  <a:srgbClr val="C01A1A"/>
                </a:solidFill>
                <a:latin typeface="Calibri"/>
              </a:rPr>
              <a:t>Team ID – [UNRESOLVED: team id]</a:t>
            </a:r>
          </a:p>
          <a:p>
            <a:pPr>
              <a:lnSpc>
                <a:spcPct val="122000"/>
              </a:lnSpc>
              <a:spcAft>
                <a:spcPts val="300"/>
              </a:spcAft>
            </a:pPr>
            <a:r>
              <a:rPr sz="1300" b="0">
                <a:solidFill>
                  <a:srgbClr val="111B2A"/>
                </a:solidFill>
                <a:latin typeface="Calibri"/>
              </a:rPr>
              <a:t>Team Name (Registered on portal) – Zero-Day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384048" y="1060704"/>
            <a:ext cx="11430000" cy="658368"/>
          </a:xfrm>
          <a:prstGeom prst="rect">
            <a:avLst/>
          </a:prstGeom>
          <a:noFill/>
          <a:ln w="9525">
            <a:noFill/>
            <a:miter lim="800000"/>
            <a:headEnd/>
            <a:tailEnd/>
          </a:ln>
        </p:spPr>
        <p:txBody>
          <a:bodyPr wrap="square">
            <a:spAutoFit/>
          </a:bodyPr>
          <a:lstStyle/>
          <a:p>
            <a:pPr marL="342900" indent="-342900">
              <a:lnSpc>
                <a:spcPct val="100000"/>
              </a:lnSpc>
              <a:spcAft>
                <a:spcPts val="300"/>
              </a:spcAft>
              <a:buFont typeface="Wingdings" panose="05000000000000000000" pitchFamily="2" charset="2"/>
              <a:buChar char="v"/>
            </a:pPr>
            <a:r>
              <a:rPr sz="1500" b="1">
                <a:solidFill>
                  <a:srgbClr val="0B5FA5"/>
                </a:solidFill>
                <a:latin typeface="Calibri"/>
              </a:rPr>
              <a:t>SecureMailScope turns passive email packet captures into evidence-backed cryptographic investigations.</a:t>
            </a:r>
            <a:endParaRPr lang="en-US" sz="3200" u="sng" dirty="0">
              <a:solidFill>
                <a:schemeClr val="tx2"/>
              </a:solidFill>
              <a:latin typeface="Arial" pitchFamily="34" charset="0"/>
              <a:cs typeface="Arial" pitchFamily="34" charset="0"/>
            </a:endParaRPr>
          </a:p>
          <a:p>
            <a:pPr>
              <a:lnSpc>
                <a:spcPct val="100000"/>
              </a:lnSpc>
              <a:spcAft>
                <a:spcPts val="300"/>
              </a:spcAft>
            </a:pPr>
            <a:r>
              <a:rPr sz="1050" b="0">
                <a:solidFill>
                  <a:srgbClr val="4A5A70"/>
                </a:solidFill>
                <a:latin typeface="Calibri"/>
              </a:rPr>
              <a:t>Every conclusion is traceable to the packets that establish it — and where a capture cannot show something, it says so.</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Rounded Rectangle 15362"/>
          <p:cNvSpPr/>
          <p:nvPr/>
        </p:nvSpPr>
        <p:spPr>
          <a:xfrm>
            <a:off x="38404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PCAP</a:t>
            </a:r>
          </a:p>
        </p:txBody>
      </p:sp>
      <p:sp>
        <p:nvSpPr>
          <p:cNvPr id="15364" name="Right Arrow 15363"/>
          <p:cNvSpPr/>
          <p:nvPr/>
        </p:nvSpPr>
        <p:spPr>
          <a:xfrm>
            <a:off x="2103120"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ounded Rectangle 15364"/>
          <p:cNvSpPr/>
          <p:nvPr/>
        </p:nvSpPr>
        <p:spPr>
          <a:xfrm>
            <a:off x="2340864"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TCP
reconstruction</a:t>
            </a:r>
          </a:p>
        </p:txBody>
      </p:sp>
      <p:sp>
        <p:nvSpPr>
          <p:cNvPr id="15366" name="Right Arrow 15365"/>
          <p:cNvSpPr/>
          <p:nvPr/>
        </p:nvSpPr>
        <p:spPr>
          <a:xfrm>
            <a:off x="4059936"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ounded Rectangle 15366"/>
          <p:cNvSpPr/>
          <p:nvPr/>
        </p:nvSpPr>
        <p:spPr>
          <a:xfrm>
            <a:off x="4297680"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SMTP / IMAP
POP3</a:t>
            </a:r>
          </a:p>
        </p:txBody>
      </p:sp>
      <p:sp>
        <p:nvSpPr>
          <p:cNvPr id="15368" name="Right Arrow 15367"/>
          <p:cNvSpPr/>
          <p:nvPr/>
        </p:nvSpPr>
        <p:spPr>
          <a:xfrm>
            <a:off x="6016752"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Rounded Rectangle 15368"/>
          <p:cNvSpPr/>
          <p:nvPr/>
        </p:nvSpPr>
        <p:spPr>
          <a:xfrm>
            <a:off x="6254496"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STARTTLS
TLS</a:t>
            </a:r>
          </a:p>
        </p:txBody>
      </p:sp>
      <p:sp>
        <p:nvSpPr>
          <p:cNvPr id="15370" name="Right Arrow 15369"/>
          <p:cNvSpPr/>
          <p:nvPr/>
        </p:nvSpPr>
        <p:spPr>
          <a:xfrm>
            <a:off x="7973568"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Rounded Rectangle 15370"/>
          <p:cNvSpPr/>
          <p:nvPr/>
        </p:nvSpPr>
        <p:spPr>
          <a:xfrm>
            <a:off x="8211312"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Cryptographic
evidence</a:t>
            </a:r>
          </a:p>
        </p:txBody>
      </p:sp>
      <p:sp>
        <p:nvSpPr>
          <p:cNvPr id="15372" name="Right Arrow 15371"/>
          <p:cNvSpPr/>
          <p:nvPr/>
        </p:nvSpPr>
        <p:spPr>
          <a:xfrm>
            <a:off x="9930384"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3" name="Rounded Rectangle 15372"/>
          <p:cNvSpPr/>
          <p:nvPr/>
        </p:nvSpPr>
        <p:spPr>
          <a:xfrm>
            <a:off x="1016812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Risk +
remediation</a:t>
            </a:r>
          </a:p>
        </p:txBody>
      </p:sp>
      <p:pic>
        <p:nvPicPr>
          <p:cNvPr id="15374" name="Picture 15373" descr="02-investigation-overview.png"/>
          <p:cNvPicPr>
            <a:picLocks noChangeAspect="1"/>
          </p:cNvPicPr>
          <p:nvPr/>
        </p:nvPicPr>
        <p:blipFill>
          <a:blip r:embed="rId4"/>
          <a:stretch>
            <a:fillRect/>
          </a:stretch>
        </p:blipFill>
        <p:spPr>
          <a:xfrm>
            <a:off x="384048" y="2523744"/>
            <a:ext cx="5989320" cy="3368992"/>
          </a:xfrm>
          <a:prstGeom prst="rect">
            <a:avLst/>
          </a:prstGeom>
        </p:spPr>
      </p:pic>
      <p:sp>
        <p:nvSpPr>
          <p:cNvPr id="15375" name="Rectangle 15374"/>
          <p:cNvSpPr/>
          <p:nvPr/>
        </p:nvSpPr>
        <p:spPr>
          <a:xfrm>
            <a:off x="384048" y="2523744"/>
            <a:ext cx="5989320" cy="3368992"/>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TextBox 15375"/>
          <p:cNvSpPr txBox="1"/>
          <p:nvPr/>
        </p:nvSpPr>
        <p:spPr>
          <a:xfrm>
            <a:off x="384048" y="5911024"/>
            <a:ext cx="5989320"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The investigation overview, on seven synthetic captures. Actual product output.</a:t>
            </a:r>
          </a:p>
        </p:txBody>
      </p:sp>
      <p:sp>
        <p:nvSpPr>
          <p:cNvPr id="15377" name="Rounded Rectangle 15376"/>
          <p:cNvSpPr/>
          <p:nvPr/>
        </p:nvSpPr>
        <p:spPr>
          <a:xfrm>
            <a:off x="6601968" y="2523744"/>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it does</a:t>
            </a:r>
          </a:p>
          <a:p>
            <a:pPr>
              <a:lnSpc>
                <a:spcPct val="92000"/>
              </a:lnSpc>
              <a:spcAft>
                <a:spcPts val="300"/>
              </a:spcAft>
            </a:pPr>
            <a:r>
              <a:rPr sz="900" b="0">
                <a:solidFill>
                  <a:srgbClr val="1F2C3F"/>
                </a:solidFill>
                <a:latin typeface="Calibri"/>
              </a:rPr>
              <a:t>Reads authorized PCAP/PCAPNG, reconstructs TCP sessions, identifies the email protocol from the dialogue rather than the port, reconstructs the TLS handshake, extracts certificate evidence where it is observable, applies 25 policy rules and scores the result.</a:t>
            </a:r>
          </a:p>
        </p:txBody>
      </p:sp>
      <p:sp>
        <p:nvSpPr>
          <p:cNvPr id="15378" name="Rounded Rectangle 15377"/>
          <p:cNvSpPr/>
          <p:nvPr/>
        </p:nvSpPr>
        <p:spPr>
          <a:xfrm>
            <a:off x="6601968" y="3730752"/>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How it addresses SIH26159</a:t>
            </a:r>
          </a:p>
          <a:p>
            <a:pPr>
              <a:lnSpc>
                <a:spcPct val="92000"/>
              </a:lnSpc>
              <a:spcAft>
                <a:spcPts val="300"/>
              </a:spcAft>
            </a:pPr>
            <a:r>
              <a:rPr sz="900" b="0">
                <a:solidFill>
                  <a:srgbClr val="1F2C3F"/>
                </a:solidFill>
                <a:latin typeface="Calibri"/>
              </a:rPr>
              <a:t>The organisation already holds the captures. No probe, no scan, no credential and no change to a production mail server — which also means an authorised investigator with no access to the host can still assess how it protected traffic.</a:t>
            </a:r>
          </a:p>
        </p:txBody>
      </p:sp>
      <p:sp>
        <p:nvSpPr>
          <p:cNvPr id="15379" name="Rounded Rectangle 15378"/>
          <p:cNvSpPr/>
          <p:nvPr/>
        </p:nvSpPr>
        <p:spPr>
          <a:xfrm>
            <a:off x="6601968" y="4937760"/>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makes it different</a:t>
            </a:r>
          </a:p>
          <a:p>
            <a:pPr>
              <a:lnSpc>
                <a:spcPct val="92000"/>
              </a:lnSpc>
              <a:spcAft>
                <a:spcPts val="300"/>
              </a:spcAft>
            </a:pPr>
            <a:r>
              <a:rPr sz="900" b="0">
                <a:solidFill>
                  <a:srgbClr val="1F2C3F"/>
                </a:solidFill>
                <a:latin typeface="Calibri"/>
              </a:rPr>
              <a:t>Packet-level provenance on every finding · cryptographic DNA and drift across captures · cross-session correlation · explainable scoring with the arithmetic shown · fully local and offline · stated limits instead of silent gaps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indent="-342900" algn="just">
              <a:lnSpc>
                <a:spcPct val="100000"/>
              </a:lnSpc>
              <a:spcAft>
                <a:spcPts val="300"/>
              </a:spcAft>
              <a:buFont typeface="Arial" panose="020B0604020202020204" pitchFamily="34" charset="0"/>
              <a:buChar char="•"/>
            </a:pPr>
            <a:r>
              <a:rPr sz="1000" b="0">
                <a:solidFill>
                  <a:srgbClr val="4A5A70"/>
                </a:solidFill>
                <a:latin typeface="Calibri"/>
              </a:rPr>
              <a:t>Each stage reads only what the previous one produced. Line counts are actual.</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PCAP / PCAPNG   —   untrusted input, 8 hard limits</a:t>
            </a:r>
          </a:p>
        </p:txBody>
      </p:sp>
      <p:sp>
        <p:nvSpPr>
          <p:cNvPr id="17412" name="Rounded Rectangle 17411"/>
          <p:cNvSpPr/>
          <p:nvPr/>
        </p:nvSpPr>
        <p:spPr>
          <a:xfrm>
            <a:off x="384048" y="1824228"/>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Safe ingestion — 1,166 loc   —   format from content, never the extension</a:t>
            </a:r>
          </a:p>
        </p:txBody>
      </p:sp>
      <p:sp>
        <p:nvSpPr>
          <p:cNvPr id="17413" name="Rounded Rectangle 17412"/>
          <p:cNvSpPr/>
          <p:nvPr/>
        </p:nvSpPr>
        <p:spPr>
          <a:xfrm>
            <a:off x="384048" y="2221992"/>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TCP reconstruction — ~900 loc   —   reorder · retransmit · gaps · overlap conflicts</a:t>
            </a:r>
          </a:p>
        </p:txBody>
      </p:sp>
      <p:sp>
        <p:nvSpPr>
          <p:cNvPr id="17414" name="Rounded Rectangle 17413"/>
          <p:cNvSpPr/>
          <p:nvPr/>
        </p:nvSpPr>
        <p:spPr>
          <a:xfrm>
            <a:off x="384048" y="2619756"/>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SMTP / IMAP / POP3 — 3,406 loc   —   real state machines; port is only a hint</a:t>
            </a:r>
          </a:p>
        </p:txBody>
      </p:sp>
      <p:sp>
        <p:nvSpPr>
          <p:cNvPr id="17415" name="Rounded Rectangle 17414"/>
          <p:cNvSpPr/>
          <p:nvPr/>
        </p:nvSpPr>
        <p:spPr>
          <a:xfrm>
            <a:off x="384048" y="3017520"/>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STARTTLS / STLS   —   advertised · requested · outcome · exact upgrade packet</a:t>
            </a:r>
          </a:p>
        </p:txBody>
      </p:sp>
      <p:sp>
        <p:nvSpPr>
          <p:cNvPr id="17416" name="Rounded Rectangle 17415"/>
          <p:cNvSpPr/>
          <p:nvPr/>
        </p:nvSpPr>
        <p:spPr>
          <a:xfrm>
            <a:off x="384048" y="3415284"/>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TLS handshake + crypto — 3,042 loc   —   version from supported_versions, KX from key_share</a:t>
            </a:r>
          </a:p>
        </p:txBody>
      </p:sp>
      <p:sp>
        <p:nvSpPr>
          <p:cNvPr id="17417" name="Rounded Rectangle 17416"/>
          <p:cNvSpPr/>
          <p:nvPr/>
        </p:nvSpPr>
        <p:spPr>
          <a:xfrm>
            <a:off x="384048" y="3813048"/>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X.509 intelligence — 861 loc   —   RFC 5280 path, dates, hostname, key, signature</a:t>
            </a:r>
          </a:p>
        </p:txBody>
      </p:sp>
      <p:sp>
        <p:nvSpPr>
          <p:cNvPr id="17418" name="Rounded Rectangle 17417"/>
          <p:cNvSpPr/>
          <p:nvPr/>
        </p:nvSpPr>
        <p:spPr>
          <a:xfrm>
            <a:off x="384048" y="4210812"/>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Security rules + scoring — 3,416 loc   —   25 rules · versioned policy · explainable score</a:t>
            </a:r>
          </a:p>
        </p:txBody>
      </p:sp>
      <p:sp>
        <p:nvSpPr>
          <p:cNvPr id="17419" name="Rounded Rectangle 17418"/>
          <p:cNvSpPr/>
          <p:nvPr/>
        </p:nvSpPr>
        <p:spPr>
          <a:xfrm>
            <a:off x="384048" y="4608575"/>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Correlation · drift · anomaly — 5,471 loc   —   fingerprints · entities · blast radius · ML</a:t>
            </a:r>
          </a:p>
        </p:txBody>
      </p:sp>
      <p:sp>
        <p:nvSpPr>
          <p:cNvPr id="17420" name="Rounded Rectangle 17419"/>
          <p:cNvSpPr/>
          <p:nvPr/>
        </p:nvSpPr>
        <p:spPr>
          <a:xfrm>
            <a:off x="384048" y="5006339"/>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FastAPI + SQLite — 2,756 loc   —   loopback only · token · 3 explicit migrations</a:t>
            </a:r>
          </a:p>
        </p:txBody>
      </p:sp>
      <p:sp>
        <p:nvSpPr>
          <p:cNvPr id="17421" name="Rounded Rectangle 17420"/>
          <p:cNvSpPr/>
          <p:nvPr/>
        </p:nvSpPr>
        <p:spPr>
          <a:xfrm>
            <a:off x="384048" y="5404103"/>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React forensic dashboard — 4,400 loc   —   TypeScript strict · evidence-linked throughout</a:t>
            </a:r>
          </a:p>
        </p:txBody>
      </p:sp>
      <p:sp>
        <p:nvSpPr>
          <p:cNvPr id="17422" name="Rounded Rectangle 17421"/>
          <p:cNvSpPr/>
          <p:nvPr/>
        </p:nvSpPr>
        <p:spPr>
          <a:xfrm>
            <a:off x="384048" y="5801867"/>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JSON · HTML · PDF — 1,582 loc   —   one canonical model, parity-tested</a:t>
            </a:r>
          </a:p>
        </p:txBody>
      </p:sp>
      <p:sp>
        <p:nvSpPr>
          <p:cNvPr id="17423" name="Rounded Rectangle 17422"/>
          <p:cNvSpPr/>
          <p:nvPr/>
        </p:nvSpPr>
        <p:spPr>
          <a:xfrm>
            <a:off x="6144768"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1B6B3A"/>
                </a:solidFill>
                <a:latin typeface="Calibri"/>
              </a:rPr>
              <a:t>PASSIVE ONLY</a:t>
            </a:r>
          </a:p>
        </p:txBody>
      </p:sp>
      <p:sp>
        <p:nvSpPr>
          <p:cNvPr id="17424" name="Rounded Rectangle 17423"/>
          <p:cNvSpPr/>
          <p:nvPr/>
        </p:nvSpPr>
        <p:spPr>
          <a:xfrm>
            <a:off x="8083296"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0B5FA5"/>
                </a:solidFill>
                <a:latin typeface="Calibri"/>
              </a:rPr>
              <a:t>LOCAL FIRST</a:t>
            </a:r>
          </a:p>
        </p:txBody>
      </p:sp>
      <p:sp>
        <p:nvSpPr>
          <p:cNvPr id="17425" name="Rounded Rectangle 17424"/>
          <p:cNvSpPr/>
          <p:nvPr/>
        </p:nvSpPr>
        <p:spPr>
          <a:xfrm>
            <a:off x="10021824"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A83A1E"/>
                </a:solidFill>
                <a:latin typeface="Calibri"/>
              </a:rPr>
              <a:t>EVIDENCE LINKED</a:t>
            </a:r>
          </a:p>
        </p:txBody>
      </p:sp>
      <p:pic>
        <p:nvPicPr>
          <p:cNvPr id="17426" name="Picture 17425" descr="05-evidence-chain.png"/>
          <p:cNvPicPr>
            <a:picLocks noChangeAspect="1"/>
          </p:cNvPicPr>
          <p:nvPr/>
        </p:nvPicPr>
        <p:blipFill>
          <a:blip r:embed="rId4"/>
          <a:stretch>
            <a:fillRect/>
          </a:stretch>
        </p:blipFill>
        <p:spPr>
          <a:xfrm>
            <a:off x="6144768" y="1847088"/>
            <a:ext cx="2761488" cy="1553337"/>
          </a:xfrm>
          <a:prstGeom prst="rect">
            <a:avLst/>
          </a:prstGeom>
        </p:spPr>
      </p:pic>
      <p:sp>
        <p:nvSpPr>
          <p:cNvPr id="17427" name="Rectangle 17426"/>
          <p:cNvSpPr/>
          <p:nvPr/>
        </p:nvSpPr>
        <p:spPr>
          <a:xfrm>
            <a:off x="6144768" y="1847088"/>
            <a:ext cx="2761488" cy="1553337"/>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6144768" y="3418713"/>
            <a:ext cx="2761488"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Finding → packets</a:t>
            </a:r>
          </a:p>
        </p:txBody>
      </p:sp>
      <p:pic>
        <p:nvPicPr>
          <p:cNvPr id="17429" name="Picture 17428" descr="07-cryptographic-intelligence.png"/>
          <p:cNvPicPr>
            <a:picLocks noChangeAspect="1"/>
          </p:cNvPicPr>
          <p:nvPr/>
        </p:nvPicPr>
        <p:blipFill>
          <a:blip r:embed="rId5"/>
          <a:stretch>
            <a:fillRect/>
          </a:stretch>
        </p:blipFill>
        <p:spPr>
          <a:xfrm>
            <a:off x="9052560" y="1847088"/>
            <a:ext cx="2761488" cy="1553337"/>
          </a:xfrm>
          <a:prstGeom prst="rect">
            <a:avLst/>
          </a:prstGeom>
        </p:spPr>
      </p:pic>
      <p:sp>
        <p:nvSpPr>
          <p:cNvPr id="17430" name="Rectangle 17429"/>
          <p:cNvSpPr/>
          <p:nvPr/>
        </p:nvSpPr>
        <p:spPr>
          <a:xfrm>
            <a:off x="9052560" y="1847088"/>
            <a:ext cx="2761488" cy="1553337"/>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9052560" y="3418713"/>
            <a:ext cx="2761488"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Cryptographic DNA</a:t>
            </a:r>
          </a:p>
        </p:txBody>
      </p:sp>
      <p:sp>
        <p:nvSpPr>
          <p:cNvPr id="17432" name="Rounded Rectangle 17431"/>
          <p:cNvSpPr/>
          <p:nvPr/>
        </p:nvSpPr>
        <p:spPr>
          <a:xfrm>
            <a:off x="6144768" y="3675887"/>
            <a:ext cx="5669280" cy="11887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00" b="1">
                <a:solidFill>
                  <a:srgbClr val="0B5FA5"/>
                </a:solidFill>
                <a:latin typeface="Calibri"/>
              </a:rPr>
              <a:t>Technologies</a:t>
            </a:r>
          </a:p>
          <a:p>
            <a:pPr>
              <a:lnSpc>
                <a:spcPct val="90000"/>
              </a:lnSpc>
              <a:spcAft>
                <a:spcPts val="300"/>
              </a:spcAft>
            </a:pPr>
            <a:r>
              <a:rPr sz="850" b="0">
                <a:solidFill>
                  <a:srgbClr val="1F2C3F"/>
                </a:solidFill>
                <a:latin typeface="Calibri"/>
              </a:rPr>
              <a:t>Python 3.12 · Scapy 2.7 (dissection only) · cryptography 50 · Pydantic 2.9 · FastAPI · SQLite · SQLAlchemy</a:t>
            </a:r>
          </a:p>
          <a:p>
            <a:pPr>
              <a:lnSpc>
                <a:spcPct val="90000"/>
              </a:lnSpc>
              <a:spcAft>
                <a:spcPts val="300"/>
              </a:spcAft>
            </a:pPr>
            <a:r>
              <a:rPr sz="850" b="0">
                <a:solidFill>
                  <a:srgbClr val="1F2C3F"/>
                </a:solidFill>
                <a:latin typeface="Calibri"/>
              </a:rPr>
              <a:t>React 18 · TypeScript strict · Vite 8 · Tailwind · scikit-learn 1.5 · ReportLab · Jinja2</a:t>
            </a:r>
          </a:p>
          <a:p>
            <a:pPr>
              <a:lnSpc>
                <a:spcPct val="90000"/>
              </a:lnSpc>
              <a:spcAft>
                <a:spcPts val="300"/>
              </a:spcAft>
            </a:pPr>
            <a:r>
              <a:rPr sz="850" b="0">
                <a:solidFill>
                  <a:srgbClr val="1F2C3F"/>
                </a:solidFill>
                <a:latin typeface="Calibri"/>
              </a:rPr>
              <a:t>Verification: pytest · hypothesis · Playwright · Vitest · TShark used as an independent dissector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Feasible because it is built and measured. Every figure is from the release commit, re-run — not an estimate.</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3675887" cy="237744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1B6B3A"/>
                </a:solidFill>
                <a:latin typeface="Calibri"/>
              </a:rPr>
              <a:t>Implemented and verified</a:t>
            </a:r>
          </a:p>
          <a:p>
            <a:pPr>
              <a:lnSpc>
                <a:spcPct val="90000"/>
              </a:lnSpc>
              <a:spcAft>
                <a:spcPts val="300"/>
              </a:spcAft>
            </a:pPr>
            <a:r>
              <a:rPr sz="850" b="0">
                <a:solidFill>
                  <a:srgbClr val="1F2C3F"/>
                </a:solidFill>
                <a:latin typeface="Calibri"/>
              </a:rPr>
              <a:t>Full PCAP → report workflow, end to end</a:t>
            </a:r>
          </a:p>
          <a:p>
            <a:pPr>
              <a:lnSpc>
                <a:spcPct val="90000"/>
              </a:lnSpc>
              <a:spcAft>
                <a:spcPts val="300"/>
              </a:spcAft>
            </a:pPr>
            <a:r>
              <a:rPr sz="850" b="0">
                <a:solidFill>
                  <a:srgbClr val="1F2C3F"/>
                </a:solidFill>
                <a:latin typeface="Calibri"/>
              </a:rPr>
              <a:t>TCP reconstruction handles reordering, retransmission, gaps, overlap conflicts and tuple reuse</a:t>
            </a:r>
          </a:p>
          <a:p>
            <a:pPr>
              <a:lnSpc>
                <a:spcPct val="90000"/>
              </a:lnSpc>
              <a:spcAft>
                <a:spcPts val="300"/>
              </a:spcAft>
            </a:pPr>
            <a:r>
              <a:rPr sz="850" b="0">
                <a:solidFill>
                  <a:srgbClr val="1F2C3F"/>
                </a:solidFill>
                <a:latin typeface="Calibri"/>
              </a:rPr>
              <a:t>SMTP / IMAP / POP3 state machines with STARTTLS and STLS; protocol from the dialogue, not the port</a:t>
            </a:r>
          </a:p>
          <a:p>
            <a:pPr>
              <a:lnSpc>
                <a:spcPct val="90000"/>
              </a:lnSpc>
              <a:spcAft>
                <a:spcPts val="300"/>
              </a:spcAft>
            </a:pPr>
            <a:r>
              <a:rPr sz="850" b="0">
                <a:solidFill>
                  <a:srgbClr val="1F2C3F"/>
                </a:solidFill>
                <a:latin typeface="Calibri"/>
              </a:rPr>
              <a:t>TLS 1.2 and TLS 1.3 handled with separate semantics</a:t>
            </a:r>
          </a:p>
          <a:p>
            <a:pPr>
              <a:lnSpc>
                <a:spcPct val="90000"/>
              </a:lnSpc>
              <a:spcAft>
                <a:spcPts val="300"/>
              </a:spcAft>
            </a:pPr>
            <a:r>
              <a:rPr sz="850" b="0">
                <a:solidFill>
                  <a:srgbClr val="1F2C3F"/>
                </a:solidFill>
                <a:latin typeface="Calibri"/>
              </a:rPr>
              <a:t>X.509 analysis wherever the evidence permits</a:t>
            </a:r>
          </a:p>
          <a:p>
            <a:pPr>
              <a:lnSpc>
                <a:spcPct val="90000"/>
              </a:lnSpc>
              <a:spcAft>
                <a:spcPts val="300"/>
              </a:spcAft>
            </a:pPr>
            <a:r>
              <a:rPr sz="850" b="0">
                <a:solidFill>
                  <a:srgbClr val="1F2C3F"/>
                </a:solidFill>
                <a:latin typeface="Calibri"/>
              </a:rPr>
              <a:t>25 deterministic rules, versioned policy, explainable score</a:t>
            </a:r>
          </a:p>
          <a:p>
            <a:pPr>
              <a:lnSpc>
                <a:spcPct val="90000"/>
              </a:lnSpc>
              <a:spcAft>
                <a:spcPts val="300"/>
              </a:spcAft>
            </a:pPr>
            <a:r>
              <a:rPr sz="850" b="0">
                <a:solidFill>
                  <a:srgbClr val="1F2C3F"/>
                </a:solidFill>
                <a:latin typeface="Calibri"/>
              </a:rPr>
              <a:t>Cross-capture drift and correlation</a:t>
            </a:r>
          </a:p>
        </p:txBody>
      </p:sp>
      <p:sp>
        <p:nvSpPr>
          <p:cNvPr id="17412" name="Rounded Rectangle 17411"/>
          <p:cNvSpPr/>
          <p:nvPr/>
        </p:nvSpPr>
        <p:spPr>
          <a:xfrm>
            <a:off x="4206240" y="1426464"/>
            <a:ext cx="3675887" cy="237744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111B2A"/>
                </a:solidFill>
                <a:latin typeface="Calibri"/>
              </a:rPr>
              <a:t>Verification</a:t>
            </a:r>
          </a:p>
          <a:p>
            <a:pPr>
              <a:lnSpc>
                <a:spcPct val="90000"/>
              </a:lnSpc>
              <a:spcAft>
                <a:spcPts val="300"/>
              </a:spcAft>
            </a:pPr>
            <a:r>
              <a:rPr sz="850" b="0">
                <a:solidFill>
                  <a:srgbClr val="1F2C3F"/>
                </a:solidFill>
                <a:latin typeface="Calibri"/>
              </a:rPr>
              <a:t>1,354 backend tests pass; 1,364 with the TShark cross-check enabled</a:t>
            </a:r>
          </a:p>
          <a:p>
            <a:pPr>
              <a:lnSpc>
                <a:spcPct val="90000"/>
              </a:lnSpc>
              <a:spcAft>
                <a:spcPts val="300"/>
              </a:spcAft>
            </a:pPr>
            <a:r>
              <a:rPr sz="850" b="0">
                <a:solidFill>
                  <a:srgbClr val="1F2C3F"/>
                </a:solidFill>
                <a:latin typeface="Calibri"/>
              </a:rPr>
              <a:t>Ten cross-checks compare our dissection against Wireshark's, so a bug in our own parser cannot validate itself</a:t>
            </a:r>
          </a:p>
          <a:p>
            <a:pPr>
              <a:lnSpc>
                <a:spcPct val="90000"/>
              </a:lnSpc>
              <a:spcAft>
                <a:spcPts val="300"/>
              </a:spcAft>
            </a:pPr>
            <a:r>
              <a:rPr sz="850" b="0">
                <a:solidFill>
                  <a:srgbClr val="1F2C3F"/>
                </a:solidFill>
                <a:latin typeface="Calibri"/>
              </a:rPr>
              <a:t>88 frontend tests · 5 browser end-to-end specs against the real backend, nothing mocked</a:t>
            </a:r>
          </a:p>
          <a:p>
            <a:pPr>
              <a:lnSpc>
                <a:spcPct val="90000"/>
              </a:lnSpc>
              <a:spcAft>
                <a:spcPts val="300"/>
              </a:spcAft>
            </a:pPr>
            <a:r>
              <a:rPr sz="850" b="0">
                <a:solidFill>
                  <a:srgbClr val="1F2C3F"/>
                </a:solidFill>
                <a:latin typeface="Calibri"/>
              </a:rPr>
              <a:t>ruff and mypy clean over 153 files</a:t>
            </a:r>
          </a:p>
          <a:p>
            <a:pPr>
              <a:lnSpc>
                <a:spcPct val="90000"/>
              </a:lnSpc>
              <a:spcAft>
                <a:spcPts val="300"/>
              </a:spcAft>
            </a:pPr>
            <a:r>
              <a:rPr sz="850" b="0">
                <a:solidFill>
                  <a:srgbClr val="1F2C3F"/>
                </a:solidFill>
                <a:latin typeface="Calibri"/>
              </a:rPr>
              <a:t>Expectations are hand-derived and committed as manifests; the captures are generated, so a test cannot confirm itself</a:t>
            </a:r>
          </a:p>
          <a:p>
            <a:pPr>
              <a:lnSpc>
                <a:spcPct val="90000"/>
              </a:lnSpc>
              <a:spcAft>
                <a:spcPts val="300"/>
              </a:spcAft>
            </a:pPr>
            <a:r>
              <a:rPr sz="850" b="0">
                <a:solidFill>
                  <a:srgbClr val="1B6B3A"/>
                </a:solidFill>
                <a:latin typeface="Calibri"/>
              </a:rPr>
              <a:t>0 known dependency vulnerabilities (pip-audit, npm audit); hash-pinned lock; CycloneDX SBOM</a:t>
            </a:r>
          </a:p>
        </p:txBody>
      </p:sp>
      <p:pic>
        <p:nvPicPr>
          <p:cNvPr id="17413" name="Picture 17412" descr="08-drift-before-after.png"/>
          <p:cNvPicPr>
            <a:picLocks noChangeAspect="1"/>
          </p:cNvPicPr>
          <p:nvPr/>
        </p:nvPicPr>
        <p:blipFill>
          <a:blip r:embed="rId4"/>
          <a:stretch>
            <a:fillRect/>
          </a:stretch>
        </p:blipFill>
        <p:spPr>
          <a:xfrm>
            <a:off x="8028431" y="1426464"/>
            <a:ext cx="3785615" cy="2129408"/>
          </a:xfrm>
          <a:prstGeom prst="rect">
            <a:avLst/>
          </a:prstGeom>
        </p:spPr>
      </p:pic>
      <p:sp>
        <p:nvSpPr>
          <p:cNvPr id="17414" name="Rectangle 17413"/>
          <p:cNvSpPr/>
          <p:nvPr/>
        </p:nvSpPr>
        <p:spPr>
          <a:xfrm>
            <a:off x="8028431" y="1426464"/>
            <a:ext cx="3785615" cy="2129408"/>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TextBox 17414"/>
          <p:cNvSpPr txBox="1"/>
          <p:nvPr/>
        </p:nvSpPr>
        <p:spPr>
          <a:xfrm>
            <a:off x="8028431" y="3574160"/>
            <a:ext cx="3785615"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Cryptographic drift across two captures. Actual product output.</a:t>
            </a:r>
          </a:p>
        </p:txBody>
      </p:sp>
      <p:sp>
        <p:nvSpPr>
          <p:cNvPr id="17416" name="Rounded Rectangle 17415"/>
          <p:cNvSpPr/>
          <p:nvPr/>
        </p:nvSpPr>
        <p:spPr>
          <a:xfrm>
            <a:off x="384048" y="3950208"/>
            <a:ext cx="11430000" cy="2231136"/>
          </a:xfrm>
          <a:prstGeom prst="roundRect">
            <a:avLst/>
          </a:prstGeom>
          <a:solidFill>
            <a:srgbClr val="FDF2EC"/>
          </a:solidFill>
          <a:ln w="9525">
            <a:solidFill>
              <a:srgbClr val="EECFBE"/>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50" b="1">
                <a:solidFill>
                  <a:srgbClr val="A83A1E"/>
                </a:solidFill>
                <a:latin typeface="Calibri"/>
              </a:rPr>
              <a:t>Challenges and limits — stated, not hidden</a:t>
            </a:r>
          </a:p>
          <a:p>
            <a:pPr>
              <a:lnSpc>
                <a:spcPct val="88000"/>
              </a:lnSpc>
              <a:spcAft>
                <a:spcPts val="300"/>
              </a:spcAft>
            </a:pPr>
            <a:r>
              <a:rPr sz="900" b="0">
                <a:solidFill>
                  <a:srgbClr val="1F2C3F"/>
                </a:solidFill>
                <a:latin typeface="Calibri"/>
              </a:rPr>
              <a:t>TLS 1.3 encrypts the Certificate message.  A passive capture without decryption material cannot expose what is not on the wire. Reported NOT_AVAILABLE with the reason, never blank and never guessed. TLS 1.2 certificates are read and verified in full: dates, chain, hostname, key size, signature algorithm.</a:t>
            </a:r>
          </a:p>
          <a:p>
            <a:pPr>
              <a:lnSpc>
                <a:spcPct val="88000"/>
              </a:lnSpc>
              <a:spcAft>
                <a:spcPts val="300"/>
              </a:spcAft>
            </a:pPr>
            <a:r>
              <a:rPr sz="900" b="0">
                <a:solidFill>
                  <a:srgbClr val="1F2C3F"/>
                </a:solidFill>
                <a:latin typeface="Calibri"/>
              </a:rPr>
              <a:t>The supervised classifier is NOT VALIDATED for real-world deployment.  It is trained and measured on controlled synthetic servers (macro-F1 0.5624). Synthetic evaluation does not establish real-world accuracy, the interface says so on screen, and the classifier drives no finding and no score. The anomaly detector actually in use is a deterministic rarity baseline, not a machine-learning model — a trained Isolation Forest was measured, lost, and is shipped labelled as experimental.</a:t>
            </a:r>
          </a:p>
          <a:p>
            <a:pPr>
              <a:lnSpc>
                <a:spcPct val="88000"/>
              </a:lnSpc>
              <a:spcAft>
                <a:spcPts val="300"/>
              </a:spcAft>
            </a:pPr>
            <a:r>
              <a:rPr sz="900" b="0">
                <a:solidFill>
                  <a:srgbClr val="1F2C3F"/>
                </a:solidFill>
                <a:latin typeface="Calibri"/>
              </a:rPr>
              <a:t>Handshake completion is not verifiable and revocation is never checked.  A capture carries no traffic keys, and an OCSP or CRL request would break the passive rule. Three constants are asserted false or zero in every report by the test suite.</a:t>
            </a:r>
          </a:p>
          <a:p>
            <a:pPr>
              <a:lnSpc>
                <a:spcPct val="88000"/>
              </a:lnSpc>
              <a:spcAft>
                <a:spcPts val="300"/>
              </a:spcAft>
            </a:pPr>
            <a:r>
              <a:rPr sz="900" b="0">
                <a:solidFill>
                  <a:srgbClr val="1F2C3F"/>
                </a:solidFill>
                <a:latin typeface="Calibri"/>
              </a:rPr>
              <a:t>Deployment.  Memory binds before speed — about 76 KB peak resident per packet — and no benchmark has been run on the assumed 4-core/8 GB minimum, which is recorded NOT VERIFIED. Analysis cannot be cancelled, and a test asserts the absence so it cannot be mistaken for a broken control.</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For authorised email-security investigation. These are potential benefits: the tool is demonstrated on synthetic captures and has no deployments, no users and no measured real-world outcomes.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DISCOVER</a:t>
            </a:r>
          </a:p>
          <a:p>
            <a:pPr>
              <a:lnSpc>
                <a:spcPct val="92000"/>
              </a:lnSpc>
              <a:spcAft>
                <a:spcPts val="300"/>
              </a:spcAft>
            </a:pPr>
            <a:r>
              <a:rPr sz="850" b="0">
                <a:solidFill>
                  <a:srgbClr val="1F2C3F"/>
                </a:solidFill>
                <a:latin typeface="Calibri"/>
              </a:rPr>
              <a:t>Identify the cryptographic configurations actually negotiated — versions, cipher suites, key exchanges and certificates — from traffic the organisation already holds, without touching the host.</a:t>
            </a:r>
          </a:p>
        </p:txBody>
      </p:sp>
      <p:sp>
        <p:nvSpPr>
          <p:cNvPr id="17412" name="Rounded Rectangle 17411"/>
          <p:cNvSpPr/>
          <p:nvPr/>
        </p:nvSpPr>
        <p:spPr>
          <a:xfrm>
            <a:off x="3291840"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EXPLAIN</a:t>
            </a:r>
          </a:p>
          <a:p>
            <a:pPr>
              <a:lnSpc>
                <a:spcPct val="92000"/>
              </a:lnSpc>
              <a:spcAft>
                <a:spcPts val="300"/>
              </a:spcAft>
            </a:pPr>
            <a:r>
              <a:rPr sz="850" b="0">
                <a:solidFill>
                  <a:srgbClr val="1F2C3F"/>
                </a:solidFill>
                <a:latin typeface="Calibri"/>
              </a:rPr>
              <a:t>Link every finding to the packets that establish it, with the RFC it applies and the limitation it carries. An analyst can open the same packet in Wireshark and check.</a:t>
            </a:r>
          </a:p>
        </p:txBody>
      </p:sp>
      <p:sp>
        <p:nvSpPr>
          <p:cNvPr id="17413" name="Rounded Rectangle 17412"/>
          <p:cNvSpPr/>
          <p:nvPr/>
        </p:nvSpPr>
        <p:spPr>
          <a:xfrm>
            <a:off x="6199632"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PRIORITIZE</a:t>
            </a:r>
          </a:p>
          <a:p>
            <a:pPr>
              <a:lnSpc>
                <a:spcPct val="92000"/>
              </a:lnSpc>
              <a:spcAft>
                <a:spcPts val="300"/>
              </a:spcAft>
            </a:pPr>
            <a:r>
              <a:rPr sz="850" b="0">
                <a:solidFill>
                  <a:srgbClr val="1F2C3F"/>
                </a:solidFill>
                <a:latin typeface="Calibri"/>
              </a:rPr>
              <a:t>Rank weaknesses by a severity and confidence matrix, each with a named remediation and its expected security effect, so 'what do I fix first' has an answer with a reason.</a:t>
            </a:r>
          </a:p>
        </p:txBody>
      </p:sp>
      <p:sp>
        <p:nvSpPr>
          <p:cNvPr id="17414" name="Rounded Rectangle 17413"/>
          <p:cNvSpPr/>
          <p:nvPr/>
        </p:nvSpPr>
        <p:spPr>
          <a:xfrm>
            <a:off x="9107424"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TRACK</a:t>
            </a:r>
          </a:p>
          <a:p>
            <a:pPr>
              <a:lnSpc>
                <a:spcPct val="92000"/>
              </a:lnSpc>
              <a:spcAft>
                <a:spcPts val="300"/>
              </a:spcAft>
            </a:pPr>
            <a:r>
              <a:rPr sz="850" b="0">
                <a:solidFill>
                  <a:srgbClr val="1F2C3F"/>
                </a:solidFill>
                <a:latin typeface="Calibri"/>
              </a:rPr>
              <a:t>Detect cryptographic drift across captures: when the same observed service changes what it negotiates, and whether the change is attributable to the server or merely to a different client.</a:t>
            </a:r>
          </a:p>
        </p:txBody>
      </p:sp>
      <p:pic>
        <p:nvPicPr>
          <p:cNvPr id="17415" name="Picture 17414" descr="04-finding-evidence-detail.png"/>
          <p:cNvPicPr>
            <a:picLocks noChangeAspect="1"/>
          </p:cNvPicPr>
          <p:nvPr/>
        </p:nvPicPr>
        <p:blipFill>
          <a:blip r:embed="rId4"/>
          <a:stretch>
            <a:fillRect/>
          </a:stretch>
        </p:blipFill>
        <p:spPr>
          <a:xfrm>
            <a:off x="384048" y="3163824"/>
            <a:ext cx="3675887" cy="2067686"/>
          </a:xfrm>
          <a:prstGeom prst="rect">
            <a:avLst/>
          </a:prstGeom>
        </p:spPr>
      </p:pic>
      <p:sp>
        <p:nvSpPr>
          <p:cNvPr id="17416" name="Rectangle 17415"/>
          <p:cNvSpPr/>
          <p:nvPr/>
        </p:nvSpPr>
        <p:spPr>
          <a:xfrm>
            <a:off x="384048"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384048"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A finding, with its rule, severity and remediation.</a:t>
            </a:r>
          </a:p>
        </p:txBody>
      </p:sp>
      <p:pic>
        <p:nvPicPr>
          <p:cNvPr id="17418" name="Picture 17417" descr="08-drift-before-after.png"/>
          <p:cNvPicPr>
            <a:picLocks noChangeAspect="1"/>
          </p:cNvPicPr>
          <p:nvPr/>
        </p:nvPicPr>
        <p:blipFill>
          <a:blip r:embed="rId5"/>
          <a:stretch>
            <a:fillRect/>
          </a:stretch>
        </p:blipFill>
        <p:spPr>
          <a:xfrm>
            <a:off x="4261104" y="3163824"/>
            <a:ext cx="3675887" cy="2067686"/>
          </a:xfrm>
          <a:prstGeom prst="rect">
            <a:avLst/>
          </a:prstGeom>
        </p:spPr>
      </p:pic>
      <p:sp>
        <p:nvSpPr>
          <p:cNvPr id="17419" name="Rectangle 17418"/>
          <p:cNvSpPr/>
          <p:nvPr/>
        </p:nvSpPr>
        <p:spPr>
          <a:xfrm>
            <a:off x="4261104"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4261104"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Configuration drift between two captures.</a:t>
            </a:r>
          </a:p>
        </p:txBody>
      </p:sp>
      <p:pic>
        <p:nvPicPr>
          <p:cNvPr id="17421" name="Picture 17420" descr="11-reports.png"/>
          <p:cNvPicPr>
            <a:picLocks noChangeAspect="1"/>
          </p:cNvPicPr>
          <p:nvPr/>
        </p:nvPicPr>
        <p:blipFill>
          <a:blip r:embed="rId6"/>
          <a:stretch>
            <a:fillRect/>
          </a:stretch>
        </p:blipFill>
        <p:spPr>
          <a:xfrm>
            <a:off x="8138160" y="3163824"/>
            <a:ext cx="3675887" cy="2067686"/>
          </a:xfrm>
          <a:prstGeom prst="rect">
            <a:avLst/>
          </a:prstGeom>
        </p:spPr>
      </p:pic>
      <p:sp>
        <p:nvSpPr>
          <p:cNvPr id="17422" name="Rectangle 17421"/>
          <p:cNvSpPr/>
          <p:nvPr/>
        </p:nvSpPr>
        <p:spPr>
          <a:xfrm>
            <a:off x="8138160"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TextBox 17422"/>
          <p:cNvSpPr txBox="1"/>
          <p:nvPr/>
        </p:nvSpPr>
        <p:spPr>
          <a:xfrm>
            <a:off x="8138160"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JSON, offline HTML and PDF export.</a:t>
            </a:r>
          </a:p>
        </p:txBody>
      </p:sp>
      <p:sp>
        <p:nvSpPr>
          <p:cNvPr id="17424" name="Rounded Rectangle 17423"/>
          <p:cNvSpPr/>
          <p:nvPr/>
        </p:nvSpPr>
        <p:spPr>
          <a:xfrm>
            <a:off x="384048" y="5760720"/>
            <a:ext cx="11430000" cy="420624"/>
          </a:xfrm>
          <a:prstGeom prst="roundRect">
            <a:avLst/>
          </a:prstGeom>
          <a:solidFill>
            <a:srgbClr val="E4EEE6"/>
          </a:solidFill>
          <a:ln w="9525">
            <a:solidFill>
              <a:srgbClr val="BED8C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1F2C3F"/>
                </a:solidFill>
                <a:latin typeface="Calibri"/>
              </a:rPr>
              <a:t>Captured enterprise traffic stays local by default — nothing is uploaded, and no host in a capture is ever contacted.   ·   No financial saving, adoption figure, deployment or real-world detection rate is claimed: none has been measured.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Standards the rules cite and the parsers implement. Every rule names the clause it applies.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3675887" cy="3017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111B2A"/>
                </a:solidFill>
                <a:latin typeface="Calibri"/>
              </a:rPr>
              <a:t>TLS and certificates</a:t>
            </a:r>
          </a:p>
          <a:p>
            <a:pPr>
              <a:lnSpc>
                <a:spcPct val="92000"/>
              </a:lnSpc>
              <a:spcAft>
                <a:spcPts val="300"/>
              </a:spcAft>
            </a:pPr>
            <a:r>
              <a:rPr sz="850" b="0">
                <a:solidFill>
                  <a:srgbClr val="1F2C3F"/>
                </a:solidFill>
                <a:latin typeface="Calibri"/>
              </a:rPr>
              <a:t>[1]  RFC 8446 — TLS 1.3</a:t>
            </a:r>
          </a:p>
          <a:p>
            <a:pPr>
              <a:lnSpc>
                <a:spcPct val="92000"/>
              </a:lnSpc>
              <a:spcAft>
                <a:spcPts val="300"/>
              </a:spcAft>
            </a:pPr>
            <a:r>
              <a:rPr sz="850" b="0">
                <a:solidFill>
                  <a:srgbClr val="1F2C3F"/>
                </a:solidFill>
                <a:latin typeface="Calibri"/>
              </a:rPr>
              <a:t>[2]  RFC 5246 — TLS 1.2</a:t>
            </a:r>
          </a:p>
          <a:p>
            <a:pPr>
              <a:lnSpc>
                <a:spcPct val="92000"/>
              </a:lnSpc>
              <a:spcAft>
                <a:spcPts val="300"/>
              </a:spcAft>
            </a:pPr>
            <a:r>
              <a:rPr sz="850" b="0">
                <a:solidFill>
                  <a:srgbClr val="1F2C3F"/>
                </a:solidFill>
                <a:latin typeface="Calibri"/>
              </a:rPr>
              <a:t>[3]  RFC 9325 — Recommendations for secure use of TLS (2022)</a:t>
            </a:r>
          </a:p>
          <a:p>
            <a:pPr>
              <a:lnSpc>
                <a:spcPct val="92000"/>
              </a:lnSpc>
              <a:spcAft>
                <a:spcPts val="300"/>
              </a:spcAft>
            </a:pPr>
            <a:r>
              <a:rPr sz="850" b="0">
                <a:solidFill>
                  <a:srgbClr val="1F2C3F"/>
                </a:solidFill>
                <a:latin typeface="Calibri"/>
              </a:rPr>
              <a:t>[4]  RFC 8996 — Deprecating TLS 1.0 and 1.1</a:t>
            </a:r>
          </a:p>
          <a:p>
            <a:pPr>
              <a:lnSpc>
                <a:spcPct val="92000"/>
              </a:lnSpc>
              <a:spcAft>
                <a:spcPts val="300"/>
              </a:spcAft>
            </a:pPr>
            <a:r>
              <a:rPr sz="850" b="0">
                <a:solidFill>
                  <a:srgbClr val="1F2C3F"/>
                </a:solidFill>
                <a:latin typeface="Calibri"/>
              </a:rPr>
              <a:t>[5]  RFC 7457 — Known attacks on TLS and DTLS</a:t>
            </a:r>
          </a:p>
          <a:p>
            <a:pPr>
              <a:lnSpc>
                <a:spcPct val="92000"/>
              </a:lnSpc>
              <a:spcAft>
                <a:spcPts val="300"/>
              </a:spcAft>
            </a:pPr>
            <a:r>
              <a:rPr sz="850" b="0">
                <a:solidFill>
                  <a:srgbClr val="1F2C3F"/>
                </a:solidFill>
                <a:latin typeface="Calibri"/>
              </a:rPr>
              <a:t>[6]  RFC 4492 — ECC cipher suites for TLS</a:t>
            </a:r>
          </a:p>
          <a:p>
            <a:pPr>
              <a:lnSpc>
                <a:spcPct val="92000"/>
              </a:lnSpc>
              <a:spcAft>
                <a:spcPts val="300"/>
              </a:spcAft>
            </a:pPr>
            <a:r>
              <a:rPr sz="850" b="0">
                <a:solidFill>
                  <a:srgbClr val="1F2C3F"/>
                </a:solidFill>
                <a:latin typeface="Calibri"/>
              </a:rPr>
              <a:t>[7]  RFC 5280 — X.509 certificate and CRL profile</a:t>
            </a:r>
          </a:p>
          <a:p>
            <a:pPr>
              <a:lnSpc>
                <a:spcPct val="92000"/>
              </a:lnSpc>
              <a:spcAft>
                <a:spcPts val="300"/>
              </a:spcAft>
            </a:pPr>
            <a:r>
              <a:rPr sz="850" b="0">
                <a:solidFill>
                  <a:srgbClr val="1F2C3F"/>
                </a:solidFill>
                <a:latin typeface="Calibri"/>
              </a:rPr>
              <a:t>[8]  RFC 6125 — Verifying application service identity</a:t>
            </a:r>
          </a:p>
          <a:p>
            <a:pPr>
              <a:lnSpc>
                <a:spcPct val="92000"/>
              </a:lnSpc>
              <a:spcAft>
                <a:spcPts val="300"/>
              </a:spcAft>
            </a:pPr>
            <a:r>
              <a:rPr sz="850" b="0">
                <a:solidFill>
                  <a:srgbClr val="1F2C3F"/>
                </a:solidFill>
                <a:latin typeface="Calibri"/>
              </a:rPr>
              <a:t>[9]  NIST SP 800-52 Rev. 2 — TLS implementation guidelines</a:t>
            </a:r>
          </a:p>
          <a:p>
            <a:pPr>
              <a:lnSpc>
                <a:spcPct val="92000"/>
              </a:lnSpc>
              <a:spcAft>
                <a:spcPts val="300"/>
              </a:spcAft>
            </a:pPr>
            <a:r>
              <a:rPr sz="850" b="0">
                <a:solidFill>
                  <a:srgbClr val="1F2C3F"/>
                </a:solidFill>
                <a:latin typeface="Calibri"/>
              </a:rPr>
              <a:t>[10] IANA TLS Parameters registry</a:t>
            </a:r>
          </a:p>
        </p:txBody>
      </p:sp>
      <p:sp>
        <p:nvSpPr>
          <p:cNvPr id="17412" name="Rounded Rectangle 17411"/>
          <p:cNvSpPr/>
          <p:nvPr/>
        </p:nvSpPr>
        <p:spPr>
          <a:xfrm>
            <a:off x="4206240" y="1426464"/>
            <a:ext cx="3675887" cy="3017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111B2A"/>
                </a:solidFill>
                <a:latin typeface="Calibri"/>
              </a:rPr>
              <a:t>Email transport</a:t>
            </a:r>
          </a:p>
          <a:p>
            <a:pPr>
              <a:lnSpc>
                <a:spcPct val="92000"/>
              </a:lnSpc>
              <a:spcAft>
                <a:spcPts val="300"/>
              </a:spcAft>
            </a:pPr>
            <a:r>
              <a:rPr sz="850" b="0">
                <a:solidFill>
                  <a:srgbClr val="1F2C3F"/>
                </a:solidFill>
                <a:latin typeface="Calibri"/>
              </a:rPr>
              <a:t>[11] RFC 5321 — Simple Mail Transfer Protocol</a:t>
            </a:r>
          </a:p>
          <a:p>
            <a:pPr>
              <a:lnSpc>
                <a:spcPct val="92000"/>
              </a:lnSpc>
              <a:spcAft>
                <a:spcPts val="300"/>
              </a:spcAft>
            </a:pPr>
            <a:r>
              <a:rPr sz="850" b="0">
                <a:solidFill>
                  <a:srgbClr val="1F2C3F"/>
                </a:solidFill>
                <a:latin typeface="Calibri"/>
              </a:rPr>
              <a:t>[12] RFC 3207 — SMTP over TLS (STARTTLS)</a:t>
            </a:r>
          </a:p>
          <a:p>
            <a:pPr>
              <a:lnSpc>
                <a:spcPct val="92000"/>
              </a:lnSpc>
              <a:spcAft>
                <a:spcPts val="300"/>
              </a:spcAft>
            </a:pPr>
            <a:r>
              <a:rPr sz="850" b="0">
                <a:solidFill>
                  <a:srgbClr val="1F2C3F"/>
                </a:solidFill>
                <a:latin typeface="Calibri"/>
              </a:rPr>
              <a:t>[13] RFC 9051 — IMAP version 4rev2</a:t>
            </a:r>
          </a:p>
          <a:p>
            <a:pPr>
              <a:lnSpc>
                <a:spcPct val="92000"/>
              </a:lnSpc>
              <a:spcAft>
                <a:spcPts val="300"/>
              </a:spcAft>
            </a:pPr>
            <a:r>
              <a:rPr sz="850" b="0">
                <a:solidFill>
                  <a:srgbClr val="1F2C3F"/>
                </a:solidFill>
                <a:latin typeface="Calibri"/>
              </a:rPr>
              <a:t>[14] RFC 1939 — Post Office Protocol version 3</a:t>
            </a:r>
          </a:p>
          <a:p>
            <a:pPr>
              <a:lnSpc>
                <a:spcPct val="92000"/>
              </a:lnSpc>
              <a:spcAft>
                <a:spcPts val="300"/>
              </a:spcAft>
            </a:pPr>
            <a:r>
              <a:rPr sz="850" b="0">
                <a:solidFill>
                  <a:srgbClr val="1F2C3F"/>
                </a:solidFill>
                <a:latin typeface="Calibri"/>
              </a:rPr>
              <a:t>[15] RFC 2595 — Using TLS with IMAP, POP3 and ACAP</a:t>
            </a:r>
          </a:p>
          <a:p>
            <a:pPr>
              <a:lnSpc>
                <a:spcPct val="92000"/>
              </a:lnSpc>
              <a:spcAft>
                <a:spcPts val="300"/>
              </a:spcAft>
            </a:pPr>
            <a:r>
              <a:rPr sz="850" b="0">
                <a:solidFill>
                  <a:srgbClr val="1F2C3F"/>
                </a:solidFill>
                <a:latin typeface="Calibri"/>
              </a:rPr>
              <a:t>[16] RFC 2606 — Reserved DNS names (.invalid, used by every synthetic fixture)</a:t>
            </a:r>
          </a:p>
          <a:p>
            <a:pPr>
              <a:lnSpc>
                <a:spcPct val="92000"/>
              </a:lnSpc>
              <a:spcAft>
                <a:spcPts val="300"/>
              </a:spcAft>
            </a:pPr>
            <a:r>
              <a:rPr sz="500" b="0">
                <a:solidFill>
                  <a:srgbClr val="111B2A"/>
                </a:solidFill>
                <a:latin typeface="Calibri"/>
              </a:rPr>
              <a:t/>
            </a:r>
          </a:p>
          <a:p>
            <a:pPr>
              <a:lnSpc>
                <a:spcPct val="92000"/>
              </a:lnSpc>
              <a:spcAft>
                <a:spcPts val="300"/>
              </a:spcAft>
            </a:pPr>
            <a:r>
              <a:rPr sz="1050" b="1">
                <a:solidFill>
                  <a:srgbClr val="111B2A"/>
                </a:solidFill>
                <a:latin typeface="Calibri"/>
              </a:rPr>
              <a:t>Libraries</a:t>
            </a:r>
          </a:p>
          <a:p>
            <a:pPr>
              <a:lnSpc>
                <a:spcPct val="92000"/>
              </a:lnSpc>
              <a:spcAft>
                <a:spcPts val="300"/>
              </a:spcAft>
            </a:pPr>
            <a:r>
              <a:rPr sz="850" b="0">
                <a:solidFill>
                  <a:srgbClr val="1F2C3F"/>
                </a:solidFill>
                <a:latin typeface="Calibri"/>
              </a:rPr>
              <a:t>[17] Scapy · [18] python-cryptography · [19] FastAPI</a:t>
            </a:r>
          </a:p>
          <a:p>
            <a:pPr>
              <a:lnSpc>
                <a:spcPct val="92000"/>
              </a:lnSpc>
              <a:spcAft>
                <a:spcPts val="300"/>
              </a:spcAft>
            </a:pPr>
            <a:r>
              <a:rPr sz="850" b="0">
                <a:solidFill>
                  <a:srgbClr val="1F2C3F"/>
                </a:solidFill>
                <a:latin typeface="Calibri"/>
              </a:rPr>
              <a:t>[20] scikit-learn · [21] React · [22] Wireshark / TShark</a:t>
            </a:r>
          </a:p>
        </p:txBody>
      </p:sp>
      <p:sp>
        <p:nvSpPr>
          <p:cNvPr id="17413" name="Rounded Rectangle 17412"/>
          <p:cNvSpPr/>
          <p:nvPr/>
        </p:nvSpPr>
        <p:spPr>
          <a:xfrm>
            <a:off x="8028431" y="1426464"/>
            <a:ext cx="3785615" cy="3017520"/>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0B5FA5"/>
                </a:solidFill>
                <a:latin typeface="Calibri"/>
              </a:rPr>
              <a:t>Verification methodology</a:t>
            </a:r>
          </a:p>
          <a:p>
            <a:pPr>
              <a:lnSpc>
                <a:spcPct val="90000"/>
              </a:lnSpc>
              <a:spcAft>
                <a:spcPts val="300"/>
              </a:spcAft>
            </a:pPr>
            <a:r>
              <a:rPr sz="850" b="0">
                <a:solidFill>
                  <a:srgbClr val="1F2C3F"/>
                </a:solidFill>
                <a:latin typeface="Calibri"/>
              </a:rPr>
              <a:t>Deterministic synthetic fixtures.  Every capture is generated from a fixed seed, so the same bytes are produced on every machine and in CI.</a:t>
            </a:r>
          </a:p>
          <a:p>
            <a:pPr>
              <a:lnSpc>
                <a:spcPct val="90000"/>
              </a:lnSpc>
              <a:spcAft>
                <a:spcPts val="300"/>
              </a:spcAft>
            </a:pPr>
            <a:r>
              <a:rPr sz="850" b="0">
                <a:solidFill>
                  <a:srgbClr val="1F2C3F"/>
                </a:solidFill>
                <a:latin typeface="Calibri"/>
              </a:rPr>
              <a:t>Known-answer manifests.  Expectations are hand-derived and committed; the captures themselves are gitignored. A test cannot confirm its own output.</a:t>
            </a:r>
          </a:p>
          <a:p>
            <a:pPr>
              <a:lnSpc>
                <a:spcPct val="90000"/>
              </a:lnSpc>
              <a:spcAft>
                <a:spcPts val="300"/>
              </a:spcAft>
            </a:pPr>
            <a:r>
              <a:rPr sz="850" b="0">
                <a:solidFill>
                  <a:srgbClr val="1F2C3F"/>
                </a:solidFill>
                <a:latin typeface="Calibri"/>
              </a:rPr>
              <a:t>Independent TShark cross-checks.  Ten comparisons against Wireshark's dissector, so a shared bug in our parser cannot validate itself.</a:t>
            </a:r>
          </a:p>
          <a:p>
            <a:pPr>
              <a:lnSpc>
                <a:spcPct val="90000"/>
              </a:lnSpc>
              <a:spcAft>
                <a:spcPts val="300"/>
              </a:spcAft>
            </a:pPr>
            <a:r>
              <a:rPr sz="850" b="0">
                <a:solidFill>
                  <a:srgbClr val="1F2C3F"/>
                </a:solidFill>
                <a:latin typeface="Calibri"/>
              </a:rPr>
              <a:t>Browser end-to-end tests.  Five Playwright specs drive the real backend over the real engine, including a restart to prove persistence.</a:t>
            </a:r>
          </a:p>
          <a:p>
            <a:pPr>
              <a:lnSpc>
                <a:spcPct val="90000"/>
              </a:lnSpc>
              <a:spcAft>
                <a:spcPts val="300"/>
              </a:spcAft>
            </a:pPr>
            <a:r>
              <a:rPr sz="850" b="0">
                <a:solidFill>
                  <a:srgbClr val="1F2C3F"/>
                </a:solidFill>
                <a:latin typeface="Calibri"/>
              </a:rPr>
              <a:t>Report-parity verification.  One canonical model feeds JSON, HTML and PDF, and their facts are asserted equal.</a:t>
            </a:r>
          </a:p>
        </p:txBody>
      </p:sp>
      <p:pic>
        <p:nvPicPr>
          <p:cNvPr id="17414" name="Picture 17413" descr="03-findings-workspace.png"/>
          <p:cNvPicPr>
            <a:picLocks noChangeAspect="1"/>
          </p:cNvPicPr>
          <p:nvPr/>
        </p:nvPicPr>
        <p:blipFill>
          <a:blip r:embed="rId4"/>
          <a:stretch>
            <a:fillRect/>
          </a:stretch>
        </p:blipFill>
        <p:spPr>
          <a:xfrm>
            <a:off x="384048" y="4553712"/>
            <a:ext cx="2944368" cy="1656207"/>
          </a:xfrm>
          <a:prstGeom prst="rect">
            <a:avLst/>
          </a:prstGeom>
        </p:spPr>
      </p:pic>
      <p:sp>
        <p:nvSpPr>
          <p:cNvPr id="17415" name="Rectangle 17414"/>
          <p:cNvSpPr/>
          <p:nvPr/>
        </p:nvSpPr>
        <p:spPr>
          <a:xfrm>
            <a:off x="384048" y="4553712"/>
            <a:ext cx="2944368" cy="1656207"/>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384048" y="6228207"/>
            <a:ext cx="2944368"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Findings triage</a:t>
            </a:r>
          </a:p>
        </p:txBody>
      </p:sp>
      <p:pic>
        <p:nvPicPr>
          <p:cNvPr id="17417" name="Picture 17416" descr="06-session-detail.png"/>
          <p:cNvPicPr>
            <a:picLocks noChangeAspect="1"/>
          </p:cNvPicPr>
          <p:nvPr/>
        </p:nvPicPr>
        <p:blipFill>
          <a:blip r:embed="rId5"/>
          <a:stretch>
            <a:fillRect/>
          </a:stretch>
        </p:blipFill>
        <p:spPr>
          <a:xfrm>
            <a:off x="3456432" y="4553712"/>
            <a:ext cx="2944368" cy="1656207"/>
          </a:xfrm>
          <a:prstGeom prst="rect">
            <a:avLst/>
          </a:prstGeom>
        </p:spPr>
      </p:pic>
      <p:sp>
        <p:nvSpPr>
          <p:cNvPr id="17418" name="Rectangle 17417"/>
          <p:cNvSpPr/>
          <p:nvPr/>
        </p:nvSpPr>
        <p:spPr>
          <a:xfrm>
            <a:off x="3456432" y="4553712"/>
            <a:ext cx="2944368" cy="1656207"/>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TextBox 17418"/>
          <p:cNvSpPr txBox="1"/>
          <p:nvPr/>
        </p:nvSpPr>
        <p:spPr>
          <a:xfrm>
            <a:off x="3456432" y="6228207"/>
            <a:ext cx="2944368"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Session inventory</a:t>
            </a:r>
          </a:p>
        </p:txBody>
      </p:sp>
      <p:sp>
        <p:nvSpPr>
          <p:cNvPr id="17420" name="Rounded Rectangle 17419"/>
          <p:cNvSpPr/>
          <p:nvPr/>
        </p:nvSpPr>
        <p:spPr>
          <a:xfrm>
            <a:off x="6528816" y="4553712"/>
            <a:ext cx="5285232"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00" b="1">
                <a:solidFill>
                  <a:srgbClr val="0B5FA5"/>
                </a:solidFill>
                <a:latin typeface="Calibri"/>
              </a:rPr>
              <a:t>Project research</a:t>
            </a:r>
          </a:p>
          <a:p>
            <a:pPr>
              <a:lnSpc>
                <a:spcPct val="88000"/>
              </a:lnSpc>
              <a:spcAft>
                <a:spcPts val="300"/>
              </a:spcAft>
            </a:pPr>
            <a:r>
              <a:rPr sz="800" b="0">
                <a:solidFill>
                  <a:srgbClr val="1F2C3F"/>
                </a:solidFill>
                <a:latin typeface="Calibri"/>
              </a:rPr>
              <a:t>evidence-model · scoring-methodology · limitations · threat-model · security-audit</a:t>
            </a:r>
          </a:p>
          <a:p>
            <a:pPr>
              <a:lnSpc>
                <a:spcPct val="88000"/>
              </a:lnSpc>
              <a:spcAft>
                <a:spcPts val="300"/>
              </a:spcAft>
            </a:pPr>
            <a:r>
              <a:rPr sz="800" b="0">
                <a:solidFill>
                  <a:srgbClr val="1F2C3F"/>
                </a:solidFill>
                <a:latin typeface="Calibri"/>
              </a:rPr>
              <a:t>ml-methodology · ml-evaluation · ml-model-card · performance-benchmarks</a:t>
            </a:r>
          </a:p>
          <a:p>
            <a:pPr>
              <a:lnSpc>
                <a:spcPct val="88000"/>
              </a:lnSpc>
              <a:spcAft>
                <a:spcPts val="300"/>
              </a:spcAft>
            </a:pPr>
            <a:r>
              <a:rPr sz="800" b="0">
                <a:solidFill>
                  <a:srgbClr val="1F2C3F"/>
                </a:solidFill>
                <a:latin typeface="Calibri"/>
              </a:rPr>
              <a:t>REQUIREMENT-COVERAGE.md — all 35 SIH26159 capabilities with status and evidence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