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github.com/sgtsujith141-wq/securemailscop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a:lnSpc>
                <a:spcPct val="122000"/>
              </a:lnSpc>
              <a:spcAft>
                <a:spcPts val="300"/>
              </a:spcAft>
            </a:pPr>
            <a:r>
              <a:rPr sz="1300" b="0">
                <a:solidFill>
                  <a:srgbClr val="111B2A"/>
                </a:solidFill>
                <a:latin typeface="Calibri"/>
              </a:rPr>
              <a:t>Problem Statement ID – SIH26159</a:t>
            </a:r>
            <a:endParaRPr lang="en-US" dirty="0"/>
          </a:p>
          <a:p>
            <a:pPr>
              <a:lnSpc>
                <a:spcPct val="122000"/>
              </a:lnSpc>
              <a:spcAft>
                <a:spcPts val="300"/>
              </a:spcAft>
            </a:pPr>
            <a:r>
              <a:rPr sz="1300" b="0">
                <a:solidFill>
                  <a:srgbClr val="111B2A"/>
                </a:solidFill>
                <a:latin typeface="Calibri"/>
              </a:rPr>
              <a:t>Problem Statement Title – SecureMailScope: AI-Assisted Cryptographic Security Posture Assessment for Secure Email Communications</a:t>
            </a:r>
          </a:p>
          <a:p>
            <a:pPr>
              <a:lnSpc>
                <a:spcPct val="122000"/>
              </a:lnSpc>
              <a:spcAft>
                <a:spcPts val="300"/>
              </a:spcAft>
            </a:pPr>
            <a:r>
              <a:rPr sz="1300" b="0">
                <a:solidFill>
                  <a:srgbClr val="111B2A"/>
                </a:solidFill>
                <a:latin typeface="Calibri"/>
              </a:rPr>
              <a:t>Organisation – National Technical Research Organisation (NTRO)</a:t>
            </a:r>
          </a:p>
          <a:p>
            <a:pPr>
              <a:lnSpc>
                <a:spcPct val="122000"/>
              </a:lnSpc>
              <a:spcAft>
                <a:spcPts val="300"/>
              </a:spcAft>
            </a:pPr>
            <a:r>
              <a:rPr sz="1300" b="0">
                <a:solidFill>
                  <a:srgbClr val="111B2A"/>
                </a:solidFill>
                <a:latin typeface="Calibri"/>
              </a:rPr>
              <a:t>Theme – Blockchain &amp; Cybersecurity</a:t>
            </a:r>
          </a:p>
          <a:p>
            <a:pPr>
              <a:lnSpc>
                <a:spcPct val="122000"/>
              </a:lnSpc>
              <a:spcAft>
                <a:spcPts val="300"/>
              </a:spcAft>
            </a:pPr>
            <a:r>
              <a:rPr sz="1300" b="0">
                <a:solidFill>
                  <a:srgbClr val="111B2A"/>
                </a:solidFill>
                <a:latin typeface="Calibri"/>
              </a:rPr>
              <a:t>PS Category – Software</a:t>
            </a:r>
          </a:p>
          <a:p>
            <a:pPr>
              <a:lnSpc>
                <a:spcPct val="122000"/>
              </a:lnSpc>
              <a:spcAft>
                <a:spcPts val="300"/>
              </a:spcAft>
            </a:pPr>
            <a:r>
              <a:rPr sz="1300" b="0">
                <a:solidFill>
                  <a:srgbClr val="111B2A"/>
                </a:solidFill>
                <a:latin typeface="Calibri"/>
              </a:rPr>
              <a:t>Team ID – 146876</a:t>
            </a:r>
          </a:p>
          <a:p>
            <a:pPr>
              <a:lnSpc>
                <a:spcPct val="122000"/>
              </a:lnSpc>
              <a:spcAft>
                <a:spcPts val="300"/>
              </a:spcAft>
            </a:pPr>
            <a:r>
              <a:rPr sz="1300" b="0">
                <a:solidFill>
                  <a:srgbClr val="111B2A"/>
                </a:solidFill>
                <a:latin typeface="Calibri"/>
              </a:rPr>
              <a:t>Team Name (Registered on portal) – Zero-Day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384048" y="1060704"/>
            <a:ext cx="11430000" cy="658368"/>
          </a:xfrm>
          <a:prstGeom prst="rect">
            <a:avLst/>
          </a:prstGeom>
          <a:noFill/>
          <a:ln w="9525">
            <a:noFill/>
            <a:miter lim="800000"/>
            <a:headEnd/>
            <a:tailEnd/>
          </a:ln>
        </p:spPr>
        <p:txBody>
          <a:bodyPr wrap="square">
            <a:spAutoFit/>
          </a:bodyPr>
          <a:lstStyle/>
          <a:p>
            <a:pPr marL="342900" indent="-342900">
              <a:lnSpc>
                <a:spcPct val="100000"/>
              </a:lnSpc>
              <a:spcAft>
                <a:spcPts val="300"/>
              </a:spcAft>
              <a:buFont typeface="Wingdings" panose="05000000000000000000" pitchFamily="2" charset="2"/>
              <a:buNone/>
            </a:pPr>
            <a:r>
              <a:rPr sz="1500" b="1">
                <a:solidFill>
                  <a:srgbClr val="0B5FA5"/>
                </a:solidFill>
                <a:latin typeface="Calibri"/>
              </a:rPr>
              <a:t>SecureMailScope turns passive email packet captures into evidence-backed cryptographic investigations.</a:t>
            </a:r>
            <a:endParaRPr lang="en-US" sz="3200" u="sng" dirty="0">
              <a:solidFill>
                <a:schemeClr val="tx2"/>
              </a:solidFill>
              <a:latin typeface="Arial" pitchFamily="34" charset="0"/>
              <a:cs typeface="Arial" pitchFamily="34" charset="0"/>
            </a:endParaRPr>
          </a:p>
          <a:p>
            <a:pPr>
              <a:lnSpc>
                <a:spcPct val="100000"/>
              </a:lnSpc>
              <a:spcAft>
                <a:spcPts val="300"/>
              </a:spcAft>
              <a:buNone/>
            </a:pPr>
            <a:r>
              <a:rPr sz="1050" b="0">
                <a:solidFill>
                  <a:srgbClr val="4A5A70"/>
                </a:solidFill>
                <a:latin typeface="Calibri"/>
              </a:rPr>
              <a:t>Every conclusion is traceable to the packets that establish it — and where a capture cannot show something, it says so.</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3" name="Rounded Rectangle 15362"/>
          <p:cNvSpPr/>
          <p:nvPr/>
        </p:nvSpPr>
        <p:spPr>
          <a:xfrm>
            <a:off x="384048"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PCAP</a:t>
            </a:r>
          </a:p>
        </p:txBody>
      </p:sp>
      <p:sp>
        <p:nvSpPr>
          <p:cNvPr id="15364" name="Right Arrow 15363"/>
          <p:cNvSpPr/>
          <p:nvPr/>
        </p:nvSpPr>
        <p:spPr>
          <a:xfrm>
            <a:off x="2103120"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Rounded Rectangle 15364"/>
          <p:cNvSpPr/>
          <p:nvPr/>
        </p:nvSpPr>
        <p:spPr>
          <a:xfrm>
            <a:off x="2340864"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TCP
reconstruction</a:t>
            </a:r>
          </a:p>
        </p:txBody>
      </p:sp>
      <p:sp>
        <p:nvSpPr>
          <p:cNvPr id="15366" name="Right Arrow 15365"/>
          <p:cNvSpPr/>
          <p:nvPr/>
        </p:nvSpPr>
        <p:spPr>
          <a:xfrm>
            <a:off x="4059936"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Rounded Rectangle 15366"/>
          <p:cNvSpPr/>
          <p:nvPr/>
        </p:nvSpPr>
        <p:spPr>
          <a:xfrm>
            <a:off x="4297680"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SMTP / IMAP
POP3</a:t>
            </a:r>
          </a:p>
        </p:txBody>
      </p:sp>
      <p:sp>
        <p:nvSpPr>
          <p:cNvPr id="15368" name="Right Arrow 15367"/>
          <p:cNvSpPr/>
          <p:nvPr/>
        </p:nvSpPr>
        <p:spPr>
          <a:xfrm>
            <a:off x="6016752"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9" name="Rounded Rectangle 15368"/>
          <p:cNvSpPr/>
          <p:nvPr/>
        </p:nvSpPr>
        <p:spPr>
          <a:xfrm>
            <a:off x="6254496"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STARTTLS
TLS</a:t>
            </a:r>
          </a:p>
        </p:txBody>
      </p:sp>
      <p:sp>
        <p:nvSpPr>
          <p:cNvPr id="15370" name="Right Arrow 15369"/>
          <p:cNvSpPr/>
          <p:nvPr/>
        </p:nvSpPr>
        <p:spPr>
          <a:xfrm>
            <a:off x="7973568"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1" name="Rounded Rectangle 15370"/>
          <p:cNvSpPr/>
          <p:nvPr/>
        </p:nvSpPr>
        <p:spPr>
          <a:xfrm>
            <a:off x="8211312"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Cryptographic
evidence</a:t>
            </a:r>
          </a:p>
        </p:txBody>
      </p:sp>
      <p:sp>
        <p:nvSpPr>
          <p:cNvPr id="15372" name="Right Arrow 15371"/>
          <p:cNvSpPr/>
          <p:nvPr/>
        </p:nvSpPr>
        <p:spPr>
          <a:xfrm>
            <a:off x="9930384" y="1975104"/>
            <a:ext cx="201168"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3" name="Rounded Rectangle 15372"/>
          <p:cNvSpPr/>
          <p:nvPr/>
        </p:nvSpPr>
        <p:spPr>
          <a:xfrm>
            <a:off x="10168128" y="1792224"/>
            <a:ext cx="1700784" cy="53035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pPr>
            <a:r>
              <a:rPr sz="950" b="1">
                <a:solidFill>
                  <a:srgbClr val="111B2A"/>
                </a:solidFill>
                <a:latin typeface="Calibri"/>
              </a:rPr>
              <a:t>Risk +
remediation</a:t>
            </a:r>
          </a:p>
        </p:txBody>
      </p:sp>
      <p:pic>
        <p:nvPicPr>
          <p:cNvPr id="15374" name="Picture 15373" descr="02-overview.png"/>
          <p:cNvPicPr>
            <a:picLocks noChangeAspect="1"/>
          </p:cNvPicPr>
          <p:nvPr/>
        </p:nvPicPr>
        <p:blipFill>
          <a:blip r:embed="rId4"/>
          <a:stretch>
            <a:fillRect/>
          </a:stretch>
        </p:blipFill>
        <p:spPr>
          <a:xfrm>
            <a:off x="384048" y="2523744"/>
            <a:ext cx="5989320" cy="3368992"/>
          </a:xfrm>
          <a:prstGeom prst="rect">
            <a:avLst/>
          </a:prstGeom>
        </p:spPr>
      </p:pic>
      <p:sp>
        <p:nvSpPr>
          <p:cNvPr id="15375" name="Rectangle 15374"/>
          <p:cNvSpPr/>
          <p:nvPr/>
        </p:nvSpPr>
        <p:spPr>
          <a:xfrm>
            <a:off x="384048" y="2523744"/>
            <a:ext cx="5989320" cy="3368992"/>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6" name="TextBox 15375"/>
          <p:cNvSpPr txBox="1"/>
          <p:nvPr/>
        </p:nvSpPr>
        <p:spPr>
          <a:xfrm>
            <a:off x="384048" y="5911024"/>
            <a:ext cx="5989320"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The investigation overview, on 9 synthetic captures. Actual product output.</a:t>
            </a:r>
          </a:p>
        </p:txBody>
      </p:sp>
      <p:sp>
        <p:nvSpPr>
          <p:cNvPr id="15377" name="Rounded Rectangle 15376"/>
          <p:cNvSpPr/>
          <p:nvPr/>
        </p:nvSpPr>
        <p:spPr>
          <a:xfrm>
            <a:off x="6601968" y="2523744"/>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What it does</a:t>
            </a:r>
          </a:p>
          <a:p>
            <a:pPr>
              <a:lnSpc>
                <a:spcPct val="92000"/>
              </a:lnSpc>
              <a:spcAft>
                <a:spcPts val="300"/>
              </a:spcAft>
            </a:pPr>
            <a:r>
              <a:rPr sz="900" b="0">
                <a:solidFill>
                  <a:srgbClr val="1F2C3F"/>
                </a:solidFill>
                <a:latin typeface="Calibri"/>
              </a:rPr>
              <a:t>Reads authorized PCAP/PCAPNG, reconstructs TCP sessions, identifies the email protocol from the dialogue rather than the port, reconstructs the TLS handshake, extracts certificate evidence where it is observable, applies 25 policy rules and scores the result.</a:t>
            </a:r>
          </a:p>
        </p:txBody>
      </p:sp>
      <p:sp>
        <p:nvSpPr>
          <p:cNvPr id="15378" name="Rounded Rectangle 15377"/>
          <p:cNvSpPr/>
          <p:nvPr/>
        </p:nvSpPr>
        <p:spPr>
          <a:xfrm>
            <a:off x="6601968" y="3730752"/>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How it addresses SIH26159</a:t>
            </a:r>
          </a:p>
          <a:p>
            <a:pPr>
              <a:lnSpc>
                <a:spcPct val="92000"/>
              </a:lnSpc>
              <a:spcAft>
                <a:spcPts val="300"/>
              </a:spcAft>
            </a:pPr>
            <a:r>
              <a:rPr sz="900" b="0">
                <a:solidFill>
                  <a:srgbClr val="1F2C3F"/>
                </a:solidFill>
                <a:latin typeface="Calibri"/>
              </a:rPr>
              <a:t>The organisation already holds the captures. No probe, no scan, no credential and no change to a production mail server — which also means an authorised investigator with no access to the host can still assess how it protected traffic.</a:t>
            </a:r>
          </a:p>
        </p:txBody>
      </p:sp>
      <p:sp>
        <p:nvSpPr>
          <p:cNvPr id="15379" name="Rounded Rectangle 15378"/>
          <p:cNvSpPr/>
          <p:nvPr/>
        </p:nvSpPr>
        <p:spPr>
          <a:xfrm>
            <a:off x="6601968" y="4937760"/>
            <a:ext cx="5212080" cy="111556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pPr>
            <a:r>
              <a:rPr sz="1050" b="1">
                <a:solidFill>
                  <a:srgbClr val="0B5FA5"/>
                </a:solidFill>
                <a:latin typeface="Calibri"/>
              </a:rPr>
              <a:t>What makes it different</a:t>
            </a:r>
          </a:p>
          <a:p>
            <a:pPr>
              <a:lnSpc>
                <a:spcPct val="92000"/>
              </a:lnSpc>
              <a:spcAft>
                <a:spcPts val="300"/>
              </a:spcAft>
            </a:pPr>
            <a:r>
              <a:rPr sz="900" b="0">
                <a:solidFill>
                  <a:srgbClr val="1F2C3F"/>
                </a:solidFill>
                <a:latin typeface="Calibri"/>
              </a:rPr>
              <a:t>Packet-level provenance on every finding · cryptographic DNA and drift across captures · cross-session correlation · explainable scoring with the arithmetic shown · fully local and offline · stated limits instead of silent gaps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384048" y="969264"/>
            <a:ext cx="11430000" cy="310896"/>
          </a:xfrm>
          <a:prstGeom prst="rect">
            <a:avLst/>
          </a:prstGeom>
          <a:noFill/>
          <a:ln w="9525">
            <a:noFill/>
            <a:miter lim="800000"/>
            <a:headEnd/>
            <a:tailEnd/>
          </a:ln>
        </p:spPr>
        <p:txBody>
          <a:bodyPr wrap="square">
            <a:spAutoFit/>
          </a:bodyPr>
          <a:lstStyle/>
          <a:p>
            <a:pPr marL="342900" indent="-342900" algn="just">
              <a:lnSpc>
                <a:spcPct val="100000"/>
              </a:lnSpc>
              <a:spcAft>
                <a:spcPts val="300"/>
              </a:spcAft>
              <a:buFont typeface="Arial" panose="020B0604020202020204" pitchFamily="34" charset="0"/>
              <a:buNone/>
            </a:pPr>
            <a:r>
              <a:rPr sz="1000" b="0">
                <a:solidFill>
                  <a:srgbClr val="4A5A70"/>
                </a:solidFill>
                <a:latin typeface="Calibri"/>
              </a:rPr>
              <a:t>One direction of flow. Each stage reads only what the previous one produced, and attaches the packets it read it from.</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371600"/>
            <a:ext cx="1901952" cy="2487168"/>
          </a:xfrm>
          <a:prstGeom prst="roundRect">
            <a:avLst/>
          </a:prstGeom>
          <a:solidFill>
            <a:srgbClr val="F7FAFD"/>
          </a:solidFill>
          <a:ln w="9525">
            <a:solidFill>
              <a:srgbClr val="DCE6F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tIns="27432"/>
          <a:lstStyle/>
          <a:p>
            <a:pPr algn="ctr">
              <a:lnSpc>
                <a:spcPct val="100000"/>
              </a:lnSpc>
              <a:spcAft>
                <a:spcPts val="300"/>
              </a:spcAft>
              <a:buNone/>
            </a:pPr>
            <a:r>
              <a:rPr sz="750" b="1">
                <a:solidFill>
                  <a:srgbClr val="8A9BB0"/>
                </a:solidFill>
                <a:latin typeface="Calibri"/>
              </a:rPr>
              <a:t>INPUT</a:t>
            </a:r>
          </a:p>
        </p:txBody>
      </p:sp>
      <p:sp>
        <p:nvSpPr>
          <p:cNvPr id="17412" name="Rounded Rectangle 17411"/>
          <p:cNvSpPr/>
          <p:nvPr/>
        </p:nvSpPr>
        <p:spPr>
          <a:xfrm>
            <a:off x="2505456" y="1371600"/>
            <a:ext cx="3950208" cy="2487168"/>
          </a:xfrm>
          <a:prstGeom prst="roundRect">
            <a:avLst/>
          </a:prstGeom>
          <a:solidFill>
            <a:srgbClr val="F7FAFD"/>
          </a:solidFill>
          <a:ln w="9525">
            <a:solidFill>
              <a:srgbClr val="DCE6F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tIns="27432"/>
          <a:lstStyle/>
          <a:p>
            <a:pPr algn="ctr">
              <a:lnSpc>
                <a:spcPct val="100000"/>
              </a:lnSpc>
              <a:spcAft>
                <a:spcPts val="300"/>
              </a:spcAft>
              <a:buNone/>
            </a:pPr>
            <a:r>
              <a:rPr sz="750" b="1">
                <a:solidFill>
                  <a:srgbClr val="8A9BB0"/>
                </a:solidFill>
                <a:latin typeface="Calibri"/>
              </a:rPr>
              <a:t>RECONSTRUCTION</a:t>
            </a:r>
          </a:p>
        </p:txBody>
      </p:sp>
      <p:sp>
        <p:nvSpPr>
          <p:cNvPr id="17413" name="Rounded Rectangle 17412"/>
          <p:cNvSpPr/>
          <p:nvPr/>
        </p:nvSpPr>
        <p:spPr>
          <a:xfrm>
            <a:off x="6675120" y="1371600"/>
            <a:ext cx="2615184" cy="2487168"/>
          </a:xfrm>
          <a:prstGeom prst="roundRect">
            <a:avLst/>
          </a:prstGeom>
          <a:solidFill>
            <a:srgbClr val="F7FAFD"/>
          </a:solidFill>
          <a:ln w="9525">
            <a:solidFill>
              <a:srgbClr val="DCE6F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tIns="27432"/>
          <a:lstStyle/>
          <a:p>
            <a:pPr algn="ctr">
              <a:lnSpc>
                <a:spcPct val="100000"/>
              </a:lnSpc>
              <a:spcAft>
                <a:spcPts val="300"/>
              </a:spcAft>
              <a:buNone/>
            </a:pPr>
            <a:r>
              <a:rPr sz="750" b="1">
                <a:solidFill>
                  <a:srgbClr val="8A9BB0"/>
                </a:solidFill>
                <a:latin typeface="Calibri"/>
              </a:rPr>
              <a:t>ASSESSMENT</a:t>
            </a:r>
          </a:p>
        </p:txBody>
      </p:sp>
      <p:sp>
        <p:nvSpPr>
          <p:cNvPr id="17414" name="Rounded Rectangle 17413"/>
          <p:cNvSpPr/>
          <p:nvPr/>
        </p:nvSpPr>
        <p:spPr>
          <a:xfrm>
            <a:off x="9509760" y="1371600"/>
            <a:ext cx="2304288" cy="2487168"/>
          </a:xfrm>
          <a:prstGeom prst="roundRect">
            <a:avLst/>
          </a:prstGeom>
          <a:solidFill>
            <a:srgbClr val="F7FAFD"/>
          </a:solidFill>
          <a:ln w="9525">
            <a:solidFill>
              <a:srgbClr val="DCE6F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tIns="27432"/>
          <a:lstStyle/>
          <a:p>
            <a:pPr algn="ctr">
              <a:lnSpc>
                <a:spcPct val="100000"/>
              </a:lnSpc>
              <a:spcAft>
                <a:spcPts val="300"/>
              </a:spcAft>
              <a:buNone/>
            </a:pPr>
            <a:r>
              <a:rPr sz="750" b="1">
                <a:solidFill>
                  <a:srgbClr val="8A9BB0"/>
                </a:solidFill>
                <a:latin typeface="Calibri"/>
              </a:rPr>
              <a:t>OUTPUT</a:t>
            </a:r>
          </a:p>
        </p:txBody>
      </p:sp>
      <p:sp>
        <p:nvSpPr>
          <p:cNvPr id="17415" name="Rounded Rectangle 17414"/>
          <p:cNvSpPr/>
          <p:nvPr/>
        </p:nvSpPr>
        <p:spPr>
          <a:xfrm>
            <a:off x="512064" y="1645920"/>
            <a:ext cx="1645920"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PCAP / PCAPNG</a:t>
            </a:r>
          </a:p>
          <a:p>
            <a:pPr algn="ctr">
              <a:lnSpc>
                <a:spcPct val="88000"/>
              </a:lnSpc>
              <a:spcAft>
                <a:spcPts val="100"/>
              </a:spcAft>
              <a:buNone/>
            </a:pPr>
            <a:r>
              <a:rPr sz="750" b="0">
                <a:solidFill>
                  <a:srgbClr val="4A5A70"/>
                </a:solidFill>
                <a:latin typeface="Calibri"/>
              </a:rPr>
              <a:t>untrusted file</a:t>
            </a:r>
          </a:p>
        </p:txBody>
      </p:sp>
      <p:sp>
        <p:nvSpPr>
          <p:cNvPr id="17416" name="Down Arrow 17415"/>
          <p:cNvSpPr/>
          <p:nvPr/>
        </p:nvSpPr>
        <p:spPr>
          <a:xfrm>
            <a:off x="1252728" y="2212848"/>
            <a:ext cx="164592" cy="182880"/>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512064" y="2432304"/>
            <a:ext cx="1645920" cy="566928"/>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Safe ingestion</a:t>
            </a:r>
          </a:p>
          <a:p>
            <a:pPr algn="ctr">
              <a:lnSpc>
                <a:spcPct val="88000"/>
              </a:lnSpc>
              <a:spcAft>
                <a:spcPts val="100"/>
              </a:spcAft>
              <a:buNone/>
            </a:pPr>
            <a:r>
              <a:rPr sz="750" b="0">
                <a:solidFill>
                  <a:srgbClr val="4A5A70"/>
                </a:solidFill>
                <a:latin typeface="Calibri"/>
              </a:rPr>
              <a:t>format from the bytes</a:t>
            </a:r>
          </a:p>
          <a:p>
            <a:pPr algn="ctr">
              <a:lnSpc>
                <a:spcPct val="88000"/>
              </a:lnSpc>
              <a:spcAft>
                <a:spcPts val="100"/>
              </a:spcAft>
              <a:buNone/>
            </a:pPr>
            <a:r>
              <a:rPr sz="750" b="0">
                <a:solidFill>
                  <a:srgbClr val="4A5A70"/>
                </a:solidFill>
                <a:latin typeface="Calibri"/>
              </a:rPr>
              <a:t>8 hard limits</a:t>
            </a:r>
          </a:p>
        </p:txBody>
      </p:sp>
      <p:sp>
        <p:nvSpPr>
          <p:cNvPr id="17418" name="Down Arrow 17417"/>
          <p:cNvSpPr/>
          <p:nvPr/>
        </p:nvSpPr>
        <p:spPr>
          <a:xfrm>
            <a:off x="1252728" y="2999232"/>
            <a:ext cx="164592" cy="201168"/>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ounded Rectangle 17418"/>
          <p:cNvSpPr/>
          <p:nvPr/>
        </p:nvSpPr>
        <p:spPr>
          <a:xfrm>
            <a:off x="512064" y="3236976"/>
            <a:ext cx="1645920" cy="43891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Packet decode</a:t>
            </a:r>
          </a:p>
        </p:txBody>
      </p:sp>
      <p:sp>
        <p:nvSpPr>
          <p:cNvPr id="17420" name="Right Arrow 17419"/>
          <p:cNvSpPr/>
          <p:nvPr/>
        </p:nvSpPr>
        <p:spPr>
          <a:xfrm>
            <a:off x="2231136" y="2084832"/>
            <a:ext cx="219456"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2633472" y="1645920"/>
            <a:ext cx="1847088"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TCP reassembly</a:t>
            </a:r>
          </a:p>
          <a:p>
            <a:pPr algn="ctr">
              <a:lnSpc>
                <a:spcPct val="88000"/>
              </a:lnSpc>
              <a:spcAft>
                <a:spcPts val="100"/>
              </a:spcAft>
              <a:buNone/>
            </a:pPr>
            <a:r>
              <a:rPr sz="750" b="0">
                <a:solidFill>
                  <a:srgbClr val="4A5A70"/>
                </a:solidFill>
                <a:latin typeface="Calibri"/>
              </a:rPr>
              <a:t>reorder · retransmit · gaps</a:t>
            </a:r>
          </a:p>
        </p:txBody>
      </p:sp>
      <p:sp>
        <p:nvSpPr>
          <p:cNvPr id="17422" name="Rounded Rectangle 17421"/>
          <p:cNvSpPr/>
          <p:nvPr/>
        </p:nvSpPr>
        <p:spPr>
          <a:xfrm>
            <a:off x="4572000" y="1645920"/>
            <a:ext cx="1773936"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SMTP · IMAP · POP3</a:t>
            </a:r>
          </a:p>
          <a:p>
            <a:pPr algn="ctr">
              <a:lnSpc>
                <a:spcPct val="88000"/>
              </a:lnSpc>
              <a:spcAft>
                <a:spcPts val="100"/>
              </a:spcAft>
              <a:buNone/>
            </a:pPr>
            <a:r>
              <a:rPr sz="750" b="0">
                <a:solidFill>
                  <a:srgbClr val="4A5A70"/>
                </a:solidFill>
                <a:latin typeface="Calibri"/>
              </a:rPr>
              <a:t>state machines, not ports</a:t>
            </a:r>
          </a:p>
        </p:txBody>
      </p:sp>
      <p:sp>
        <p:nvSpPr>
          <p:cNvPr id="17423" name="Down Arrow 17422"/>
          <p:cNvSpPr/>
          <p:nvPr/>
        </p:nvSpPr>
        <p:spPr>
          <a:xfrm>
            <a:off x="3474720" y="2212848"/>
            <a:ext cx="164592" cy="182880"/>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Down Arrow 17423"/>
          <p:cNvSpPr/>
          <p:nvPr/>
        </p:nvSpPr>
        <p:spPr>
          <a:xfrm>
            <a:off x="5376672" y="2212848"/>
            <a:ext cx="164592" cy="182880"/>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Rounded Rectangle 17424"/>
          <p:cNvSpPr/>
          <p:nvPr/>
        </p:nvSpPr>
        <p:spPr>
          <a:xfrm>
            <a:off x="2633472" y="2432304"/>
            <a:ext cx="1847088"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STARTTLS / STLS</a:t>
            </a:r>
          </a:p>
          <a:p>
            <a:pPr algn="ctr">
              <a:lnSpc>
                <a:spcPct val="88000"/>
              </a:lnSpc>
              <a:spcAft>
                <a:spcPts val="100"/>
              </a:spcAft>
              <a:buNone/>
            </a:pPr>
            <a:r>
              <a:rPr sz="750" b="0">
                <a:solidFill>
                  <a:srgbClr val="4A5A70"/>
                </a:solidFill>
                <a:latin typeface="Calibri"/>
              </a:rPr>
              <a:t>advertised · requested · outcome</a:t>
            </a:r>
          </a:p>
        </p:txBody>
      </p:sp>
      <p:sp>
        <p:nvSpPr>
          <p:cNvPr id="17426" name="Rounded Rectangle 17425"/>
          <p:cNvSpPr/>
          <p:nvPr/>
        </p:nvSpPr>
        <p:spPr>
          <a:xfrm>
            <a:off x="4572000" y="2432304"/>
            <a:ext cx="1773936"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TLS handshake</a:t>
            </a:r>
          </a:p>
          <a:p>
            <a:pPr algn="ctr">
              <a:lnSpc>
                <a:spcPct val="88000"/>
              </a:lnSpc>
              <a:spcAft>
                <a:spcPts val="100"/>
              </a:spcAft>
              <a:buNone/>
            </a:pPr>
            <a:r>
              <a:rPr sz="750" b="0">
                <a:solidFill>
                  <a:srgbClr val="4A5A70"/>
                </a:solidFill>
                <a:latin typeface="Calibri"/>
              </a:rPr>
              <a:t>version, suite, key exchange</a:t>
            </a:r>
          </a:p>
        </p:txBody>
      </p:sp>
      <p:sp>
        <p:nvSpPr>
          <p:cNvPr id="17427" name="Down Arrow 17426"/>
          <p:cNvSpPr/>
          <p:nvPr/>
        </p:nvSpPr>
        <p:spPr>
          <a:xfrm>
            <a:off x="4425696" y="2999232"/>
            <a:ext cx="164592" cy="201168"/>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ounded Rectangle 17427"/>
          <p:cNvSpPr/>
          <p:nvPr/>
        </p:nvSpPr>
        <p:spPr>
          <a:xfrm>
            <a:off x="2633472" y="3236976"/>
            <a:ext cx="3712463" cy="43891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X.509 certificate analysis  —  chain, dates, identity, key, signature</a:t>
            </a:r>
          </a:p>
        </p:txBody>
      </p:sp>
      <p:sp>
        <p:nvSpPr>
          <p:cNvPr id="17429" name="Right Arrow 17428"/>
          <p:cNvSpPr/>
          <p:nvPr/>
        </p:nvSpPr>
        <p:spPr>
          <a:xfrm>
            <a:off x="6400800" y="2084832"/>
            <a:ext cx="219456"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Rounded Rectangle 17429"/>
          <p:cNvSpPr/>
          <p:nvPr/>
        </p:nvSpPr>
        <p:spPr>
          <a:xfrm>
            <a:off x="6803136" y="1645920"/>
            <a:ext cx="2359152"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25 policy rules</a:t>
            </a:r>
          </a:p>
          <a:p>
            <a:pPr algn="ctr">
              <a:lnSpc>
                <a:spcPct val="88000"/>
              </a:lnSpc>
              <a:spcAft>
                <a:spcPts val="100"/>
              </a:spcAft>
              <a:buNone/>
            </a:pPr>
            <a:r>
              <a:rPr sz="750" b="0">
                <a:solidFill>
                  <a:srgbClr val="4A5A70"/>
                </a:solidFill>
                <a:latin typeface="Calibri"/>
              </a:rPr>
              <a:t>versioned, fingerprinted</a:t>
            </a:r>
          </a:p>
        </p:txBody>
      </p:sp>
      <p:sp>
        <p:nvSpPr>
          <p:cNvPr id="17431" name="Down Arrow 17430"/>
          <p:cNvSpPr/>
          <p:nvPr/>
        </p:nvSpPr>
        <p:spPr>
          <a:xfrm>
            <a:off x="7900416" y="2212848"/>
            <a:ext cx="164592" cy="182880"/>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2" name="Rounded Rectangle 17431"/>
          <p:cNvSpPr/>
          <p:nvPr/>
        </p:nvSpPr>
        <p:spPr>
          <a:xfrm>
            <a:off x="6803136" y="2432304"/>
            <a:ext cx="2359152"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Score · coverage · priority</a:t>
            </a:r>
          </a:p>
          <a:p>
            <a:pPr algn="ctr">
              <a:lnSpc>
                <a:spcPct val="88000"/>
              </a:lnSpc>
              <a:spcAft>
                <a:spcPts val="100"/>
              </a:spcAft>
              <a:buNone/>
            </a:pPr>
            <a:r>
              <a:rPr sz="750" b="0">
                <a:solidFill>
                  <a:srgbClr val="4A5A70"/>
                </a:solidFill>
                <a:latin typeface="Calibri"/>
              </a:rPr>
              <a:t>arithmetic shown, not asserted</a:t>
            </a:r>
          </a:p>
        </p:txBody>
      </p:sp>
      <p:sp>
        <p:nvSpPr>
          <p:cNvPr id="17433" name="Down Arrow 17432"/>
          <p:cNvSpPr/>
          <p:nvPr/>
        </p:nvSpPr>
        <p:spPr>
          <a:xfrm>
            <a:off x="7900416" y="2999232"/>
            <a:ext cx="164592" cy="201168"/>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Rounded Rectangle 17433"/>
          <p:cNvSpPr/>
          <p:nvPr/>
        </p:nvSpPr>
        <p:spPr>
          <a:xfrm>
            <a:off x="6803136" y="3236976"/>
            <a:ext cx="2359152" cy="43891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00" b="1">
                <a:solidFill>
                  <a:srgbClr val="111B2A"/>
                </a:solidFill>
                <a:latin typeface="Calibri"/>
              </a:rPr>
              <a:t>Fingerprints · drift · correlation · ML (advisory)</a:t>
            </a:r>
          </a:p>
        </p:txBody>
      </p:sp>
      <p:sp>
        <p:nvSpPr>
          <p:cNvPr id="17435" name="Right Arrow 17434"/>
          <p:cNvSpPr/>
          <p:nvPr/>
        </p:nvSpPr>
        <p:spPr>
          <a:xfrm>
            <a:off x="9235440" y="2084832"/>
            <a:ext cx="219456"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Rounded Rectangle 17435"/>
          <p:cNvSpPr/>
          <p:nvPr/>
        </p:nvSpPr>
        <p:spPr>
          <a:xfrm>
            <a:off x="9637776" y="1645920"/>
            <a:ext cx="2048256"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One canonical report model</a:t>
            </a:r>
          </a:p>
          <a:p>
            <a:pPr algn="ctr">
              <a:lnSpc>
                <a:spcPct val="88000"/>
              </a:lnSpc>
              <a:spcAft>
                <a:spcPts val="100"/>
              </a:spcAft>
              <a:buNone/>
            </a:pPr>
            <a:r>
              <a:rPr sz="750" b="0">
                <a:solidFill>
                  <a:srgbClr val="4A5A70"/>
                </a:solidFill>
                <a:latin typeface="Calibri"/>
              </a:rPr>
              <a:t>schema 1.4.0</a:t>
            </a:r>
          </a:p>
        </p:txBody>
      </p:sp>
      <p:sp>
        <p:nvSpPr>
          <p:cNvPr id="17437" name="Down Arrow 17436"/>
          <p:cNvSpPr/>
          <p:nvPr/>
        </p:nvSpPr>
        <p:spPr>
          <a:xfrm>
            <a:off x="10579608" y="2212848"/>
            <a:ext cx="164592" cy="182880"/>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Rounded Rectangle 17437"/>
          <p:cNvSpPr/>
          <p:nvPr/>
        </p:nvSpPr>
        <p:spPr>
          <a:xfrm>
            <a:off x="9637776" y="2432304"/>
            <a:ext cx="2048256" cy="5120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JSON · offline HTML · PDF</a:t>
            </a:r>
          </a:p>
          <a:p>
            <a:pPr algn="ctr">
              <a:lnSpc>
                <a:spcPct val="88000"/>
              </a:lnSpc>
              <a:spcAft>
                <a:spcPts val="100"/>
              </a:spcAft>
              <a:buNone/>
            </a:pPr>
            <a:r>
              <a:rPr sz="750" b="0">
                <a:solidFill>
                  <a:srgbClr val="4A5A70"/>
                </a:solidFill>
                <a:latin typeface="Calibri"/>
              </a:rPr>
              <a:t>parity-tested against each other</a:t>
            </a:r>
          </a:p>
        </p:txBody>
      </p:sp>
      <p:sp>
        <p:nvSpPr>
          <p:cNvPr id="17439" name="Down Arrow 17438"/>
          <p:cNvSpPr/>
          <p:nvPr/>
        </p:nvSpPr>
        <p:spPr>
          <a:xfrm>
            <a:off x="10579608" y="2999232"/>
            <a:ext cx="164592" cy="201168"/>
          </a:xfrm>
          <a:prstGeom prst="down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0" name="Rounded Rectangle 17439"/>
          <p:cNvSpPr/>
          <p:nvPr/>
        </p:nvSpPr>
        <p:spPr>
          <a:xfrm>
            <a:off x="9637776" y="3236976"/>
            <a:ext cx="2048256" cy="43891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Local API → React dashboard</a:t>
            </a:r>
          </a:p>
        </p:txBody>
      </p:sp>
      <p:sp>
        <p:nvSpPr>
          <p:cNvPr id="17441" name="Rounded Rectangle 17440"/>
          <p:cNvSpPr/>
          <p:nvPr/>
        </p:nvSpPr>
        <p:spPr>
          <a:xfrm>
            <a:off x="384048" y="3968496"/>
            <a:ext cx="11430000" cy="420624"/>
          </a:xfrm>
          <a:prstGeom prst="roundRect">
            <a:avLst/>
          </a:prstGeom>
          <a:solidFill>
            <a:srgbClr val="ECF4FA"/>
          </a:solidFill>
          <a:ln w="9525">
            <a:solidFill>
              <a:srgbClr val="C8DDEE"/>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300"/>
              </a:spcAft>
              <a:buNone/>
            </a:pPr>
            <a:r>
              <a:rPr sz="900" b="1">
                <a:solidFill>
                  <a:srgbClr val="0B5FA5"/>
                </a:solidFill>
                <a:latin typeface="Calibri"/>
              </a:rPr>
              <a:t>EVIDENCE PROVENANCE  —  every stage attaches the capture, session, packet number, timestamp and stream offset it read from, and marks each value OBSERVED, INFERRED, UNKNOWN or NOT AVAILABLE</a:t>
            </a:r>
          </a:p>
        </p:txBody>
      </p:sp>
      <p:sp>
        <p:nvSpPr>
          <p:cNvPr id="17442" name="Rounded Rectangle 17441"/>
          <p:cNvSpPr/>
          <p:nvPr/>
        </p:nvSpPr>
        <p:spPr>
          <a:xfrm>
            <a:off x="384048" y="4480560"/>
            <a:ext cx="11430000" cy="420624"/>
          </a:xfrm>
          <a:prstGeom prst="roundRect">
            <a:avLst/>
          </a:prstGeom>
          <a:solidFill>
            <a:srgbClr val="E4EEE6"/>
          </a:solidFill>
          <a:ln w="9525">
            <a:solidFill>
              <a:srgbClr val="BED8C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300"/>
              </a:spcAft>
              <a:buNone/>
            </a:pPr>
            <a:r>
              <a:rPr sz="900" b="1">
                <a:solidFill>
                  <a:srgbClr val="1B6B3A"/>
                </a:solidFill>
                <a:latin typeface="Calibri"/>
              </a:rPr>
              <a:t>PASSIVE BY CONSTRUCTION  —  no stage opens a socket. Scapy's neighbour resolver is replaced with one that raises, and the whole pipeline is run through stubbed socket constructors by the test suite</a:t>
            </a:r>
          </a:p>
        </p:txBody>
      </p:sp>
      <p:sp>
        <p:nvSpPr>
          <p:cNvPr id="17443" name="Rounded Rectangle 17442"/>
          <p:cNvSpPr/>
          <p:nvPr/>
        </p:nvSpPr>
        <p:spPr>
          <a:xfrm>
            <a:off x="384048" y="5010912"/>
            <a:ext cx="3749039" cy="9692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950" b="1">
                <a:solidFill>
                  <a:srgbClr val="0B5FA5"/>
                </a:solidFill>
                <a:latin typeface="Calibri"/>
              </a:rPr>
              <a:t>Engine</a:t>
            </a:r>
          </a:p>
          <a:p>
            <a:pPr>
              <a:lnSpc>
                <a:spcPct val="90000"/>
              </a:lnSpc>
              <a:spcAft>
                <a:spcPts val="300"/>
              </a:spcAft>
              <a:buNone/>
            </a:pPr>
            <a:r>
              <a:rPr sz="800" b="0">
                <a:solidFill>
                  <a:srgbClr val="1F2C3F"/>
                </a:solidFill>
                <a:latin typeface="Calibri"/>
              </a:rPr>
              <a:t>Python 3.12 · Scapy (dissection only) · cryptography · Pydantic · scikit-learn</a:t>
            </a:r>
          </a:p>
        </p:txBody>
      </p:sp>
      <p:sp>
        <p:nvSpPr>
          <p:cNvPr id="17444" name="Rounded Rectangle 17443"/>
          <p:cNvSpPr/>
          <p:nvPr/>
        </p:nvSpPr>
        <p:spPr>
          <a:xfrm>
            <a:off x="4224528" y="5010912"/>
            <a:ext cx="3749039" cy="9692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950" b="1">
                <a:solidFill>
                  <a:srgbClr val="0B5FA5"/>
                </a:solidFill>
                <a:latin typeface="Calibri"/>
              </a:rPr>
              <a:t>Interface and API</a:t>
            </a:r>
          </a:p>
          <a:p>
            <a:pPr>
              <a:lnSpc>
                <a:spcPct val="90000"/>
              </a:lnSpc>
              <a:spcAft>
                <a:spcPts val="300"/>
              </a:spcAft>
              <a:buNone/>
            </a:pPr>
            <a:r>
              <a:rPr sz="800" b="0">
                <a:solidFill>
                  <a:srgbClr val="1F2C3F"/>
                </a:solidFill>
                <a:latin typeface="Calibri"/>
              </a:rPr>
              <a:t>FastAPI · SQLite · SQLAlchemy · React 18 · TypeScript strict · Vite · Tailwind</a:t>
            </a:r>
          </a:p>
        </p:txBody>
      </p:sp>
      <p:sp>
        <p:nvSpPr>
          <p:cNvPr id="17445" name="Rounded Rectangle 17444"/>
          <p:cNvSpPr/>
          <p:nvPr/>
        </p:nvSpPr>
        <p:spPr>
          <a:xfrm>
            <a:off x="8065008" y="5010912"/>
            <a:ext cx="3749039" cy="9692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950" b="1">
                <a:solidFill>
                  <a:srgbClr val="0B5FA5"/>
                </a:solidFill>
                <a:latin typeface="Calibri"/>
              </a:rPr>
              <a:t>Verification</a:t>
            </a:r>
          </a:p>
          <a:p>
            <a:pPr>
              <a:lnSpc>
                <a:spcPct val="90000"/>
              </a:lnSpc>
              <a:spcAft>
                <a:spcPts val="300"/>
              </a:spcAft>
              <a:buNone/>
            </a:pPr>
            <a:r>
              <a:rPr sz="800" b="0">
                <a:solidFill>
                  <a:srgbClr val="1F2C3F"/>
                </a:solidFill>
                <a:latin typeface="Calibri"/>
              </a:rPr>
              <a:t>pytest · hypothesis · Vitest · Playwright · TShark as an independent dissector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384048" y="969264"/>
            <a:ext cx="11430000" cy="310896"/>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tabLst/>
              <a:defRPr/>
              <a:buNone/>
            </a:pPr>
            <a:r>
              <a:rPr sz="1000" b="0">
                <a:solidFill>
                  <a:srgbClr val="4A5A70"/>
                </a:solidFill>
                <a:latin typeface="Calibri"/>
              </a:rPr>
              <a:t>Feasible because it is built and measured. Every figure below is from the release commit, re-run — not an estimate.</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316736"/>
            <a:ext cx="1847088" cy="78638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4000"/>
              </a:lnSpc>
              <a:spcAft>
                <a:spcPts val="0"/>
              </a:spcAft>
              <a:buNone/>
            </a:pPr>
            <a:r>
              <a:rPr sz="2200" b="1">
                <a:solidFill>
                  <a:srgbClr val="0B5FA5"/>
                </a:solidFill>
                <a:latin typeface="Calibri"/>
              </a:rPr>
              <a:t>1,357</a:t>
            </a:r>
          </a:p>
          <a:p>
            <a:pPr algn="ctr">
              <a:lnSpc>
                <a:spcPct val="84000"/>
              </a:lnSpc>
              <a:spcAft>
                <a:spcPts val="0"/>
              </a:spcAft>
              <a:buNone/>
            </a:pPr>
            <a:r>
              <a:rPr sz="750" b="0">
                <a:solidFill>
                  <a:srgbClr val="4A5A70"/>
                </a:solidFill>
                <a:latin typeface="Calibri"/>
              </a:rPr>
              <a:t>backend tests pass</a:t>
            </a:r>
          </a:p>
        </p:txBody>
      </p:sp>
      <p:sp>
        <p:nvSpPr>
          <p:cNvPr id="17412" name="Rounded Rectangle 17411"/>
          <p:cNvSpPr/>
          <p:nvPr/>
        </p:nvSpPr>
        <p:spPr>
          <a:xfrm>
            <a:off x="2322576" y="1316736"/>
            <a:ext cx="1847088" cy="78638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4000"/>
              </a:lnSpc>
              <a:spcAft>
                <a:spcPts val="0"/>
              </a:spcAft>
              <a:buNone/>
            </a:pPr>
            <a:r>
              <a:rPr sz="2200" b="1">
                <a:solidFill>
                  <a:srgbClr val="0B5FA5"/>
                </a:solidFill>
                <a:latin typeface="Calibri"/>
              </a:rPr>
              <a:t>1,367</a:t>
            </a:r>
          </a:p>
          <a:p>
            <a:pPr algn="ctr">
              <a:lnSpc>
                <a:spcPct val="84000"/>
              </a:lnSpc>
              <a:spcAft>
                <a:spcPts val="0"/>
              </a:spcAft>
              <a:buNone/>
            </a:pPr>
            <a:r>
              <a:rPr sz="750" b="0">
                <a:solidFill>
                  <a:srgbClr val="4A5A70"/>
                </a:solidFill>
                <a:latin typeface="Calibri"/>
              </a:rPr>
              <a:t>with the TShark cross-check</a:t>
            </a:r>
          </a:p>
        </p:txBody>
      </p:sp>
      <p:sp>
        <p:nvSpPr>
          <p:cNvPr id="17413" name="Rounded Rectangle 17412"/>
          <p:cNvSpPr/>
          <p:nvPr/>
        </p:nvSpPr>
        <p:spPr>
          <a:xfrm>
            <a:off x="4261104" y="1316736"/>
            <a:ext cx="1847088" cy="78638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4000"/>
              </a:lnSpc>
              <a:spcAft>
                <a:spcPts val="0"/>
              </a:spcAft>
              <a:buNone/>
            </a:pPr>
            <a:r>
              <a:rPr sz="2200" b="1">
                <a:solidFill>
                  <a:srgbClr val="0B5FA5"/>
                </a:solidFill>
                <a:latin typeface="Calibri"/>
              </a:rPr>
              <a:t>89</a:t>
            </a:r>
          </a:p>
          <a:p>
            <a:pPr algn="ctr">
              <a:lnSpc>
                <a:spcPct val="84000"/>
              </a:lnSpc>
              <a:spcAft>
                <a:spcPts val="0"/>
              </a:spcAft>
              <a:buNone/>
            </a:pPr>
            <a:r>
              <a:rPr sz="750" b="0">
                <a:solidFill>
                  <a:srgbClr val="4A5A70"/>
                </a:solidFill>
                <a:latin typeface="Calibri"/>
              </a:rPr>
              <a:t>frontend tests</a:t>
            </a:r>
          </a:p>
        </p:txBody>
      </p:sp>
      <p:sp>
        <p:nvSpPr>
          <p:cNvPr id="17414" name="Rounded Rectangle 17413"/>
          <p:cNvSpPr/>
          <p:nvPr/>
        </p:nvSpPr>
        <p:spPr>
          <a:xfrm>
            <a:off x="6199632" y="1316736"/>
            <a:ext cx="1847088" cy="78638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4000"/>
              </a:lnSpc>
              <a:spcAft>
                <a:spcPts val="0"/>
              </a:spcAft>
              <a:buNone/>
            </a:pPr>
            <a:r>
              <a:rPr sz="2200" b="1">
                <a:solidFill>
                  <a:srgbClr val="0B5FA5"/>
                </a:solidFill>
                <a:latin typeface="Calibri"/>
              </a:rPr>
              <a:t>5</a:t>
            </a:r>
          </a:p>
          <a:p>
            <a:pPr algn="ctr">
              <a:lnSpc>
                <a:spcPct val="84000"/>
              </a:lnSpc>
              <a:spcAft>
                <a:spcPts val="0"/>
              </a:spcAft>
              <a:buNone/>
            </a:pPr>
            <a:r>
              <a:rPr sz="750" b="0">
                <a:solidFill>
                  <a:srgbClr val="4A5A70"/>
                </a:solidFill>
                <a:latin typeface="Calibri"/>
              </a:rPr>
              <a:t>browser end-to-end specs</a:t>
            </a:r>
          </a:p>
        </p:txBody>
      </p:sp>
      <p:sp>
        <p:nvSpPr>
          <p:cNvPr id="17415" name="Rounded Rectangle 17414"/>
          <p:cNvSpPr/>
          <p:nvPr/>
        </p:nvSpPr>
        <p:spPr>
          <a:xfrm>
            <a:off x="8138160" y="1316736"/>
            <a:ext cx="1847088" cy="78638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4000"/>
              </a:lnSpc>
              <a:spcAft>
                <a:spcPts val="0"/>
              </a:spcAft>
              <a:buNone/>
            </a:pPr>
            <a:r>
              <a:rPr sz="2200" b="1">
                <a:solidFill>
                  <a:srgbClr val="0B5FA5"/>
                </a:solidFill>
                <a:latin typeface="Calibri"/>
              </a:rPr>
              <a:t>156</a:t>
            </a:r>
          </a:p>
          <a:p>
            <a:pPr algn="ctr">
              <a:lnSpc>
                <a:spcPct val="84000"/>
              </a:lnSpc>
              <a:spcAft>
                <a:spcPts val="0"/>
              </a:spcAft>
              <a:buNone/>
            </a:pPr>
            <a:r>
              <a:rPr sz="750" b="0">
                <a:solidFill>
                  <a:srgbClr val="4A5A70"/>
                </a:solidFill>
                <a:latin typeface="Calibri"/>
              </a:rPr>
              <a:t>files ruff + mypy clean</a:t>
            </a:r>
          </a:p>
        </p:txBody>
      </p:sp>
      <p:sp>
        <p:nvSpPr>
          <p:cNvPr id="17416" name="Rounded Rectangle 17415"/>
          <p:cNvSpPr/>
          <p:nvPr/>
        </p:nvSpPr>
        <p:spPr>
          <a:xfrm>
            <a:off x="10076688" y="1316736"/>
            <a:ext cx="1847088" cy="78638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4000"/>
              </a:lnSpc>
              <a:spcAft>
                <a:spcPts val="0"/>
              </a:spcAft>
              <a:buNone/>
            </a:pPr>
            <a:r>
              <a:rPr sz="2200" b="1">
                <a:solidFill>
                  <a:srgbClr val="1B6B3A"/>
                </a:solidFill>
                <a:latin typeface="Calibri"/>
              </a:rPr>
              <a:t>0</a:t>
            </a:r>
          </a:p>
          <a:p>
            <a:pPr algn="ctr">
              <a:lnSpc>
                <a:spcPct val="84000"/>
              </a:lnSpc>
              <a:spcAft>
                <a:spcPts val="0"/>
              </a:spcAft>
              <a:buNone/>
            </a:pPr>
            <a:r>
              <a:rPr sz="750" b="0">
                <a:solidFill>
                  <a:srgbClr val="4A5A70"/>
                </a:solidFill>
                <a:latin typeface="Calibri"/>
              </a:rPr>
              <a:t>known dependency vulnerabilities</a:t>
            </a:r>
          </a:p>
        </p:txBody>
      </p:sp>
      <p:sp>
        <p:nvSpPr>
          <p:cNvPr id="17417" name="Rounded Rectangle 17416"/>
          <p:cNvSpPr/>
          <p:nvPr/>
        </p:nvSpPr>
        <p:spPr>
          <a:xfrm>
            <a:off x="384048" y="2212848"/>
            <a:ext cx="5669280" cy="249631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2000"/>
              </a:lnSpc>
              <a:spcAft>
                <a:spcPts val="300"/>
              </a:spcAft>
              <a:buNone/>
            </a:pPr>
            <a:r>
              <a:rPr sz="1050" b="1">
                <a:solidFill>
                  <a:srgbClr val="1B6B3A"/>
                </a:solidFill>
                <a:latin typeface="Calibri"/>
              </a:rPr>
              <a:t>How a finding is proved</a:t>
            </a:r>
          </a:p>
          <a:p>
            <a:pPr>
              <a:lnSpc>
                <a:spcPct val="92000"/>
              </a:lnSpc>
              <a:spcAft>
                <a:spcPts val="300"/>
              </a:spcAft>
              <a:buNone/>
            </a:pPr>
            <a:r>
              <a:rPr sz="900" b="0">
                <a:solidFill>
                  <a:srgbClr val="1F2C3F"/>
                </a:solidFill>
                <a:latin typeface="Calibri"/>
              </a:rPr>
              <a:t>1.  A rule fails on a reconstructed observation — here, static RSA key exchange, so no forward secrecy.</a:t>
            </a:r>
          </a:p>
          <a:p>
            <a:pPr>
              <a:lnSpc>
                <a:spcPct val="92000"/>
              </a:lnSpc>
              <a:spcAft>
                <a:spcPts val="300"/>
              </a:spcAft>
              <a:buNone/>
            </a:pPr>
            <a:r>
              <a:rPr sz="900" b="0">
                <a:solidFill>
                  <a:srgbClr val="1F2C3F"/>
                </a:solidFill>
                <a:latin typeface="Calibri"/>
              </a:rPr>
              <a:t>2.  The engine attaches the packets it evaluated: #4 and #5, with their capture timestamps and stream offsets.</a:t>
            </a:r>
          </a:p>
          <a:p>
            <a:pPr>
              <a:lnSpc>
                <a:spcPct val="92000"/>
              </a:lnSpc>
              <a:spcAft>
                <a:spcPts val="300"/>
              </a:spcAft>
              <a:buNone/>
            </a:pPr>
            <a:r>
              <a:rPr sz="900" b="0">
                <a:solidFill>
                  <a:srgbClr val="1F2C3F"/>
                </a:solidFill>
                <a:latin typeface="Calibri"/>
              </a:rPr>
              <a:t>3.  The capture and session ids are printed beside them, so an analyst can open the same packets in Wireshark and check.</a:t>
            </a:r>
          </a:p>
          <a:p>
            <a:pPr>
              <a:lnSpc>
                <a:spcPct val="92000"/>
              </a:lnSpc>
              <a:spcAft>
                <a:spcPts val="300"/>
              </a:spcAft>
              <a:buNone/>
            </a:pPr>
            <a:r>
              <a:rPr sz="900" b="0">
                <a:solidFill>
                  <a:srgbClr val="1F2C3F"/>
                </a:solidFill>
                <a:latin typeface="Calibri"/>
              </a:rPr>
              <a:t>4.  Packet metadata only. Reconstructed payload bytes are never included in a report or shown in the interface.</a:t>
            </a:r>
          </a:p>
          <a:p>
            <a:pPr>
              <a:lnSpc>
                <a:spcPct val="92000"/>
              </a:lnSpc>
              <a:spcAft>
                <a:spcPts val="300"/>
              </a:spcAft>
              <a:buNone/>
            </a:pPr>
            <a:r>
              <a:rPr sz="850" b="0">
                <a:solidFill>
                  <a:srgbClr val="4A5A70"/>
                </a:solidFill>
                <a:latin typeface="Calibri"/>
              </a:rPr>
              <a:t>Expectations are hand-derived and committed as manifests while the captures are generated, so a test cannot confirm its own output; ten TShark cross-checks compare our dissection against Wireshark's, so a bug in our parser cannot validate itself.</a:t>
            </a:r>
          </a:p>
        </p:txBody>
      </p:sp>
      <p:pic>
        <p:nvPicPr>
          <p:cNvPr id="17418" name="Picture 17417" descr="06-evidence-provenance.png"/>
          <p:cNvPicPr>
            <a:picLocks noChangeAspect="1"/>
          </p:cNvPicPr>
          <p:nvPr/>
        </p:nvPicPr>
        <p:blipFill>
          <a:blip r:embed="rId4"/>
          <a:stretch>
            <a:fillRect/>
          </a:stretch>
        </p:blipFill>
        <p:spPr>
          <a:xfrm>
            <a:off x="6199632" y="2212848"/>
            <a:ext cx="5614416" cy="2494321"/>
          </a:xfrm>
          <a:prstGeom prst="rect">
            <a:avLst/>
          </a:prstGeom>
        </p:spPr>
      </p:pic>
      <p:sp>
        <p:nvSpPr>
          <p:cNvPr id="17419" name="Rectangle 17418"/>
          <p:cNvSpPr/>
          <p:nvPr/>
        </p:nvSpPr>
        <p:spPr>
          <a:xfrm>
            <a:off x="6199632" y="2212848"/>
            <a:ext cx="5614416" cy="2494321"/>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6199632" y="4725457"/>
            <a:ext cx="5614416"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The finding, and the packets it was evaluated against. Actual product output.</a:t>
            </a:r>
          </a:p>
        </p:txBody>
      </p:sp>
      <p:sp>
        <p:nvSpPr>
          <p:cNvPr id="17421" name="Rounded Rectangle 17420"/>
          <p:cNvSpPr/>
          <p:nvPr/>
        </p:nvSpPr>
        <p:spPr>
          <a:xfrm>
            <a:off x="384048" y="4992624"/>
            <a:ext cx="11430000" cy="1042415"/>
          </a:xfrm>
          <a:prstGeom prst="roundRect">
            <a:avLst/>
          </a:prstGeom>
          <a:solidFill>
            <a:srgbClr val="FDF2EC"/>
          </a:solidFill>
          <a:ln w="9525">
            <a:solidFill>
              <a:srgbClr val="EECFBE"/>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1050" b="1">
                <a:solidFill>
                  <a:srgbClr val="A83A1E"/>
                </a:solidFill>
                <a:latin typeface="Calibri"/>
              </a:rPr>
              <a:t>Limits, stated not hidden</a:t>
            </a:r>
          </a:p>
          <a:p>
            <a:pPr>
              <a:lnSpc>
                <a:spcPct val="90000"/>
              </a:lnSpc>
              <a:spcAft>
                <a:spcPts val="300"/>
              </a:spcAft>
              <a:buNone/>
            </a:pPr>
            <a:r>
              <a:rPr sz="900" b="0">
                <a:solidFill>
                  <a:srgbClr val="1F2C3F"/>
                </a:solidFill>
                <a:latin typeface="Calibri"/>
              </a:rPr>
              <a:t>TLS 1.3 encrypts the Certificate message, so a passive capture cannot expose it — reported NOT_AVAILABLE with the reason, never blank and never guessed. TLS 1.2 chains are read and verified in full.</a:t>
            </a:r>
          </a:p>
          <a:p>
            <a:pPr>
              <a:lnSpc>
                <a:spcPct val="90000"/>
              </a:lnSpc>
              <a:spcAft>
                <a:spcPts val="300"/>
              </a:spcAft>
              <a:buNone/>
            </a:pPr>
            <a:r>
              <a:rPr sz="900" b="0">
                <a:solidFill>
                  <a:srgbClr val="1F2C3F"/>
                </a:solidFill>
                <a:latin typeface="Calibri"/>
              </a:rPr>
              <a:t>The supervised classifier is NOT VALIDATED for real-world use: it was measured on synthetic servers only, it drives no finding and no score, and the interface says so on screen.</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384048" y="969264"/>
            <a:ext cx="11430000" cy="310896"/>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tabLst/>
              <a:defRPr/>
              <a:buNone/>
            </a:pPr>
            <a:r>
              <a:rPr sz="1000" b="0">
                <a:solidFill>
                  <a:srgbClr val="4A5A70"/>
                </a:solidFill>
                <a:latin typeface="Calibri"/>
              </a:rPr>
              <a:t>For authorised email-security investigation. Each visual below is the product output that supports the benefit beside it.</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512064" y="1572768"/>
            <a:ext cx="2139696" cy="1316736"/>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1100" b="1">
                <a:solidFill>
                  <a:srgbClr val="0B5FA5"/>
                </a:solidFill>
                <a:latin typeface="Calibri"/>
              </a:rPr>
              <a:t>DISCOVER</a:t>
            </a:r>
          </a:p>
          <a:p>
            <a:pPr>
              <a:lnSpc>
                <a:spcPct val="90000"/>
              </a:lnSpc>
              <a:spcAft>
                <a:spcPts val="300"/>
              </a:spcAft>
              <a:buNone/>
            </a:pPr>
            <a:r>
              <a:rPr sz="800" b="0">
                <a:solidFill>
                  <a:srgbClr val="1F2C3F"/>
                </a:solidFill>
                <a:latin typeface="Calibri"/>
              </a:rPr>
              <a:t>The cryptographic configuration actually negotiated — version, cipher suite, key exchange, certificate — read from traffic the organisation already holds, without touching the host.</a:t>
            </a:r>
          </a:p>
        </p:txBody>
      </p:sp>
      <p:sp>
        <p:nvSpPr>
          <p:cNvPr id="17412" name="Rounded Rectangle 17411"/>
          <p:cNvSpPr/>
          <p:nvPr/>
        </p:nvSpPr>
        <p:spPr>
          <a:xfrm>
            <a:off x="2724912" y="1572768"/>
            <a:ext cx="2139696" cy="1316736"/>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1100" b="1">
                <a:solidFill>
                  <a:srgbClr val="0B5FA5"/>
                </a:solidFill>
                <a:latin typeface="Calibri"/>
              </a:rPr>
              <a:t>EXPLAIN</a:t>
            </a:r>
          </a:p>
          <a:p>
            <a:pPr>
              <a:lnSpc>
                <a:spcPct val="90000"/>
              </a:lnSpc>
              <a:spcAft>
                <a:spcPts val="300"/>
              </a:spcAft>
              <a:buNone/>
            </a:pPr>
            <a:r>
              <a:rPr sz="800" b="0">
                <a:solidFill>
                  <a:srgbClr val="1F2C3F"/>
                </a:solidFill>
                <a:latin typeface="Calibri"/>
              </a:rPr>
              <a:t>Every finding names the rule it failed, the RFC clause it applies and the packets that establish it, so the conclusion can be checked rather than believed.</a:t>
            </a:r>
          </a:p>
        </p:txBody>
      </p:sp>
      <p:sp>
        <p:nvSpPr>
          <p:cNvPr id="17413" name="Rounded Rectangle 17412"/>
          <p:cNvSpPr/>
          <p:nvPr/>
        </p:nvSpPr>
        <p:spPr>
          <a:xfrm>
            <a:off x="4937760" y="1572768"/>
            <a:ext cx="2139696" cy="1316736"/>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1100" b="1">
                <a:solidFill>
                  <a:srgbClr val="0B5FA5"/>
                </a:solidFill>
                <a:latin typeface="Calibri"/>
              </a:rPr>
              <a:t>PRIORITIZE</a:t>
            </a:r>
          </a:p>
          <a:p>
            <a:pPr>
              <a:lnSpc>
                <a:spcPct val="90000"/>
              </a:lnSpc>
              <a:spcAft>
                <a:spcPts val="300"/>
              </a:spcAft>
              <a:buNone/>
            </a:pPr>
            <a:r>
              <a:rPr sz="800" b="0">
                <a:solidFill>
                  <a:srgbClr val="1F2C3F"/>
                </a:solidFill>
                <a:latin typeface="Calibri"/>
              </a:rPr>
              <a:t>Severity and confidence produce a ranked priority with a named remediation, so 'what do I fix first' has an answer and a reason.</a:t>
            </a:r>
          </a:p>
        </p:txBody>
      </p:sp>
      <p:pic>
        <p:nvPicPr>
          <p:cNvPr id="17414" name="Picture 17413" descr="04-finding-evidence.png"/>
          <p:cNvPicPr>
            <a:picLocks noChangeAspect="1"/>
          </p:cNvPicPr>
          <p:nvPr/>
        </p:nvPicPr>
        <p:blipFill>
          <a:blip r:embed="rId4"/>
          <a:stretch>
            <a:fillRect/>
          </a:stretch>
        </p:blipFill>
        <p:spPr>
          <a:xfrm>
            <a:off x="512064" y="3017520"/>
            <a:ext cx="6455664" cy="2481396"/>
          </a:xfrm>
          <a:prstGeom prst="rect">
            <a:avLst/>
          </a:prstGeom>
        </p:spPr>
      </p:pic>
      <p:sp>
        <p:nvSpPr>
          <p:cNvPr id="17415" name="Rectangle 17414"/>
          <p:cNvSpPr/>
          <p:nvPr/>
        </p:nvSpPr>
        <p:spPr>
          <a:xfrm>
            <a:off x="512064" y="3017520"/>
            <a:ext cx="6455664" cy="2481396"/>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512064" y="5517204"/>
            <a:ext cx="6455664"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One finding, its rule, its remediation and the packets behind it.</a:t>
            </a:r>
          </a:p>
        </p:txBody>
      </p:sp>
      <p:sp>
        <p:nvSpPr>
          <p:cNvPr id="17417" name="Rounded Rectangle 17416"/>
          <p:cNvSpPr/>
          <p:nvPr/>
        </p:nvSpPr>
        <p:spPr>
          <a:xfrm>
            <a:off x="7242048" y="1280160"/>
            <a:ext cx="4572000" cy="87782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1100" b="1">
                <a:solidFill>
                  <a:srgbClr val="0B5FA5"/>
                </a:solidFill>
                <a:latin typeface="Calibri"/>
              </a:rPr>
              <a:t>TRACK</a:t>
            </a:r>
          </a:p>
          <a:p>
            <a:pPr>
              <a:lnSpc>
                <a:spcPct val="90000"/>
              </a:lnSpc>
              <a:spcAft>
                <a:spcPts val="300"/>
              </a:spcAft>
              <a:buNone/>
            </a:pPr>
            <a:r>
              <a:rPr sz="800" b="0">
                <a:solidFill>
                  <a:srgbClr val="1F2C3F"/>
                </a:solidFill>
                <a:latin typeface="Calibri"/>
              </a:rPr>
              <a:t>Drift compares one endpoint across captures. Where the clients asked different questions the comparison is reported INCONCLUSIVE rather than blamed on the server.</a:t>
            </a:r>
          </a:p>
        </p:txBody>
      </p:sp>
      <p:pic>
        <p:nvPicPr>
          <p:cNvPr id="17418" name="Picture 17417" descr="08-drift.png"/>
          <p:cNvPicPr>
            <a:picLocks noChangeAspect="1"/>
          </p:cNvPicPr>
          <p:nvPr/>
        </p:nvPicPr>
        <p:blipFill>
          <a:blip r:embed="rId5"/>
          <a:stretch>
            <a:fillRect/>
          </a:stretch>
        </p:blipFill>
        <p:spPr>
          <a:xfrm>
            <a:off x="7242048" y="2267712"/>
            <a:ext cx="4572000" cy="1757362"/>
          </a:xfrm>
          <a:prstGeom prst="rect">
            <a:avLst/>
          </a:prstGeom>
        </p:spPr>
      </p:pic>
      <p:sp>
        <p:nvSpPr>
          <p:cNvPr id="17419" name="Rectangle 17418"/>
          <p:cNvSpPr/>
          <p:nvPr/>
        </p:nvSpPr>
        <p:spPr>
          <a:xfrm>
            <a:off x="7242048" y="2267712"/>
            <a:ext cx="4572000" cy="1757362"/>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7242048" y="4043361"/>
            <a:ext cx="4572000"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Configuration drift, before and after.</a:t>
            </a:r>
          </a:p>
        </p:txBody>
      </p:sp>
      <p:sp>
        <p:nvSpPr>
          <p:cNvPr id="17421" name="Rounded Rectangle 17420"/>
          <p:cNvSpPr/>
          <p:nvPr/>
        </p:nvSpPr>
        <p:spPr>
          <a:xfrm>
            <a:off x="7242048" y="4443984"/>
            <a:ext cx="2212848" cy="142646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90000"/>
              </a:lnSpc>
              <a:spcAft>
                <a:spcPts val="300"/>
              </a:spcAft>
              <a:buNone/>
            </a:pPr>
            <a:r>
              <a:rPr sz="1100" b="1">
                <a:solidFill>
                  <a:srgbClr val="0B5FA5"/>
                </a:solidFill>
                <a:latin typeface="Calibri"/>
              </a:rPr>
              <a:t>REPORT</a:t>
            </a:r>
          </a:p>
          <a:p>
            <a:pPr>
              <a:lnSpc>
                <a:spcPct val="90000"/>
              </a:lnSpc>
              <a:spcAft>
                <a:spcPts val="300"/>
              </a:spcAft>
              <a:buNone/>
            </a:pPr>
            <a:r>
              <a:rPr sz="800" b="0">
                <a:solidFill>
                  <a:srgbClr val="1F2C3F"/>
                </a:solidFill>
                <a:latin typeface="Calibri"/>
              </a:rPr>
              <a:t>One canonical model produces JSON, a self-contained offline HTML document and a PDF, so their facts cannot disagree.</a:t>
            </a:r>
          </a:p>
        </p:txBody>
      </p:sp>
      <p:pic>
        <p:nvPicPr>
          <p:cNvPr id="17422" name="Picture 17421" descr="11-reports.png"/>
          <p:cNvPicPr>
            <a:picLocks noChangeAspect="1"/>
          </p:cNvPicPr>
          <p:nvPr/>
        </p:nvPicPr>
        <p:blipFill>
          <a:blip r:embed="rId6"/>
          <a:stretch>
            <a:fillRect/>
          </a:stretch>
        </p:blipFill>
        <p:spPr>
          <a:xfrm>
            <a:off x="9601200" y="4443984"/>
            <a:ext cx="2212848" cy="1244727"/>
          </a:xfrm>
          <a:prstGeom prst="rect">
            <a:avLst/>
          </a:prstGeom>
        </p:spPr>
      </p:pic>
      <p:sp>
        <p:nvSpPr>
          <p:cNvPr id="17423" name="Rectangle 17422"/>
          <p:cNvSpPr/>
          <p:nvPr/>
        </p:nvSpPr>
        <p:spPr>
          <a:xfrm>
            <a:off x="9601200" y="4443984"/>
            <a:ext cx="2212848" cy="1244727"/>
          </a:xfrm>
          <a:prstGeom prst="rect">
            <a:avLst/>
          </a:prstGeom>
          <a:no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9601200" y="5706999"/>
            <a:ext cx="2212848" cy="219456"/>
          </a:xfrm>
          <a:prstGeom prst="rect">
            <a:avLst/>
          </a:prstGeom>
          <a:noFill/>
        </p:spPr>
        <p:txBody>
          <a:bodyPr wrap="square">
            <a:spAutoFit/>
          </a:bodyPr>
          <a:lstStyle/>
          <a:p>
            <a:pPr algn="ctr">
              <a:lnSpc>
                <a:spcPct val="100000"/>
              </a:lnSpc>
              <a:spcAft>
                <a:spcPts val="300"/>
              </a:spcAft>
            </a:pPr>
            <a:r>
              <a:rPr sz="800" b="0">
                <a:solidFill>
                  <a:srgbClr val="4A5A70"/>
                </a:solidFill>
                <a:latin typeface="Calibri"/>
              </a:rPr>
              <a:t>Export, in three formats.</a:t>
            </a:r>
          </a:p>
        </p:txBody>
      </p:sp>
      <p:sp>
        <p:nvSpPr>
          <p:cNvPr id="17425" name="Rounded Rectangle 17424"/>
          <p:cNvSpPr/>
          <p:nvPr/>
        </p:nvSpPr>
        <p:spPr>
          <a:xfrm>
            <a:off x="384048" y="5943600"/>
            <a:ext cx="6711696" cy="329184"/>
          </a:xfrm>
          <a:prstGeom prst="roundRect">
            <a:avLst/>
          </a:prstGeom>
          <a:solidFill>
            <a:srgbClr val="E4EEE6"/>
          </a:solidFill>
          <a:ln w="9525">
            <a:solidFill>
              <a:srgbClr val="BED8C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100000"/>
              </a:lnSpc>
              <a:spcAft>
                <a:spcPts val="300"/>
              </a:spcAft>
              <a:buNone/>
            </a:pPr>
            <a:r>
              <a:rPr sz="850" b="1">
                <a:solidFill>
                  <a:srgbClr val="1F2C3F"/>
                </a:solidFill>
                <a:latin typeface="Calibri"/>
              </a:rPr>
              <a:t>Benefits are demonstrated on synthetic captures. No deployment, adoption figure or real-world detection rate is claimed.</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384048" y="969264"/>
            <a:ext cx="11430000" cy="310896"/>
          </a:xfrm>
          <a:prstGeom prst="rect">
            <a:avLst/>
          </a:prstGeom>
          <a:noFill/>
          <a:ln w="9525">
            <a:noFill/>
            <a:miter lim="800000"/>
            <a:headEnd/>
            <a:tailEnd/>
          </a:ln>
        </p:spPr>
        <p:txBody>
          <a:bodyPr wrap="square">
            <a:spAutoFit/>
          </a:bodyPr>
          <a:lstStyle/>
          <a:p>
            <a:pPr marL="342900" marR="0" indent="-342900" algn="just" defTabSz="457200" rtl="0" eaLnBrk="1" fontAlgn="base" latinLnBrk="0" hangingPunct="1">
              <a:lnSpc>
                <a:spcPct val="100000"/>
              </a:lnSpc>
              <a:spcBef>
                <a:spcPct val="0"/>
              </a:spcBef>
              <a:spcAft>
                <a:spcPts val="300"/>
              </a:spcAft>
              <a:buClrTx/>
              <a:buSzTx/>
              <a:buFont typeface="Arial" panose="020B0604020202020204" pitchFamily="34" charset="0"/>
              <a:tabLst/>
              <a:defRPr/>
              <a:buNone/>
            </a:pPr>
            <a:r>
              <a:rPr sz="1000" b="0">
                <a:solidFill>
                  <a:srgbClr val="4A5A70"/>
                </a:solidFill>
                <a:latin typeface="Calibri"/>
              </a:rPr>
              <a:t>The standards the rules cite and the parsers implement, and how every claim in this deck is checked.</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1000" b="1"/>
              <a:t>Zero-Day</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Rounded Rectangle 17410"/>
          <p:cNvSpPr/>
          <p:nvPr/>
        </p:nvSpPr>
        <p:spPr>
          <a:xfrm>
            <a:off x="384048" y="1316736"/>
            <a:ext cx="3749039" cy="179222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buNone/>
            </a:pPr>
            <a:r>
              <a:rPr sz="1000" b="1">
                <a:solidFill>
                  <a:srgbClr val="0B5FA5"/>
                </a:solidFill>
                <a:latin typeface="Calibri"/>
              </a:rPr>
              <a:t>Core TLS and PKI</a:t>
            </a:r>
          </a:p>
          <a:p>
            <a:pPr>
              <a:lnSpc>
                <a:spcPct val="88000"/>
              </a:lnSpc>
              <a:spcAft>
                <a:spcPts val="300"/>
              </a:spcAft>
              <a:buNone/>
            </a:pPr>
            <a:r>
              <a:rPr sz="800" b="0">
                <a:solidFill>
                  <a:srgbClr val="1F2C3F"/>
                </a:solidFill>
                <a:latin typeface="Calibri"/>
              </a:rPr>
              <a:t>RFC 8446 — TLS 1.3</a:t>
            </a:r>
          </a:p>
          <a:p>
            <a:pPr>
              <a:lnSpc>
                <a:spcPct val="88000"/>
              </a:lnSpc>
              <a:spcAft>
                <a:spcPts val="300"/>
              </a:spcAft>
              <a:buNone/>
            </a:pPr>
            <a:r>
              <a:rPr sz="800" b="0">
                <a:solidFill>
                  <a:srgbClr val="1F2C3F"/>
                </a:solidFill>
                <a:latin typeface="Calibri"/>
              </a:rPr>
              <a:t>RFC 5246 — TLS 1.2</a:t>
            </a:r>
          </a:p>
          <a:p>
            <a:pPr>
              <a:lnSpc>
                <a:spcPct val="88000"/>
              </a:lnSpc>
              <a:spcAft>
                <a:spcPts val="300"/>
              </a:spcAft>
              <a:buNone/>
            </a:pPr>
            <a:r>
              <a:rPr sz="800" b="0">
                <a:solidFill>
                  <a:srgbClr val="1F2C3F"/>
                </a:solidFill>
                <a:latin typeface="Calibri"/>
              </a:rPr>
              <a:t>RFC 9325 — secure use of TLS (2022)</a:t>
            </a:r>
          </a:p>
          <a:p>
            <a:pPr>
              <a:lnSpc>
                <a:spcPct val="88000"/>
              </a:lnSpc>
              <a:spcAft>
                <a:spcPts val="300"/>
              </a:spcAft>
              <a:buNone/>
            </a:pPr>
            <a:r>
              <a:rPr sz="800" b="0">
                <a:solidFill>
                  <a:srgbClr val="1F2C3F"/>
                </a:solidFill>
                <a:latin typeface="Calibri"/>
              </a:rPr>
              <a:t>RFC 8996 — deprecating TLS 1.0 and 1.1</a:t>
            </a:r>
          </a:p>
          <a:p>
            <a:pPr>
              <a:lnSpc>
                <a:spcPct val="88000"/>
              </a:lnSpc>
              <a:spcAft>
                <a:spcPts val="300"/>
              </a:spcAft>
              <a:buNone/>
            </a:pPr>
            <a:r>
              <a:rPr sz="800" b="0">
                <a:solidFill>
                  <a:srgbClr val="1F2C3F"/>
                </a:solidFill>
                <a:latin typeface="Calibri"/>
              </a:rPr>
              <a:t>RFC 7457 — known attacks on TLS</a:t>
            </a:r>
          </a:p>
          <a:p>
            <a:pPr>
              <a:lnSpc>
                <a:spcPct val="88000"/>
              </a:lnSpc>
              <a:spcAft>
                <a:spcPts val="300"/>
              </a:spcAft>
              <a:buNone/>
            </a:pPr>
            <a:r>
              <a:rPr sz="800" b="0">
                <a:solidFill>
                  <a:srgbClr val="1F2C3F"/>
                </a:solidFill>
                <a:latin typeface="Calibri"/>
              </a:rPr>
              <a:t>RFC 4492 — ECC cipher suites</a:t>
            </a:r>
          </a:p>
          <a:p>
            <a:pPr>
              <a:lnSpc>
                <a:spcPct val="88000"/>
              </a:lnSpc>
              <a:spcAft>
                <a:spcPts val="300"/>
              </a:spcAft>
              <a:buNone/>
            </a:pPr>
            <a:r>
              <a:rPr sz="800" b="0">
                <a:solidFill>
                  <a:srgbClr val="1F2C3F"/>
                </a:solidFill>
                <a:latin typeface="Calibri"/>
              </a:rPr>
              <a:t>RFC 5280 — X.509 certificate and CRL profile</a:t>
            </a:r>
          </a:p>
          <a:p>
            <a:pPr>
              <a:lnSpc>
                <a:spcPct val="88000"/>
              </a:lnSpc>
              <a:spcAft>
                <a:spcPts val="300"/>
              </a:spcAft>
              <a:buNone/>
            </a:pPr>
            <a:r>
              <a:rPr sz="800" b="0">
                <a:solidFill>
                  <a:srgbClr val="1F2C3F"/>
                </a:solidFill>
                <a:latin typeface="Calibri"/>
              </a:rPr>
              <a:t>RFC 6125 — service identity verification</a:t>
            </a:r>
          </a:p>
          <a:p>
            <a:pPr>
              <a:lnSpc>
                <a:spcPct val="88000"/>
              </a:lnSpc>
              <a:spcAft>
                <a:spcPts val="300"/>
              </a:spcAft>
              <a:buNone/>
            </a:pPr>
            <a:r>
              <a:rPr sz="800" b="0">
                <a:solidFill>
                  <a:srgbClr val="1F2C3F"/>
                </a:solidFill>
                <a:latin typeface="Calibri"/>
              </a:rPr>
              <a:t>NIST SP 800-52 Rev. 2 · IANA TLS registry</a:t>
            </a:r>
          </a:p>
        </p:txBody>
      </p:sp>
      <p:sp>
        <p:nvSpPr>
          <p:cNvPr id="17412" name="Rounded Rectangle 17411"/>
          <p:cNvSpPr/>
          <p:nvPr/>
        </p:nvSpPr>
        <p:spPr>
          <a:xfrm>
            <a:off x="4224528" y="1316736"/>
            <a:ext cx="3749039" cy="179222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buNone/>
            </a:pPr>
            <a:r>
              <a:rPr sz="1000" b="1">
                <a:solidFill>
                  <a:srgbClr val="0B5FA5"/>
                </a:solidFill>
                <a:latin typeface="Calibri"/>
              </a:rPr>
              <a:t>Email protocols</a:t>
            </a:r>
          </a:p>
          <a:p>
            <a:pPr>
              <a:lnSpc>
                <a:spcPct val="88000"/>
              </a:lnSpc>
              <a:spcAft>
                <a:spcPts val="300"/>
              </a:spcAft>
              <a:buNone/>
            </a:pPr>
            <a:r>
              <a:rPr sz="800" b="0">
                <a:solidFill>
                  <a:srgbClr val="1F2C3F"/>
                </a:solidFill>
                <a:latin typeface="Calibri"/>
              </a:rPr>
              <a:t>RFC 5321 — SMTP</a:t>
            </a:r>
          </a:p>
          <a:p>
            <a:pPr>
              <a:lnSpc>
                <a:spcPct val="88000"/>
              </a:lnSpc>
              <a:spcAft>
                <a:spcPts val="300"/>
              </a:spcAft>
              <a:buNone/>
            </a:pPr>
            <a:r>
              <a:rPr sz="800" b="0">
                <a:solidFill>
                  <a:srgbClr val="1F2C3F"/>
                </a:solidFill>
                <a:latin typeface="Calibri"/>
              </a:rPr>
              <a:t>RFC 3207 — SMTP over TLS (STARTTLS)</a:t>
            </a:r>
          </a:p>
          <a:p>
            <a:pPr>
              <a:lnSpc>
                <a:spcPct val="88000"/>
              </a:lnSpc>
              <a:spcAft>
                <a:spcPts val="300"/>
              </a:spcAft>
              <a:buNone/>
            </a:pPr>
            <a:r>
              <a:rPr sz="800" b="0">
                <a:solidFill>
                  <a:srgbClr val="1F2C3F"/>
                </a:solidFill>
                <a:latin typeface="Calibri"/>
              </a:rPr>
              <a:t>RFC 9051 — IMAP 4rev2</a:t>
            </a:r>
          </a:p>
          <a:p>
            <a:pPr>
              <a:lnSpc>
                <a:spcPct val="88000"/>
              </a:lnSpc>
              <a:spcAft>
                <a:spcPts val="300"/>
              </a:spcAft>
              <a:buNone/>
            </a:pPr>
            <a:r>
              <a:rPr sz="800" b="0">
                <a:solidFill>
                  <a:srgbClr val="1F2C3F"/>
                </a:solidFill>
                <a:latin typeface="Calibri"/>
              </a:rPr>
              <a:t>RFC 1939 — POP3</a:t>
            </a:r>
          </a:p>
          <a:p>
            <a:pPr>
              <a:lnSpc>
                <a:spcPct val="88000"/>
              </a:lnSpc>
              <a:spcAft>
                <a:spcPts val="300"/>
              </a:spcAft>
              <a:buNone/>
            </a:pPr>
            <a:r>
              <a:rPr sz="800" b="0">
                <a:solidFill>
                  <a:srgbClr val="1F2C3F"/>
                </a:solidFill>
                <a:latin typeface="Calibri"/>
              </a:rPr>
              <a:t>RFC 2595 — TLS with IMAP, POP3 and ACAP</a:t>
            </a:r>
          </a:p>
          <a:p>
            <a:pPr>
              <a:lnSpc>
                <a:spcPct val="88000"/>
              </a:lnSpc>
              <a:spcAft>
                <a:spcPts val="300"/>
              </a:spcAft>
              <a:buNone/>
            </a:pPr>
            <a:r>
              <a:rPr sz="800" b="0">
                <a:solidFill>
                  <a:srgbClr val="1F2C3F"/>
                </a:solidFill>
                <a:latin typeface="Calibri"/>
              </a:rPr>
              <a:t>RFC 2606 — reserved names (.invalid, used by every fixture)</a:t>
            </a:r>
          </a:p>
        </p:txBody>
      </p:sp>
      <p:sp>
        <p:nvSpPr>
          <p:cNvPr id="17413" name="Rounded Rectangle 17412"/>
          <p:cNvSpPr/>
          <p:nvPr/>
        </p:nvSpPr>
        <p:spPr>
          <a:xfrm>
            <a:off x="8065008" y="1316736"/>
            <a:ext cx="3749039" cy="1792224"/>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88000"/>
              </a:lnSpc>
              <a:spcAft>
                <a:spcPts val="300"/>
              </a:spcAft>
              <a:buNone/>
            </a:pPr>
            <a:r>
              <a:rPr sz="1000" b="1">
                <a:solidFill>
                  <a:srgbClr val="0B5FA5"/>
                </a:solidFill>
                <a:latin typeface="Calibri"/>
              </a:rPr>
              <a:t>Validation tools</a:t>
            </a:r>
          </a:p>
          <a:p>
            <a:pPr>
              <a:lnSpc>
                <a:spcPct val="88000"/>
              </a:lnSpc>
              <a:spcAft>
                <a:spcPts val="300"/>
              </a:spcAft>
              <a:buNone/>
            </a:pPr>
            <a:r>
              <a:rPr sz="800" b="0">
                <a:solidFill>
                  <a:srgbClr val="1F2C3F"/>
                </a:solidFill>
                <a:latin typeface="Calibri"/>
              </a:rPr>
              <a:t>Wireshark / TShark — independent dissection</a:t>
            </a:r>
          </a:p>
          <a:p>
            <a:pPr>
              <a:lnSpc>
                <a:spcPct val="88000"/>
              </a:lnSpc>
              <a:spcAft>
                <a:spcPts val="300"/>
              </a:spcAft>
              <a:buNone/>
            </a:pPr>
            <a:r>
              <a:rPr sz="800" b="0">
                <a:solidFill>
                  <a:srgbClr val="1F2C3F"/>
                </a:solidFill>
                <a:latin typeface="Calibri"/>
              </a:rPr>
              <a:t>pytest · hypothesis — property and regression tests</a:t>
            </a:r>
          </a:p>
          <a:p>
            <a:pPr>
              <a:lnSpc>
                <a:spcPct val="88000"/>
              </a:lnSpc>
              <a:spcAft>
                <a:spcPts val="300"/>
              </a:spcAft>
              <a:buNone/>
            </a:pPr>
            <a:r>
              <a:rPr sz="800" b="0">
                <a:solidFill>
                  <a:srgbClr val="1F2C3F"/>
                </a:solidFill>
                <a:latin typeface="Calibri"/>
              </a:rPr>
              <a:t>Playwright · Vitest — browser and unit tests</a:t>
            </a:r>
          </a:p>
          <a:p>
            <a:pPr>
              <a:lnSpc>
                <a:spcPct val="88000"/>
              </a:lnSpc>
              <a:spcAft>
                <a:spcPts val="300"/>
              </a:spcAft>
              <a:buNone/>
            </a:pPr>
            <a:r>
              <a:rPr sz="800" b="0">
                <a:solidFill>
                  <a:srgbClr val="1F2C3F"/>
                </a:solidFill>
                <a:latin typeface="Calibri"/>
              </a:rPr>
              <a:t>pip-audit · npm audit · CycloneDX — supply chain</a:t>
            </a:r>
          </a:p>
          <a:p>
            <a:pPr>
              <a:lnSpc>
                <a:spcPct val="88000"/>
              </a:lnSpc>
              <a:spcAft>
                <a:spcPts val="300"/>
              </a:spcAft>
              <a:buNone/>
            </a:pPr>
            <a:r>
              <a:rPr sz="800" b="0">
                <a:solidFill>
                  <a:srgbClr val="1F2C3F"/>
                </a:solidFill>
                <a:latin typeface="Calibri"/>
              </a:rPr>
              <a:t>ruff · mypy — lint and strict typing</a:t>
            </a:r>
          </a:p>
        </p:txBody>
      </p:sp>
      <p:sp>
        <p:nvSpPr>
          <p:cNvPr id="17414" name="Rounded Rectangle 17413"/>
          <p:cNvSpPr/>
          <p:nvPr/>
        </p:nvSpPr>
        <p:spPr>
          <a:xfrm>
            <a:off x="384048" y="3291840"/>
            <a:ext cx="11430000" cy="1591056"/>
          </a:xfrm>
          <a:prstGeom prst="roundRect">
            <a:avLst/>
          </a:prstGeom>
          <a:solidFill>
            <a:srgbClr val="F7FAFD"/>
          </a:solidFill>
          <a:ln w="9525">
            <a:solidFill>
              <a:srgbClr val="DCE6F2"/>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tIns="27432"/>
          <a:lstStyle/>
          <a:p>
            <a:pPr algn="ctr">
              <a:lnSpc>
                <a:spcPct val="100000"/>
              </a:lnSpc>
              <a:spcAft>
                <a:spcPts val="300"/>
              </a:spcAft>
              <a:buNone/>
            </a:pPr>
            <a:r>
              <a:rPr sz="750" b="1">
                <a:solidFill>
                  <a:srgbClr val="8A9BB0"/>
                </a:solidFill>
                <a:latin typeface="Calibri"/>
              </a:rPr>
              <a:t>HOW EVERY CLAIM IN THIS DECK IS CHECKED</a:t>
            </a:r>
          </a:p>
        </p:txBody>
      </p:sp>
      <p:sp>
        <p:nvSpPr>
          <p:cNvPr id="17415" name="Rounded Rectangle 17414"/>
          <p:cNvSpPr/>
          <p:nvPr/>
        </p:nvSpPr>
        <p:spPr>
          <a:xfrm>
            <a:off x="530352" y="3639312"/>
            <a:ext cx="1664208" cy="107899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Deterministic fixtures</a:t>
            </a:r>
          </a:p>
          <a:p>
            <a:pPr algn="ctr">
              <a:lnSpc>
                <a:spcPct val="88000"/>
              </a:lnSpc>
              <a:spcAft>
                <a:spcPts val="100"/>
              </a:spcAft>
              <a:buNone/>
            </a:pPr>
            <a:r>
              <a:rPr sz="700" b="0">
                <a:solidFill>
                  <a:srgbClr val="4A5A70"/>
                </a:solidFill>
                <a:latin typeface="Calibri"/>
              </a:rPr>
              <a:t>generated from a fixed seed; identical bytes on every machine</a:t>
            </a:r>
          </a:p>
        </p:txBody>
      </p:sp>
      <p:sp>
        <p:nvSpPr>
          <p:cNvPr id="17416" name="Right Arrow 17415"/>
          <p:cNvSpPr/>
          <p:nvPr/>
        </p:nvSpPr>
        <p:spPr>
          <a:xfrm>
            <a:off x="2231136" y="4096512"/>
            <a:ext cx="182880"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2432304" y="3639312"/>
            <a:ext cx="1664208" cy="107899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Hand-derived manifests</a:t>
            </a:r>
          </a:p>
          <a:p>
            <a:pPr algn="ctr">
              <a:lnSpc>
                <a:spcPct val="88000"/>
              </a:lnSpc>
              <a:spcAft>
                <a:spcPts val="100"/>
              </a:spcAft>
              <a:buNone/>
            </a:pPr>
            <a:r>
              <a:rPr sz="700" b="0">
                <a:solidFill>
                  <a:srgbClr val="4A5A70"/>
                </a:solidFill>
                <a:latin typeface="Calibri"/>
              </a:rPr>
              <a:t>expectations written by hand and committed, not read back</a:t>
            </a:r>
          </a:p>
        </p:txBody>
      </p:sp>
      <p:sp>
        <p:nvSpPr>
          <p:cNvPr id="17418" name="Right Arrow 17417"/>
          <p:cNvSpPr/>
          <p:nvPr/>
        </p:nvSpPr>
        <p:spPr>
          <a:xfrm>
            <a:off x="4133088" y="4096512"/>
            <a:ext cx="182880"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ounded Rectangle 17418"/>
          <p:cNvSpPr/>
          <p:nvPr/>
        </p:nvSpPr>
        <p:spPr>
          <a:xfrm>
            <a:off x="4334256" y="3639312"/>
            <a:ext cx="1664208" cy="107899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Engine under test</a:t>
            </a:r>
          </a:p>
          <a:p>
            <a:pPr algn="ctr">
              <a:lnSpc>
                <a:spcPct val="88000"/>
              </a:lnSpc>
              <a:spcAft>
                <a:spcPts val="100"/>
              </a:spcAft>
              <a:buNone/>
            </a:pPr>
            <a:r>
              <a:rPr sz="700" b="0">
                <a:solidFill>
                  <a:srgbClr val="4A5A70"/>
                </a:solidFill>
                <a:latin typeface="Calibri"/>
              </a:rPr>
              <a:t>1,357 tests; the captures themselves stay out of git</a:t>
            </a:r>
          </a:p>
        </p:txBody>
      </p:sp>
      <p:sp>
        <p:nvSpPr>
          <p:cNvPr id="17420" name="Right Arrow 17419"/>
          <p:cNvSpPr/>
          <p:nvPr/>
        </p:nvSpPr>
        <p:spPr>
          <a:xfrm>
            <a:off x="6035040" y="4096512"/>
            <a:ext cx="182880"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6236208" y="3639312"/>
            <a:ext cx="1664208" cy="107899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Independent dissector</a:t>
            </a:r>
          </a:p>
          <a:p>
            <a:pPr algn="ctr">
              <a:lnSpc>
                <a:spcPct val="88000"/>
              </a:lnSpc>
              <a:spcAft>
                <a:spcPts val="100"/>
              </a:spcAft>
              <a:buNone/>
            </a:pPr>
            <a:r>
              <a:rPr sz="700" b="0">
                <a:solidFill>
                  <a:srgbClr val="4A5A70"/>
                </a:solidFill>
                <a:latin typeface="Calibri"/>
              </a:rPr>
              <a:t>ten TShark cross-checks against Wireshark's own parse</a:t>
            </a:r>
          </a:p>
        </p:txBody>
      </p:sp>
      <p:sp>
        <p:nvSpPr>
          <p:cNvPr id="17422" name="Right Arrow 17421"/>
          <p:cNvSpPr/>
          <p:nvPr/>
        </p:nvSpPr>
        <p:spPr>
          <a:xfrm>
            <a:off x="7936992" y="4096512"/>
            <a:ext cx="182880"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ounded Rectangle 17422"/>
          <p:cNvSpPr/>
          <p:nvPr/>
        </p:nvSpPr>
        <p:spPr>
          <a:xfrm>
            <a:off x="8138160" y="3639312"/>
            <a:ext cx="1664208" cy="107899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Real browser, real backend</a:t>
            </a:r>
          </a:p>
          <a:p>
            <a:pPr algn="ctr">
              <a:lnSpc>
                <a:spcPct val="88000"/>
              </a:lnSpc>
              <a:spcAft>
                <a:spcPts val="100"/>
              </a:spcAft>
              <a:buNone/>
            </a:pPr>
            <a:r>
              <a:rPr sz="700" b="0">
                <a:solidFill>
                  <a:srgbClr val="4A5A70"/>
                </a:solidFill>
                <a:latin typeface="Calibri"/>
              </a:rPr>
              <a:t>five Playwright specs, including a restart for persistence</a:t>
            </a:r>
          </a:p>
        </p:txBody>
      </p:sp>
      <p:sp>
        <p:nvSpPr>
          <p:cNvPr id="17424" name="Right Arrow 17423"/>
          <p:cNvSpPr/>
          <p:nvPr/>
        </p:nvSpPr>
        <p:spPr>
          <a:xfrm>
            <a:off x="9838944" y="4096512"/>
            <a:ext cx="182880" cy="164592"/>
          </a:xfrm>
          <a:prstGeom prst="rightArrow">
            <a:avLst/>
          </a:prstGeom>
          <a:solidFill>
            <a:srgbClr val="4A5A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Rounded Rectangle 17424"/>
          <p:cNvSpPr/>
          <p:nvPr/>
        </p:nvSpPr>
        <p:spPr>
          <a:xfrm>
            <a:off x="10040112" y="3639312"/>
            <a:ext cx="1664208" cy="1078992"/>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lnSpc>
                <a:spcPct val="88000"/>
              </a:lnSpc>
              <a:spcAft>
                <a:spcPts val="100"/>
              </a:spcAft>
              <a:buNone/>
            </a:pPr>
            <a:r>
              <a:rPr sz="850" b="1">
                <a:solidFill>
                  <a:srgbClr val="111B2A"/>
                </a:solidFill>
                <a:latin typeface="Calibri"/>
              </a:rPr>
              <a:t>Report parity</a:t>
            </a:r>
          </a:p>
          <a:p>
            <a:pPr algn="ctr">
              <a:lnSpc>
                <a:spcPct val="88000"/>
              </a:lnSpc>
              <a:spcAft>
                <a:spcPts val="100"/>
              </a:spcAft>
              <a:buNone/>
            </a:pPr>
            <a:r>
              <a:rPr sz="700" b="0">
                <a:solidFill>
                  <a:srgbClr val="4A5A70"/>
                </a:solidFill>
                <a:latin typeface="Calibri"/>
              </a:rPr>
              <a:t>JSON, HTML and PDF asserted to agree, field by field</a:t>
            </a:r>
          </a:p>
        </p:txBody>
      </p:sp>
      <p:sp>
        <p:nvSpPr>
          <p:cNvPr id="17426" name="Rounded Rectangle 17425"/>
          <p:cNvSpPr/>
          <p:nvPr/>
        </p:nvSpPr>
        <p:spPr>
          <a:xfrm>
            <a:off x="384048" y="5047488"/>
            <a:ext cx="11430000" cy="731520"/>
          </a:xfrm>
          <a:prstGeom prst="roundRect">
            <a:avLst/>
          </a:prstGeom>
          <a:solidFill>
            <a:srgbClr val="EEF3F9"/>
          </a:solidFill>
          <a:ln w="9525">
            <a:solidFill>
              <a:srgbClr val="C2D4E6"/>
            </a:solidFill>
          </a:ln>
          <a:effectLst/>
        </p:spPr>
        <p:style>
          <a:lnRef idx="1">
            <a:schemeClr val="accent1"/>
          </a:lnRef>
          <a:fillRef idx="3">
            <a:schemeClr val="accent1"/>
          </a:fillRef>
          <a:effectRef idx="2">
            <a:schemeClr val="accent1"/>
          </a:effectRef>
          <a:fontRef idx="minor">
            <a:schemeClr val="lt1"/>
          </a:fontRef>
        </p:style>
        <p:txBody>
          <a:bodyPr rtlCol="0" anchor="t" wrap="square" tIns="54864" bIns="54864"/>
          <a:lstStyle/>
          <a:p>
            <a:pPr algn="ctr">
              <a:lnSpc>
                <a:spcPct val="100000"/>
              </a:lnSpc>
              <a:spcAft>
                <a:spcPts val="300"/>
              </a:spcAft>
              <a:buNone/>
            </a:pPr>
            <a:r>
              <a:rPr sz="1000" b="1">
                <a:solidFill>
                  <a:srgbClr val="0B5FA5"/>
                </a:solidFill>
                <a:latin typeface="Calibri"/>
              </a:rPr>
              <a:t>Repository and demonstration</a:t>
            </a:r>
          </a:p>
          <a:p>
            <a:pPr>
              <a:lnSpc>
                <a:spcPct val="88000"/>
              </a:lnSpc>
              <a:spcAft>
                <a:spcPts val="200"/>
              </a:spcAft>
            </a:pPr>
            <a:r>
              <a:rPr sz="900" b="1">
                <a:solidFill>
                  <a:srgbClr val="111B2A"/>
                </a:solidFill>
                <a:latin typeface="Calibri"/>
              </a:rPr>
              <a:t>Repository  </a:t>
            </a:r>
            <a:r>
              <a:rPr sz="900" u="sng">
                <a:solidFill>
                  <a:srgbClr val="0B5FA5"/>
                </a:solidFill>
                <a:latin typeface="Calibri"/>
                <a:hlinkClick r:id="rId4"/>
              </a:rPr>
              <a:t>https://github.com/sgtsujith141-wq/securemailscope</a:t>
            </a:r>
          </a:p>
          <a:p>
            <a:pPr>
              <a:lnSpc>
                <a:spcPct val="88000"/>
              </a:lnSpc>
              <a:spcAft>
                <a:spcPts val="200"/>
              </a:spcAft>
            </a:pPr>
            <a:r>
              <a:rPr sz="900" b="1">
                <a:solidFill>
                  <a:srgbClr val="111B2A"/>
                </a:solidFill>
                <a:latin typeface="Calibri"/>
              </a:rPr>
              <a:t>Demonstration  </a:t>
            </a:r>
            <a:r>
              <a:rPr sz="900" i="1">
                <a:solidFill>
                  <a:srgbClr val="4A5A70"/>
                </a:solidFill>
                <a:latin typeface="Calibri"/>
              </a:rPr>
              <a:t>Demo video included in submission package.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