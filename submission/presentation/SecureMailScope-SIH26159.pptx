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9"/>
  </p:notesMasterIdLst>
  <p:sldIdLst>
    <p:sldId id="291" r:id="rId2"/>
    <p:sldId id="281" r:id="rId3"/>
    <p:sldId id="290" r:id="rId4"/>
    <p:sldId id="293" r:id="rId5"/>
    <p:sldId id="294" r:id="rId6"/>
    <p:sldId id="296" r:id="rId7"/>
  </p:sldIdLst>
  <p:sldSz cx="12192000" cy="6858000"/>
  <p:notesSz cx="6858000" cy="9144000"/>
  <p:defaultTextStyle>
    <a:defPPr>
      <a:defRPr lang="en-US"/>
    </a:defPPr>
    <a:lvl1pPr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1pPr>
    <a:lvl2pPr marL="4572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2pPr>
    <a:lvl3pPr marL="9144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3pPr>
    <a:lvl4pPr marL="13716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4pPr>
    <a:lvl5pPr marL="18288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5pPr>
    <a:lvl6pPr marL="2286000" algn="l" defTabSz="914400" rtl="0" eaLnBrk="1" latinLnBrk="0" hangingPunct="1">
      <a:defRPr kern="1200">
        <a:solidFill>
          <a:schemeClr val="tx1"/>
        </a:solidFill>
        <a:latin typeface="Calibri" pitchFamily="34" charset="0"/>
        <a:ea typeface="ＭＳ Ｐゴシック" pitchFamily="1" charset="-128"/>
        <a:cs typeface="+mn-cs"/>
      </a:defRPr>
    </a:lvl6pPr>
    <a:lvl7pPr marL="2743200" algn="l" defTabSz="914400" rtl="0" eaLnBrk="1" latinLnBrk="0" hangingPunct="1">
      <a:defRPr kern="1200">
        <a:solidFill>
          <a:schemeClr val="tx1"/>
        </a:solidFill>
        <a:latin typeface="Calibri" pitchFamily="34" charset="0"/>
        <a:ea typeface="ＭＳ Ｐゴシック" pitchFamily="1" charset="-128"/>
        <a:cs typeface="+mn-cs"/>
      </a:defRPr>
    </a:lvl7pPr>
    <a:lvl8pPr marL="3200400" algn="l" defTabSz="914400" rtl="0" eaLnBrk="1" latinLnBrk="0" hangingPunct="1">
      <a:defRPr kern="1200">
        <a:solidFill>
          <a:schemeClr val="tx1"/>
        </a:solidFill>
        <a:latin typeface="Calibri" pitchFamily="34" charset="0"/>
        <a:ea typeface="ＭＳ Ｐゴシック" pitchFamily="1" charset="-128"/>
        <a:cs typeface="+mn-cs"/>
      </a:defRPr>
    </a:lvl8pPr>
    <a:lvl9pPr marL="3657600" algn="l" defTabSz="914400" rtl="0" eaLnBrk="1" latinLnBrk="0" hangingPunct="1">
      <a:defRPr kern="1200">
        <a:solidFill>
          <a:schemeClr val="tx1"/>
        </a:solidFill>
        <a:latin typeface="Calibri" pitchFamily="34" charset="0"/>
        <a:ea typeface="ＭＳ Ｐゴシック" pitchFamily="1"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BB59"/>
    <a:srgbClr val="39B0D4"/>
    <a:srgbClr val="727272"/>
    <a:srgbClr val="010000"/>
    <a:srgbClr val="FFA751"/>
    <a:srgbClr val="32323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8" d="100"/>
          <a:sy n="68" d="100"/>
        </p:scale>
        <p:origin x="792" y="72"/>
      </p:cViewPr>
      <p:guideLst>
        <p:guide orient="horz" pos="2160"/>
        <p:guide pos="3840"/>
      </p:guideLst>
    </p:cSldViewPr>
  </p:slideViewPr>
  <p:notesTextViewPr>
    <p:cViewPr>
      <p:scale>
        <a:sx n="100" d="100"/>
        <a:sy n="100" d="100"/>
      </p:scale>
      <p:origin x="0" y="0"/>
    </p:cViewPr>
  </p:notesTextViewPr>
  <p:sorterViewPr>
    <p:cViewPr>
      <p:scale>
        <a:sx n="125" d="100"/>
        <a:sy n="125" d="100"/>
      </p:scale>
      <p:origin x="0" y="0"/>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fld id="{C4D5ADD5-2BBC-4A94-8F86-D9013941F742}" type="datetimeFigureOut">
              <a:rPr lang="en-US"/>
              <a:pPr/>
              <a:t>6/2/2026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EC790738-CFC9-4A5E-8424-6B42AA5706F7}" type="slidenum">
              <a:rPr lang="en-US"/>
              <a:pPr/>
              <a:t>‹#›</a:t>
            </a:fld>
            <a:endParaRPr lang="en-US"/>
          </a:p>
        </p:txBody>
      </p:sp>
    </p:spTree>
    <p:extLst>
      <p:ext uri="{BB962C8B-B14F-4D97-AF65-F5344CB8AC3E}">
        <p14:creationId xmlns:p14="http://schemas.microsoft.com/office/powerpoint/2010/main" val="235749454"/>
      </p:ext>
    </p:extLst>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mn-lt"/>
        <a:ea typeface="ＭＳ Ｐゴシック" charset="0"/>
        <a:cs typeface="ＭＳ Ｐゴシック" charset="0"/>
      </a:defRPr>
    </a:lvl1pPr>
    <a:lvl2pPr marL="4572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2pPr>
    <a:lvl3pPr marL="9144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3pPr>
    <a:lvl4pPr marL="13716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4pPr>
    <a:lvl5pPr marL="18288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6386"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6387" name="Slide Number Placeholder 3"/>
          <p:cNvSpPr>
            <a:spLocks noGrp="1"/>
          </p:cNvSpPr>
          <p:nvPr>
            <p:ph type="sldNum" sz="quarter" idx="5"/>
          </p:nvPr>
        </p:nvSpPr>
        <p:spPr bwMode="auto">
          <a:noFill/>
          <a:ln>
            <a:miter lim="800000"/>
            <a:headEnd/>
            <a:tailEnd/>
          </a:ln>
        </p:spPr>
        <p:txBody>
          <a:bodyPr/>
          <a:lstStyle/>
          <a:p>
            <a:fld id="{65F62A7E-A2F8-438F-9CF8-47DE63F471B4}" type="slidenum">
              <a:rPr lang="en-US"/>
              <a:pPr/>
              <a:t>2</a:t>
            </a:fld>
            <a:endParaRPr lang="en-US"/>
          </a:p>
        </p:txBody>
      </p:sp>
    </p:spTree>
    <p:extLst>
      <p:ext uri="{BB962C8B-B14F-4D97-AF65-F5344CB8AC3E}">
        <p14:creationId xmlns:p14="http://schemas.microsoft.com/office/powerpoint/2010/main" val="29040732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fld id="{0CA7B74D-3791-4AC6-8451-F10DBCCCDD9A}" type="slidenum">
              <a:rPr lang="en-US"/>
              <a:pPr/>
              <a:t>3</a:t>
            </a:fld>
            <a:endParaRPr lang="en-US"/>
          </a:p>
        </p:txBody>
      </p:sp>
    </p:spTree>
    <p:extLst>
      <p:ext uri="{BB962C8B-B14F-4D97-AF65-F5344CB8AC3E}">
        <p14:creationId xmlns:p14="http://schemas.microsoft.com/office/powerpoint/2010/main" val="23352062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37735054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26417228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19086727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fld id="{E60792E3-D524-454C-8AFD-A91972900BCB}"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5B7E1BAA-A38D-40DE-B22C-DF9BD7D82058}"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708B7524-32A2-4C20-A58C-BC3BAA1042FC}"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677C3CE7-23F7-4828-823C-E0205DF2CF97}"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fld id="{1E994447-D6B2-43BB-A877-57F1A267B999}"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41DB31D2-2A87-4F4C-A9AD-05C6CC2B321D}"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fld id="{68920E16-BD35-483C-AA6B-346FC7E46DEA}" type="datetime1">
              <a:rPr lang="en-US" smtClean="0"/>
              <a:t>6/2/2026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E1FC16D9-1635-4844-816A-0A8A2160FADA}"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fld id="{2FEAC6F8-5103-4FC0-A69E-5C6AE6469DA8}" type="datetime1">
              <a:rPr lang="en-US" smtClean="0"/>
              <a:t>6/2/2026</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9" name="Slide Number Placeholder 5"/>
          <p:cNvSpPr>
            <a:spLocks noGrp="1"/>
          </p:cNvSpPr>
          <p:nvPr>
            <p:ph type="sldNum" sz="quarter" idx="12"/>
          </p:nvPr>
        </p:nvSpPr>
        <p:spPr/>
        <p:txBody>
          <a:bodyPr/>
          <a:lstStyle>
            <a:lvl1pPr>
              <a:defRPr/>
            </a:lvl1pPr>
          </a:lstStyle>
          <a:p>
            <a:fld id="{71C4100A-98DE-4944-910A-A93F5CA9F724}"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fld id="{C60C6921-0627-4C8F-83D5-0CF936D2FFDD}" type="datetime1">
              <a:rPr lang="en-US" smtClean="0"/>
              <a:t>6/2/2026</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5" name="Slide Number Placeholder 5"/>
          <p:cNvSpPr>
            <a:spLocks noGrp="1"/>
          </p:cNvSpPr>
          <p:nvPr>
            <p:ph type="sldNum" sz="quarter" idx="12"/>
          </p:nvPr>
        </p:nvSpPr>
        <p:spPr/>
        <p:txBody>
          <a:bodyPr/>
          <a:lstStyle>
            <a:lvl1pPr>
              <a:defRPr/>
            </a:lvl1pPr>
          </a:lstStyle>
          <a:p>
            <a:fld id="{6A63342B-5A73-45DC-864D-086DE78037EF}"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fld id="{2FF08AD7-8103-40F8-983C-E2BA6BB9CBE0}" type="datetime1">
              <a:rPr lang="en-US" smtClean="0"/>
              <a:t>6/2/2026</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4" name="Slide Number Placeholder 5"/>
          <p:cNvSpPr>
            <a:spLocks noGrp="1"/>
          </p:cNvSpPr>
          <p:nvPr>
            <p:ph type="sldNum" sz="quarter" idx="12"/>
          </p:nvPr>
        </p:nvSpPr>
        <p:spPr/>
        <p:txBody>
          <a:bodyPr/>
          <a:lstStyle>
            <a:lvl1pPr>
              <a:defRPr/>
            </a:lvl1pPr>
          </a:lstStyle>
          <a:p>
            <a:fld id="{B635AFB3-1ACD-44AC-8702-86B1729DF035}"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DF8C06B4-9380-4A4D-AF49-A3596E17DAF5}" type="datetime1">
              <a:rPr lang="en-US" smtClean="0"/>
              <a:t>6/2/2026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05CF15F3-5E77-4C57-9E21-50D6D1D6C022}"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EF7FDEF1-C582-4E22-9E77-D68326471F28}" type="datetime1">
              <a:rPr lang="en-US" smtClean="0"/>
              <a:t>6/2/2026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1242169A-B3C7-4FB6-967F-AF95F4EB3315}"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053C3A68-6922-42D3-8905-ECC2D82A3469}"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94FDD027-5576-4F27-AAB6-1D994836EE78}"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CB69E9F4-7604-4950-A8B2-8ACDEDB1506E}"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2957CE61-8714-431B-A40A-01B1C5541AB7}"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47625"/>
            <a:ext cx="109728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609600" y="1095375"/>
            <a:ext cx="10972800" cy="50307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3"/>
            <a:ext cx="28448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latin typeface="TradeGothic" pitchFamily="1" charset="0"/>
              </a:defRPr>
            </a:lvl1pPr>
          </a:lstStyle>
          <a:p>
            <a:fld id="{780A9602-A9A9-453F-AEF1-37B5837E02CD}" type="datetime1">
              <a:rPr lang="en-US" smtClean="0"/>
              <a:t>6/2/2026</a:t>
            </a:fld>
            <a:endParaRPr lang="en-US"/>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TradeGothic"/>
                <a:ea typeface="+mn-ea"/>
                <a:cs typeface="+mn-cs"/>
              </a:defRPr>
            </a:lvl1pPr>
          </a:lstStyle>
          <a:p>
            <a:pPr>
              <a:defRPr/>
            </a:pPr>
            <a:r>
              <a:rPr lang="en-US"/>
              <a:t>@SIH Idea submission- Template</a:t>
            </a:r>
          </a:p>
        </p:txBody>
      </p:sp>
      <p:sp>
        <p:nvSpPr>
          <p:cNvPr id="6" name="Slide Number Placeholder 5"/>
          <p:cNvSpPr>
            <a:spLocks noGrp="1"/>
          </p:cNvSpPr>
          <p:nvPr>
            <p:ph type="sldNum" sz="quarter" idx="4"/>
          </p:nvPr>
        </p:nvSpPr>
        <p:spPr>
          <a:xfrm>
            <a:off x="8737600" y="6356353"/>
            <a:ext cx="28448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TradeGothic" pitchFamily="1" charset="0"/>
              </a:defRPr>
            </a:lvl1pPr>
          </a:lstStyle>
          <a:p>
            <a:fld id="{1411BA53-830D-4830-BB65-E58DBE17D0B7}"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457200" rtl="0" eaLnBrk="0" fontAlgn="base" hangingPunct="0">
        <a:spcBef>
          <a:spcPct val="0"/>
        </a:spcBef>
        <a:spcAft>
          <a:spcPct val="0"/>
        </a:spcAft>
        <a:defRPr sz="4400" kern="1200">
          <a:solidFill>
            <a:schemeClr val="tx1"/>
          </a:solidFill>
          <a:latin typeface="TradeGothic"/>
          <a:ea typeface="ＭＳ Ｐゴシック" charset="0"/>
          <a:cs typeface="ＭＳ Ｐゴシック" charset="0"/>
        </a:defRPr>
      </a:lvl1pPr>
      <a:lvl2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2pPr>
      <a:lvl3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3pPr>
      <a:lvl4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4pPr>
      <a:lvl5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5pPr>
      <a:lvl6pPr marL="4572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6pPr>
      <a:lvl7pPr marL="9144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7pPr>
      <a:lvl8pPr marL="13716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8pPr>
      <a:lvl9pPr marL="18288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9pPr>
    </p:titleStyle>
    <p:bodyStyle>
      <a:lvl1pPr marL="342900" indent="-342900" algn="l" defTabSz="457200" rtl="0" eaLnBrk="0" fontAlgn="base" hangingPunct="0">
        <a:spcBef>
          <a:spcPct val="20000"/>
        </a:spcBef>
        <a:spcAft>
          <a:spcPct val="0"/>
        </a:spcAft>
        <a:buFont typeface="Arial" pitchFamily="34" charset="0"/>
        <a:buChar char="•"/>
        <a:defRPr sz="3200" kern="1200">
          <a:solidFill>
            <a:schemeClr val="tx1"/>
          </a:solidFill>
          <a:latin typeface="TradeGothic"/>
          <a:ea typeface="ＭＳ Ｐゴシック" charset="0"/>
          <a:cs typeface="ＭＳ Ｐゴシック" charset="0"/>
        </a:defRPr>
      </a:lvl1pPr>
      <a:lvl2pPr marL="742950" indent="-285750" algn="l" defTabSz="457200" rtl="0" eaLnBrk="0" fontAlgn="base" hangingPunct="0">
        <a:spcBef>
          <a:spcPct val="20000"/>
        </a:spcBef>
        <a:spcAft>
          <a:spcPct val="0"/>
        </a:spcAft>
        <a:buFont typeface="Arial" pitchFamily="34" charset="0"/>
        <a:buChar char="–"/>
        <a:defRPr sz="2800" kern="1200">
          <a:solidFill>
            <a:schemeClr val="tx1"/>
          </a:solidFill>
          <a:latin typeface="TradeGothic"/>
          <a:ea typeface="ＭＳ Ｐゴシック" charset="0"/>
          <a:cs typeface="+mn-cs"/>
        </a:defRPr>
      </a:lvl2pPr>
      <a:lvl3pPr marL="1143000" indent="-228600" algn="l" defTabSz="457200" rtl="0" eaLnBrk="0" fontAlgn="base" hangingPunct="0">
        <a:spcBef>
          <a:spcPct val="20000"/>
        </a:spcBef>
        <a:spcAft>
          <a:spcPct val="0"/>
        </a:spcAft>
        <a:buFont typeface="Arial" pitchFamily="34" charset="0"/>
        <a:buChar char="•"/>
        <a:defRPr sz="2400" kern="1200">
          <a:solidFill>
            <a:schemeClr val="tx1"/>
          </a:solidFill>
          <a:latin typeface="TradeGothic"/>
          <a:ea typeface="ＭＳ Ｐゴシック" charset="0"/>
          <a:cs typeface="+mn-cs"/>
        </a:defRPr>
      </a:lvl3pPr>
      <a:lvl4pPr marL="16002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4pPr>
      <a:lvl5pPr marL="20574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24">
            <a:extLst>
              <a:ext uri="{FF2B5EF4-FFF2-40B4-BE49-F238E27FC236}">
                <a16:creationId xmlns:a16="http://schemas.microsoft.com/office/drawing/2014/main" id="{3E443FD7-A66B-4AA0-872D-B088B9BC5F1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00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Shape 26">
            <a:extLst>
              <a:ext uri="{FF2B5EF4-FFF2-40B4-BE49-F238E27FC236}">
                <a16:creationId xmlns:a16="http://schemas.microsoft.com/office/drawing/2014/main" id="{C04BE0EF-3561-49B4-9A29-F283168A91C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56780" y="851521"/>
            <a:ext cx="4638605" cy="5154967"/>
          </a:xfrm>
          <a:custGeom>
            <a:avLst/>
            <a:gdLst>
              <a:gd name="connsiteX0" fmla="*/ 363179 w 6184806"/>
              <a:gd name="connsiteY0" fmla="*/ 3125191 h 5154967"/>
              <a:gd name="connsiteX1" fmla="*/ 898270 w 6184806"/>
              <a:gd name="connsiteY1" fmla="*/ 3125191 h 5154967"/>
              <a:gd name="connsiteX2" fmla="*/ 980326 w 6184806"/>
              <a:gd name="connsiteY2" fmla="*/ 3173551 h 5154967"/>
              <a:gd name="connsiteX3" fmla="*/ 1248448 w 6184806"/>
              <a:gd name="connsiteY3" fmla="*/ 3635277 h 5154967"/>
              <a:gd name="connsiteX4" fmla="*/ 1248448 w 6184806"/>
              <a:gd name="connsiteY4" fmla="*/ 3729695 h 5154967"/>
              <a:gd name="connsiteX5" fmla="*/ 980326 w 6184806"/>
              <a:gd name="connsiteY5" fmla="*/ 4191421 h 5154967"/>
              <a:gd name="connsiteX6" fmla="*/ 898270 w 6184806"/>
              <a:gd name="connsiteY6" fmla="*/ 4239781 h 5154967"/>
              <a:gd name="connsiteX7" fmla="*/ 363179 w 6184806"/>
              <a:gd name="connsiteY7" fmla="*/ 4239781 h 5154967"/>
              <a:gd name="connsiteX8" fmla="*/ 279969 w 6184806"/>
              <a:gd name="connsiteY8" fmla="*/ 4191421 h 5154967"/>
              <a:gd name="connsiteX9" fmla="*/ 13002 w 6184806"/>
              <a:gd name="connsiteY9" fmla="*/ 3729695 h 5154967"/>
              <a:gd name="connsiteX10" fmla="*/ 13002 w 6184806"/>
              <a:gd name="connsiteY10" fmla="*/ 3635277 h 5154967"/>
              <a:gd name="connsiteX11" fmla="*/ 279969 w 6184806"/>
              <a:gd name="connsiteY11" fmla="*/ 3173551 h 5154967"/>
              <a:gd name="connsiteX12" fmla="*/ 363179 w 6184806"/>
              <a:gd name="connsiteY12" fmla="*/ 3125191 h 5154967"/>
              <a:gd name="connsiteX13" fmla="*/ 2489721 w 6184806"/>
              <a:gd name="connsiteY13" fmla="*/ 570035 h 5154967"/>
              <a:gd name="connsiteX14" fmla="*/ 2764862 w 6184806"/>
              <a:gd name="connsiteY14" fmla="*/ 570035 h 5154967"/>
              <a:gd name="connsiteX15" fmla="*/ 2796959 w 6184806"/>
              <a:gd name="connsiteY15" fmla="*/ 570035 h 5154967"/>
              <a:gd name="connsiteX16" fmla="*/ 2827587 w 6184806"/>
              <a:gd name="connsiteY16" fmla="*/ 622777 h 5154967"/>
              <a:gd name="connsiteX17" fmla="*/ 2977604 w 6184806"/>
              <a:gd name="connsiteY17" fmla="*/ 881117 h 5154967"/>
              <a:gd name="connsiteX18" fmla="*/ 2977604 w 6184806"/>
              <a:gd name="connsiteY18" fmla="*/ 1025720 h 5154967"/>
              <a:gd name="connsiteX19" fmla="*/ 2566968 w 6184806"/>
              <a:gd name="connsiteY19" fmla="*/ 1732863 h 5154967"/>
              <a:gd name="connsiteX20" fmla="*/ 2441299 w 6184806"/>
              <a:gd name="connsiteY20" fmla="*/ 1806927 h 5154967"/>
              <a:gd name="connsiteX21" fmla="*/ 1621798 w 6184806"/>
              <a:gd name="connsiteY21" fmla="*/ 1806927 h 5154967"/>
              <a:gd name="connsiteX22" fmla="*/ 1583218 w 6184806"/>
              <a:gd name="connsiteY22" fmla="*/ 1801802 h 5154967"/>
              <a:gd name="connsiteX23" fmla="*/ 1556683 w 6184806"/>
              <a:gd name="connsiteY23" fmla="*/ 1790677 h 5154967"/>
              <a:gd name="connsiteX24" fmla="*/ 1572899 w 6184806"/>
              <a:gd name="connsiteY24" fmla="*/ 1762630 h 5154967"/>
              <a:gd name="connsiteX25" fmla="*/ 2147429 w 6184806"/>
              <a:gd name="connsiteY25" fmla="*/ 768968 h 5154967"/>
              <a:gd name="connsiteX26" fmla="*/ 2489721 w 6184806"/>
              <a:gd name="connsiteY26" fmla="*/ 570035 h 5154967"/>
              <a:gd name="connsiteX27" fmla="*/ 1573268 w 6184806"/>
              <a:gd name="connsiteY27" fmla="*/ 0 h 5154967"/>
              <a:gd name="connsiteX28" fmla="*/ 2497662 w 6184806"/>
              <a:gd name="connsiteY28" fmla="*/ 0 h 5154967"/>
              <a:gd name="connsiteX29" fmla="*/ 2639415 w 6184806"/>
              <a:gd name="connsiteY29" fmla="*/ 83546 h 5154967"/>
              <a:gd name="connsiteX30" fmla="*/ 2887862 w 6184806"/>
              <a:gd name="connsiteY30" fmla="*/ 511387 h 5154967"/>
              <a:gd name="connsiteX31" fmla="*/ 2915928 w 6184806"/>
              <a:gd name="connsiteY31" fmla="*/ 559720 h 5154967"/>
              <a:gd name="connsiteX32" fmla="*/ 2893844 w 6184806"/>
              <a:gd name="connsiteY32" fmla="*/ 559720 h 5154967"/>
              <a:gd name="connsiteX33" fmla="*/ 2789466 w 6184806"/>
              <a:gd name="connsiteY33" fmla="*/ 559720 h 5154967"/>
              <a:gd name="connsiteX34" fmla="*/ 2744122 w 6184806"/>
              <a:gd name="connsiteY34" fmla="*/ 481634 h 5154967"/>
              <a:gd name="connsiteX35" fmla="*/ 2570885 w 6184806"/>
              <a:gd name="connsiteY35" fmla="*/ 183309 h 5154967"/>
              <a:gd name="connsiteX36" fmla="*/ 2445216 w 6184806"/>
              <a:gd name="connsiteY36" fmla="*/ 109243 h 5154967"/>
              <a:gd name="connsiteX37" fmla="*/ 1625714 w 6184806"/>
              <a:gd name="connsiteY37" fmla="*/ 109243 h 5154967"/>
              <a:gd name="connsiteX38" fmla="*/ 1498276 w 6184806"/>
              <a:gd name="connsiteY38" fmla="*/ 183309 h 5154967"/>
              <a:gd name="connsiteX39" fmla="*/ 1089410 w 6184806"/>
              <a:gd name="connsiteY39" fmla="*/ 890450 h 5154967"/>
              <a:gd name="connsiteX40" fmla="*/ 1089410 w 6184806"/>
              <a:gd name="connsiteY40" fmla="*/ 1035054 h 5154967"/>
              <a:gd name="connsiteX41" fmla="*/ 1498276 w 6184806"/>
              <a:gd name="connsiteY41" fmla="*/ 1742196 h 5154967"/>
              <a:gd name="connsiteX42" fmla="*/ 1552039 w 6184806"/>
              <a:gd name="connsiteY42" fmla="*/ 1796422 h 5154967"/>
              <a:gd name="connsiteX43" fmla="*/ 1558260 w 6184806"/>
              <a:gd name="connsiteY43" fmla="*/ 1799029 h 5154967"/>
              <a:gd name="connsiteX44" fmla="*/ 1524911 w 6184806"/>
              <a:gd name="connsiteY44" fmla="*/ 1856707 h 5154967"/>
              <a:gd name="connsiteX45" fmla="*/ 1500108 w 6184806"/>
              <a:gd name="connsiteY45" fmla="*/ 1899604 h 5154967"/>
              <a:gd name="connsiteX46" fmla="*/ 1525834 w 6184806"/>
              <a:gd name="connsiteY46" fmla="*/ 1910390 h 5154967"/>
              <a:gd name="connsiteX47" fmla="*/ 1569352 w 6184806"/>
              <a:gd name="connsiteY47" fmla="*/ 1916170 h 5154967"/>
              <a:gd name="connsiteX48" fmla="*/ 2493745 w 6184806"/>
              <a:gd name="connsiteY48" fmla="*/ 1916170 h 5154967"/>
              <a:gd name="connsiteX49" fmla="*/ 2635498 w 6184806"/>
              <a:gd name="connsiteY49" fmla="*/ 1832627 h 5154967"/>
              <a:gd name="connsiteX50" fmla="*/ 3098693 w 6184806"/>
              <a:gd name="connsiteY50" fmla="*/ 1034974 h 5154967"/>
              <a:gd name="connsiteX51" fmla="*/ 3098693 w 6184806"/>
              <a:gd name="connsiteY51" fmla="*/ 871863 h 5154967"/>
              <a:gd name="connsiteX52" fmla="*/ 2945803 w 6184806"/>
              <a:gd name="connsiteY52" fmla="*/ 608576 h 5154967"/>
              <a:gd name="connsiteX53" fmla="*/ 2923422 w 6184806"/>
              <a:gd name="connsiteY53" fmla="*/ 570035 h 5154967"/>
              <a:gd name="connsiteX54" fmla="*/ 3027104 w 6184806"/>
              <a:gd name="connsiteY54" fmla="*/ 570035 h 5154967"/>
              <a:gd name="connsiteX55" fmla="*/ 4690846 w 6184806"/>
              <a:gd name="connsiteY55" fmla="*/ 570035 h 5154967"/>
              <a:gd name="connsiteX56" fmla="*/ 5028384 w 6184806"/>
              <a:gd name="connsiteY56" fmla="*/ 768968 h 5154967"/>
              <a:gd name="connsiteX57" fmla="*/ 6131323 w 6184806"/>
              <a:gd name="connsiteY57" fmla="*/ 2668304 h 5154967"/>
              <a:gd name="connsiteX58" fmla="*/ 6131323 w 6184806"/>
              <a:gd name="connsiteY58" fmla="*/ 3056698 h 5154967"/>
              <a:gd name="connsiteX59" fmla="*/ 5028384 w 6184806"/>
              <a:gd name="connsiteY59" fmla="*/ 4956035 h 5154967"/>
              <a:gd name="connsiteX60" fmla="*/ 4690846 w 6184806"/>
              <a:gd name="connsiteY60" fmla="*/ 5154967 h 5154967"/>
              <a:gd name="connsiteX61" fmla="*/ 2489721 w 6184806"/>
              <a:gd name="connsiteY61" fmla="*/ 5154967 h 5154967"/>
              <a:gd name="connsiteX62" fmla="*/ 2147429 w 6184806"/>
              <a:gd name="connsiteY62" fmla="*/ 4956035 h 5154967"/>
              <a:gd name="connsiteX63" fmla="*/ 1049243 w 6184806"/>
              <a:gd name="connsiteY63" fmla="*/ 3056698 h 5154967"/>
              <a:gd name="connsiteX64" fmla="*/ 1049243 w 6184806"/>
              <a:gd name="connsiteY64" fmla="*/ 2668304 h 5154967"/>
              <a:gd name="connsiteX65" fmla="*/ 1457007 w 6184806"/>
              <a:gd name="connsiteY65" fmla="*/ 1963067 h 5154967"/>
              <a:gd name="connsiteX66" fmla="*/ 1491373 w 6184806"/>
              <a:gd name="connsiteY66" fmla="*/ 1903634 h 5154967"/>
              <a:gd name="connsiteX67" fmla="*/ 1490164 w 6184806"/>
              <a:gd name="connsiteY67" fmla="*/ 1903127 h 5154967"/>
              <a:gd name="connsiteX68" fmla="*/ 1429519 w 6184806"/>
              <a:gd name="connsiteY68" fmla="*/ 1841960 h 5154967"/>
              <a:gd name="connsiteX69" fmla="*/ 968320 w 6184806"/>
              <a:gd name="connsiteY69" fmla="*/ 1044307 h 5154967"/>
              <a:gd name="connsiteX70" fmla="*/ 968320 w 6184806"/>
              <a:gd name="connsiteY70" fmla="*/ 881196 h 5154967"/>
              <a:gd name="connsiteX71" fmla="*/ 1429519 w 6184806"/>
              <a:gd name="connsiteY71" fmla="*/ 83546 h 5154967"/>
              <a:gd name="connsiteX72" fmla="*/ 1573268 w 6184806"/>
              <a:gd name="connsiteY72" fmla="*/ 0 h 5154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0"/>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3"/>
                  <a:pt x="2445216" y="109243"/>
                </a:cubicBezTo>
                <a:cubicBezTo>
                  <a:pt x="1625714" y="109243"/>
                  <a:pt x="1625714" y="109243"/>
                  <a:pt x="1625714" y="109243"/>
                </a:cubicBezTo>
                <a:cubicBezTo>
                  <a:pt x="1572615" y="109243"/>
                  <a:pt x="1524825" y="137459"/>
                  <a:pt x="1498276" y="183309"/>
                </a:cubicBezTo>
                <a:cubicBezTo>
                  <a:pt x="1089410" y="890450"/>
                  <a:pt x="1089410" y="890450"/>
                  <a:pt x="1089410" y="890450"/>
                </a:cubicBezTo>
                <a:cubicBezTo>
                  <a:pt x="1062860" y="934537"/>
                  <a:pt x="1062860" y="990967"/>
                  <a:pt x="1089410" y="1035054"/>
                </a:cubicBezTo>
                <a:cubicBezTo>
                  <a:pt x="1498276" y="1742196"/>
                  <a:pt x="1498276" y="1742196"/>
                  <a:pt x="1498276" y="1742196"/>
                </a:cubicBezTo>
                <a:cubicBezTo>
                  <a:pt x="1511551" y="1765121"/>
                  <a:pt x="1530135" y="1783637"/>
                  <a:pt x="1552039" y="1796422"/>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a:schemeClr val="tx1">
              <a:lumMod val="50000"/>
              <a:lumOff val="50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a:extLst>
              <a:ext uri="{FF2B5EF4-FFF2-40B4-BE49-F238E27FC236}">
                <a16:creationId xmlns:a16="http://schemas.microsoft.com/office/drawing/2014/main" id="{9120848B-B2B4-45BE-A961-AEC0B06CF41B}"/>
              </a:ext>
            </a:extLst>
          </p:cNvPr>
          <p:cNvPicPr>
            <a:picLocks noChangeAspect="1"/>
          </p:cNvPicPr>
          <p:nvPr/>
        </p:nvPicPr>
        <p:blipFill rotWithShape="1">
          <a:blip r:embed="rId2"/>
          <a:srcRect r="59916"/>
          <a:stretch/>
        </p:blipFill>
        <p:spPr>
          <a:xfrm>
            <a:off x="6854891" y="1715881"/>
            <a:ext cx="3203509" cy="3426237"/>
          </a:xfrm>
          <a:prstGeom prst="rect">
            <a:avLst/>
          </a:prstGeom>
        </p:spPr>
      </p:pic>
      <p:sp>
        <p:nvSpPr>
          <p:cNvPr id="4" name="Subtitle 3"/>
          <p:cNvSpPr>
            <a:spLocks noGrp="1"/>
          </p:cNvSpPr>
          <p:nvPr>
            <p:ph type="subTitle" idx="1"/>
          </p:nvPr>
        </p:nvSpPr>
        <p:spPr>
          <a:xfrm>
            <a:off x="1245686" y="648614"/>
            <a:ext cx="8534400" cy="1752600"/>
          </a:xfrm>
        </p:spPr>
        <p:txBody>
          <a:bodyPr/>
          <a:lstStyle/>
          <a:p>
            <a:endParaRPr lang="en-US" b="1" dirty="0">
              <a:solidFill>
                <a:schemeClr val="tx1"/>
              </a:solidFill>
              <a:latin typeface="Times New Roman" panose="02020603050405020304" pitchFamily="18" charset="0"/>
              <a:cs typeface="Times New Roman" panose="02020603050405020304" pitchFamily="18" charset="0"/>
            </a:endParaRPr>
          </a:p>
          <a:p>
            <a:r>
              <a:rPr lang="en-US" b="1" dirty="0">
                <a:solidFill>
                  <a:schemeClr val="tx1"/>
                </a:solidFill>
                <a:latin typeface="Times New Roman" panose="02020603050405020304" pitchFamily="18" charset="0"/>
                <a:cs typeface="Times New Roman" panose="02020603050405020304" pitchFamily="18" charset="0"/>
              </a:rPr>
              <a:t>TITLE PAGE</a:t>
            </a:r>
            <a:endParaRPr lang="en-IN" b="1" dirty="0">
              <a:solidFill>
                <a:schemeClr val="tx1"/>
              </a:solidFill>
              <a:latin typeface="Times New Roman" panose="02020603050405020304" pitchFamily="18" charset="0"/>
              <a:cs typeface="Times New Roman" panose="02020603050405020304" pitchFamily="18" charset="0"/>
            </a:endParaRPr>
          </a:p>
        </p:txBody>
      </p:sp>
      <p:sp>
        <p:nvSpPr>
          <p:cNvPr id="8" name="Title 7"/>
          <p:cNvSpPr>
            <a:spLocks noGrp="1"/>
          </p:cNvSpPr>
          <p:nvPr>
            <p:ph type="ctrTitle"/>
          </p:nvPr>
        </p:nvSpPr>
        <p:spPr>
          <a:xfrm>
            <a:off x="331286" y="-526757"/>
            <a:ext cx="10363200" cy="2076450"/>
          </a:xfrm>
        </p:spPr>
        <p:txBody>
          <a:bodyPr/>
          <a:lstStyle/>
          <a:p>
            <a:r>
              <a:rPr lang="en-US" sz="4000" b="1" dirty="0">
                <a:solidFill>
                  <a:schemeClr val="tx2"/>
                </a:solidFill>
                <a:latin typeface="Garamond" panose="02020404030301010803" pitchFamily="18" charset="0"/>
              </a:rPr>
              <a:t>SMART INDIA HACKATHON </a:t>
            </a:r>
            <a:r>
              <a:rPr lang="en-US" sz="4000" b="1" dirty="0" smtClean="0">
                <a:solidFill>
                  <a:schemeClr val="tx2"/>
                </a:solidFill>
                <a:latin typeface="Garamond" panose="02020404030301010803" pitchFamily="18" charset="0"/>
              </a:rPr>
              <a:t>2026</a:t>
            </a:r>
            <a:endParaRPr lang="en-IN" sz="4000" b="1" dirty="0">
              <a:solidFill>
                <a:schemeClr val="tx2"/>
              </a:solidFill>
              <a:latin typeface="Garamond" panose="02020404030301010803" pitchFamily="18" charset="0"/>
            </a:endParaRPr>
          </a:p>
        </p:txBody>
      </p:sp>
      <p:sp>
        <p:nvSpPr>
          <p:cNvPr id="10" name="TextBox 9"/>
          <p:cNvSpPr txBox="1"/>
          <p:nvPr/>
        </p:nvSpPr>
        <p:spPr>
          <a:xfrm>
            <a:off x="331286" y="2076450"/>
            <a:ext cx="5924550" cy="4703019"/>
          </a:xfrm>
          <a:prstGeom prst="rect">
            <a:avLst/>
          </a:prstGeom>
          <a:noFill/>
        </p:spPr>
        <p:txBody>
          <a:bodyPr wrap="square" rtlCol="0">
            <a:spAutoFit/>
          </a:bodyPr>
          <a:lstStyle/>
          <a:p>
            <a:pPr>
              <a:lnSpc>
                <a:spcPct val="135000"/>
              </a:lnSpc>
              <a:spcAft>
                <a:spcPts val="300"/>
              </a:spcAft>
            </a:pPr>
            <a:r>
              <a:rPr sz="1500" b="0">
                <a:solidFill>
                  <a:srgbClr val="111B2A"/>
                </a:solidFill>
                <a:latin typeface="Calibri"/>
              </a:rPr>
              <a:t>Problem Statement ID – SIH26159</a:t>
            </a:r>
            <a:endParaRPr lang="en-US" dirty="0"/>
          </a:p>
          <a:p>
            <a:pPr>
              <a:lnSpc>
                <a:spcPct val="135000"/>
              </a:lnSpc>
              <a:spcAft>
                <a:spcPts val="300"/>
              </a:spcAft>
            </a:pPr>
            <a:r>
              <a:rPr sz="1500" b="0">
                <a:solidFill>
                  <a:srgbClr val="C01A1A"/>
                </a:solidFill>
                <a:latin typeface="Calibri"/>
              </a:rPr>
              <a:t>Problem Statement Title – [UNRESOLVED: problem statement title]</a:t>
            </a:r>
          </a:p>
          <a:p>
            <a:pPr>
              <a:lnSpc>
                <a:spcPct val="135000"/>
              </a:lnSpc>
              <a:spcAft>
                <a:spcPts val="300"/>
              </a:spcAft>
            </a:pPr>
            <a:r>
              <a:rPr sz="1500" b="0">
                <a:solidFill>
                  <a:srgbClr val="C01A1A"/>
                </a:solidFill>
                <a:latin typeface="Calibri"/>
              </a:rPr>
              <a:t>Theme – [UNRESOLVED: theme]</a:t>
            </a:r>
          </a:p>
          <a:p>
            <a:pPr>
              <a:lnSpc>
                <a:spcPct val="135000"/>
              </a:lnSpc>
              <a:spcAft>
                <a:spcPts val="300"/>
              </a:spcAft>
            </a:pPr>
            <a:r>
              <a:rPr sz="1500" b="0">
                <a:solidFill>
                  <a:srgbClr val="111B2A"/>
                </a:solidFill>
                <a:latin typeface="Calibri"/>
              </a:rPr>
              <a:t>PS Category – Software</a:t>
            </a:r>
          </a:p>
          <a:p>
            <a:pPr>
              <a:lnSpc>
                <a:spcPct val="135000"/>
              </a:lnSpc>
              <a:spcAft>
                <a:spcPts val="300"/>
              </a:spcAft>
            </a:pPr>
            <a:r>
              <a:rPr sz="1500" b="0">
                <a:solidFill>
                  <a:srgbClr val="C01A1A"/>
                </a:solidFill>
                <a:latin typeface="Calibri"/>
              </a:rPr>
              <a:t>Team ID – [UNRESOLVED: team id]</a:t>
            </a:r>
          </a:p>
          <a:p>
            <a:pPr>
              <a:lnSpc>
                <a:spcPct val="135000"/>
              </a:lnSpc>
              <a:spcAft>
                <a:spcPts val="300"/>
              </a:spcAft>
            </a:pPr>
            <a:r>
              <a:rPr sz="1500" b="0">
                <a:solidFill>
                  <a:srgbClr val="111B2A"/>
                </a:solidFill>
                <a:latin typeface="Calibri"/>
              </a:rPr>
              <a:t>Team Name (Registered on portal) – Team Zero-Day</a:t>
            </a: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5361" name="Title 1"/>
          <p:cNvSpPr>
            <a:spLocks noGrp="1"/>
          </p:cNvSpPr>
          <p:nvPr>
            <p:ph type="title"/>
          </p:nvPr>
        </p:nvSpPr>
        <p:spPr>
          <a:xfrm>
            <a:off x="182998" y="0"/>
            <a:ext cx="10972800" cy="1143000"/>
          </a:xfrm>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
            </a:r>
            <a:br>
              <a:rPr lang="en-US" sz="3600" b="1" dirty="0">
                <a:latin typeface="Times New Roman" panose="02020603050405020304" pitchFamily="18" charset="0"/>
                <a:ea typeface="ＭＳ Ｐゴシック" pitchFamily="1" charset="-128"/>
                <a:cs typeface="Times New Roman" panose="02020603050405020304" pitchFamily="18" charset="0"/>
              </a:rPr>
            </a:br>
            <a:r>
              <a:rPr lang="en-US" sz="3600" b="1" dirty="0">
                <a:latin typeface="Times New Roman" panose="02020603050405020304" pitchFamily="18" charset="0"/>
                <a:ea typeface="ＭＳ Ｐゴシック" pitchFamily="1" charset="-128"/>
                <a:cs typeface="Times New Roman" panose="02020603050405020304" pitchFamily="18" charset="0"/>
              </a:rPr>
              <a:t>IDEA TITLE</a:t>
            </a:r>
          </a:p>
        </p:txBody>
      </p:sp>
      <p:sp>
        <p:nvSpPr>
          <p:cNvPr id="15362" name="TextBox 8"/>
          <p:cNvSpPr txBox="1">
            <a:spLocks noChangeArrowheads="1"/>
          </p:cNvSpPr>
          <p:nvPr/>
        </p:nvSpPr>
        <p:spPr bwMode="auto">
          <a:xfrm>
            <a:off x="411480" y="1188720"/>
            <a:ext cx="11384280" cy="5074920"/>
          </a:xfrm>
          <a:prstGeom prst="rect">
            <a:avLst/>
          </a:prstGeom>
          <a:noFill/>
          <a:ln w="9525">
            <a:noFill/>
            <a:miter lim="800000"/>
            <a:headEnd/>
            <a:tailEnd/>
          </a:ln>
        </p:spPr>
        <p:txBody>
          <a:bodyPr wrap="square">
            <a:spAutoFit/>
          </a:bodyPr>
          <a:lstStyle/>
          <a:p>
            <a:pPr marL="342900" indent="-342900">
              <a:lnSpc>
                <a:spcPct val="94000"/>
              </a:lnSpc>
              <a:spcAft>
                <a:spcPts val="300"/>
              </a:spcAft>
              <a:buFont typeface="Wingdings" panose="05000000000000000000" pitchFamily="2" charset="2"/>
              <a:buChar char="v"/>
            </a:pPr>
            <a:r>
              <a:rPr sz="1700" b="1">
                <a:solidFill>
                  <a:srgbClr val="0B5FA5"/>
                </a:solidFill>
                <a:latin typeface="Calibri"/>
              </a:rPr>
              <a:t>SecureMailScope — passive cryptographic posture assessment for captured email traffic</a:t>
            </a:r>
            <a:endParaRPr lang="en-US" sz="3200" u="sng" dirty="0">
              <a:solidFill>
                <a:schemeClr val="tx2"/>
              </a:solidFill>
              <a:latin typeface="Arial" pitchFamily="34" charset="0"/>
              <a:cs typeface="Arial" pitchFamily="34" charset="0"/>
            </a:endParaRPr>
          </a:p>
          <a:p>
            <a:pPr>
              <a:lnSpc>
                <a:spcPct val="94000"/>
              </a:lnSpc>
              <a:spcAft>
                <a:spcPts val="300"/>
              </a:spcAft>
            </a:pPr>
            <a:r>
              <a:rPr sz="700" b="0">
                <a:solidFill>
                  <a:srgbClr val="111B2A"/>
                </a:solidFill>
                <a:latin typeface="Calibri"/>
              </a:rPr>
              <a:t/>
            </a:r>
          </a:p>
          <a:p>
            <a:pPr>
              <a:lnSpc>
                <a:spcPct val="94000"/>
              </a:lnSpc>
              <a:spcAft>
                <a:spcPts val="300"/>
              </a:spcAft>
            </a:pPr>
            <a:r>
              <a:rPr sz="1300" b="1">
                <a:solidFill>
                  <a:srgbClr val="111B2A"/>
                </a:solidFill>
                <a:latin typeface="Calibri"/>
              </a:rPr>
              <a:t>The problem</a:t>
            </a:r>
          </a:p>
          <a:p>
            <a:pPr lvl="1">
              <a:lnSpc>
                <a:spcPct val="94000"/>
              </a:lnSpc>
              <a:spcAft>
                <a:spcPts val="300"/>
              </a:spcAft>
            </a:pPr>
            <a:r>
              <a:rPr sz="1200" b="0">
                <a:solidFill>
                  <a:srgbClr val="1F2C3F"/>
                </a:solidFill>
                <a:latin typeface="Calibri"/>
              </a:rPr>
              <a:t>Organisations know which mail servers they run. They cannot say which TLS versions those servers negotiated, which cipher suites they accepted, which sessions had no forward secrecy, or whether a STARTTLS upgrade was offered and then refused.</a:t>
            </a:r>
          </a:p>
          <a:p>
            <a:pPr lvl="1">
              <a:lnSpc>
                <a:spcPct val="94000"/>
              </a:lnSpc>
              <a:spcAft>
                <a:spcPts val="300"/>
              </a:spcAft>
            </a:pPr>
            <a:r>
              <a:rPr sz="1200" b="0">
                <a:solidFill>
                  <a:srgbClr val="1F2C3F"/>
                </a:solidFill>
                <a:latin typeface="Calibri"/>
              </a:rPr>
              <a:t>An active scanner cannot answer it either: it reports what a server does for a scanner today, not what it did for real clients during the period under investigation — and an authorised investigator often may not touch the host at all.</a:t>
            </a:r>
          </a:p>
          <a:p>
            <a:pPr>
              <a:lnSpc>
                <a:spcPct val="94000"/>
              </a:lnSpc>
              <a:spcAft>
                <a:spcPts val="300"/>
              </a:spcAft>
            </a:pPr>
            <a:r>
              <a:rPr sz="600" b="0">
                <a:solidFill>
                  <a:srgbClr val="111B2A"/>
                </a:solidFill>
                <a:latin typeface="Calibri"/>
              </a:rPr>
              <a:t/>
            </a:r>
          </a:p>
          <a:p>
            <a:pPr>
              <a:lnSpc>
                <a:spcPct val="94000"/>
              </a:lnSpc>
              <a:spcAft>
                <a:spcPts val="300"/>
              </a:spcAft>
            </a:pPr>
            <a:r>
              <a:rPr sz="1300" b="1">
                <a:solidFill>
                  <a:srgbClr val="111B2A"/>
                </a:solidFill>
                <a:latin typeface="Calibri"/>
              </a:rPr>
              <a:t>The solution</a:t>
            </a:r>
          </a:p>
          <a:p>
            <a:pPr lvl="1">
              <a:lnSpc>
                <a:spcPct val="94000"/>
              </a:lnSpc>
              <a:spcAft>
                <a:spcPts val="300"/>
              </a:spcAft>
            </a:pPr>
            <a:r>
              <a:rPr sz="1200" b="0">
                <a:solidFill>
                  <a:srgbClr val="1F2C3F"/>
                </a:solidFill>
                <a:latin typeface="Calibri"/>
              </a:rPr>
              <a:t>Read the packet captures the organisation already has. Report what the bytes show about how email was transported — and say so explicitly when the capture does not show something.</a:t>
            </a:r>
          </a:p>
          <a:p>
            <a:pPr>
              <a:lnSpc>
                <a:spcPct val="94000"/>
              </a:lnSpc>
              <a:spcAft>
                <a:spcPts val="300"/>
              </a:spcAft>
            </a:pPr>
            <a:r>
              <a:rPr sz="600" b="0">
                <a:solidFill>
                  <a:srgbClr val="111B2A"/>
                </a:solidFill>
                <a:latin typeface="Calibri"/>
              </a:rPr>
              <a:t/>
            </a:r>
          </a:p>
          <a:p>
            <a:pPr>
              <a:lnSpc>
                <a:spcPct val="94000"/>
              </a:lnSpc>
              <a:spcAft>
                <a:spcPts val="300"/>
              </a:spcAft>
            </a:pPr>
            <a:r>
              <a:rPr sz="1300" b="1">
                <a:solidFill>
                  <a:srgbClr val="111B2A"/>
                </a:solidFill>
                <a:latin typeface="Calibri"/>
              </a:rPr>
              <a:t>Passive and PCAP-first</a:t>
            </a:r>
          </a:p>
          <a:p>
            <a:pPr lvl="1">
              <a:lnSpc>
                <a:spcPct val="94000"/>
              </a:lnSpc>
              <a:spcAft>
                <a:spcPts val="300"/>
              </a:spcAft>
            </a:pPr>
            <a:r>
              <a:rPr sz="1200" b="0">
                <a:solidFill>
                  <a:srgbClr val="1F2C3F"/>
                </a:solidFill>
                <a:latin typeface="Calibri"/>
              </a:rPr>
              <a:t>The engine opens no socket. It never contacts a captured host, resolves a domain, scans anything, or sends capture contents anywhere — including to a language model. Proven by test, not asserted: socket constructors are replaced with functions that raise and the whole pipeline is run through them.</a:t>
            </a:r>
          </a:p>
          <a:p>
            <a:pPr>
              <a:lnSpc>
                <a:spcPct val="94000"/>
              </a:lnSpc>
              <a:spcAft>
                <a:spcPts val="300"/>
              </a:spcAft>
            </a:pPr>
            <a:r>
              <a:rPr sz="600" b="0">
                <a:solidFill>
                  <a:srgbClr val="111B2A"/>
                </a:solidFill>
                <a:latin typeface="Calibri"/>
              </a:rPr>
              <a:t/>
            </a:r>
          </a:p>
          <a:p>
            <a:pPr>
              <a:lnSpc>
                <a:spcPct val="94000"/>
              </a:lnSpc>
              <a:spcAft>
                <a:spcPts val="300"/>
              </a:spcAft>
            </a:pPr>
            <a:r>
              <a:rPr sz="1300" b="1">
                <a:solidFill>
                  <a:srgbClr val="111B2A"/>
                </a:solidFill>
                <a:latin typeface="Calibri"/>
              </a:rPr>
              <a:t>Evidence-backed, and honest about its limits</a:t>
            </a:r>
          </a:p>
          <a:p>
            <a:pPr lvl="1">
              <a:lnSpc>
                <a:spcPct val="94000"/>
              </a:lnSpc>
              <a:spcAft>
                <a:spcPts val="300"/>
              </a:spcAft>
            </a:pPr>
            <a:r>
              <a:rPr sz="1200" b="0">
                <a:solidFill>
                  <a:srgbClr val="1F2C3F"/>
                </a:solidFill>
                <a:latin typeface="Calibri"/>
              </a:rPr>
              <a:t>Every finding cites the packet numbers it was read from, the RFC it applies, a specific remediation, and its own limitation. Every value carries how it was obtained — OBSERVED, INFERRED, UNKNOWN or NOT_AVAILABLE — so a port-based guess can never be mistaken for a parsed dialogue.</a:t>
            </a:r>
          </a:p>
          <a:p>
            <a:pPr lvl="1">
              <a:lnSpc>
                <a:spcPct val="94000"/>
              </a:lnSpc>
              <a:spcAft>
                <a:spcPts val="300"/>
              </a:spcAft>
            </a:pPr>
            <a:r>
              <a:rPr sz="1200" b="0">
                <a:solidFill>
                  <a:srgbClr val="1F2C3F"/>
                </a:solidFill>
                <a:latin typeface="Calibri"/>
              </a:rPr>
              <a:t>A number that was not measured does not appear. A rule that could not be evaluated is excluded from both sides of the scoring fraction rather than counted as a pass or a violation.</a:t>
            </a:r>
          </a:p>
        </p:txBody>
      </p:sp>
      <p:sp>
        <p:nvSpPr>
          <p:cNvPr id="6" name="Slide Number Placeholder 5"/>
          <p:cNvSpPr>
            <a:spLocks noGrp="1"/>
          </p:cNvSpPr>
          <p:nvPr>
            <p:ph type="sldNum" sz="quarter" idx="12"/>
          </p:nvPr>
        </p:nvSpPr>
        <p:spPr/>
        <p:txBody>
          <a:bodyPr/>
          <a:lstStyle/>
          <a:p>
            <a:fld id="{677C3CE7-23F7-4828-823C-E0205DF2CF97}" type="slidenum">
              <a:rPr lang="en-US" b="1" smtClean="0">
                <a:solidFill>
                  <a:schemeClr val="bg1"/>
                </a:solidFill>
              </a:rPr>
              <a:pPr/>
              <a:t>2</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rPr>
              <a:t>@SIH Idea submission- Template</a:t>
            </a:r>
            <a:endParaRPr lang="en-US" dirty="0">
              <a:solidFill>
                <a:schemeClr val="bg1"/>
              </a:solidFill>
            </a:endParaRPr>
          </a:p>
        </p:txBody>
      </p:sp>
      <p:sp>
        <p:nvSpPr>
          <p:cNvPr id="10" name="Oval 9"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wrap="square"/>
          <a:lstStyle/>
          <a:p>
            <a:pPr algn="ctr"/>
            <a:r>
              <a:rPr sz="1000" b="1"/>
              <a:t>Team Zero-Day</a:t>
            </a:r>
            <a:endParaRPr lang="en-IN" dirty="0"/>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TECHNICAL APPROACH</a:t>
            </a:r>
          </a:p>
        </p:txBody>
      </p:sp>
      <p:sp>
        <p:nvSpPr>
          <p:cNvPr id="17410" name="TextBox 8"/>
          <p:cNvSpPr txBox="1">
            <a:spLocks noChangeArrowheads="1"/>
          </p:cNvSpPr>
          <p:nvPr/>
        </p:nvSpPr>
        <p:spPr bwMode="auto">
          <a:xfrm>
            <a:off x="411480" y="1060704"/>
            <a:ext cx="11384280" cy="548640"/>
          </a:xfrm>
          <a:prstGeom prst="rect">
            <a:avLst/>
          </a:prstGeom>
          <a:noFill/>
          <a:ln w="9525">
            <a:noFill/>
            <a:miter lim="800000"/>
            <a:headEnd/>
            <a:tailEnd/>
          </a:ln>
        </p:spPr>
        <p:txBody>
          <a:bodyPr wrap="square">
            <a:spAutoFit/>
          </a:bodyPr>
          <a:lstStyle/>
          <a:p>
            <a:pPr marL="342900" indent="-342900" algn="just">
              <a:lnSpc>
                <a:spcPct val="100000"/>
              </a:lnSpc>
              <a:spcAft>
                <a:spcPts val="300"/>
              </a:spcAft>
              <a:buFont typeface="Arial" panose="020B0604020202020204" pitchFamily="34" charset="0"/>
              <a:buChar char="•"/>
            </a:pPr>
            <a:r>
              <a:rPr sz="1100" b="0">
                <a:solidFill>
                  <a:srgbClr val="4A5A70"/>
                </a:solidFill>
                <a:latin typeface="Calibri"/>
              </a:rPr>
              <a:t>Pipeline — every stage reads only what the previous one produced. Line counts are actual.</a:t>
            </a:r>
          </a:p>
        </p:txBody>
      </p:sp>
      <p:sp>
        <p:nvSpPr>
          <p:cNvPr id="6" name="Slide Number Placeholder 5"/>
          <p:cNvSpPr>
            <a:spLocks noGrp="1"/>
          </p:cNvSpPr>
          <p:nvPr>
            <p:ph type="sldNum" sz="quarter" idx="12"/>
          </p:nvPr>
        </p:nvSpPr>
        <p:spPr/>
        <p:txBody>
          <a:bodyPr/>
          <a:lstStyle/>
          <a:p>
            <a:fld id="{677C3CE7-23F7-4828-823C-E0205DF2CF97}" type="slidenum">
              <a:rPr lang="en-US" b="1">
                <a:solidFill>
                  <a:schemeClr val="bg1"/>
                </a:solidFill>
              </a:rPr>
              <a:pPr/>
              <a:t>3</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rPr>
              <a:t>@SIH Idea submission- Template</a:t>
            </a:r>
            <a:endParaRPr lang="en-US" dirty="0">
              <a:solidFill>
                <a:schemeClr val="bg1"/>
              </a:solidFill>
            </a:endParaRPr>
          </a:p>
        </p:txBody>
      </p:sp>
      <p:sp>
        <p:nvSpPr>
          <p:cNvPr id="11" name="Oval 10"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wrap="square"/>
          <a:lstStyle/>
          <a:p>
            <a:pPr algn="ctr"/>
            <a:r>
              <a:rPr sz="1000" b="1"/>
              <a:t>Team Zero-Day</a:t>
            </a:r>
            <a:endParaRPr lang="en-IN" dirty="0"/>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1" name="Rounded Rectangle 17410"/>
          <p:cNvSpPr/>
          <p:nvPr/>
        </p:nvSpPr>
        <p:spPr>
          <a:xfrm>
            <a:off x="411480" y="1719072"/>
            <a:ext cx="1325880" cy="841248"/>
          </a:xfrm>
          <a:prstGeom prst="roundRect">
            <a:avLst/>
          </a:prstGeom>
          <a:solidFill>
            <a:srgbClr val="EEF3F9"/>
          </a:solidFill>
          <a:ln w="9525">
            <a:solidFill>
              <a:srgbClr val="C2D4E6"/>
            </a:solidFill>
          </a:ln>
          <a:effectLst/>
        </p:spPr>
        <p:style>
          <a:lnRef idx="1">
            <a:schemeClr val="accent1"/>
          </a:lnRef>
          <a:fillRef idx="3">
            <a:schemeClr val="accent1"/>
          </a:fillRef>
          <a:effectRef idx="2">
            <a:schemeClr val="accent1"/>
          </a:effectRef>
          <a:fontRef idx="minor">
            <a:schemeClr val="lt1"/>
          </a:fontRef>
        </p:style>
        <p:txBody>
          <a:bodyPr rtlCol="0" anchor="t" wrap="square" tIns="54864" bIns="54864"/>
          <a:lstStyle/>
          <a:p>
            <a:pPr algn="ctr">
              <a:lnSpc>
                <a:spcPct val="88000"/>
              </a:lnSpc>
              <a:spcAft>
                <a:spcPts val="300"/>
              </a:spcAft>
            </a:pPr>
            <a:r>
              <a:rPr sz="1000" b="1">
                <a:solidFill>
                  <a:srgbClr val="111B2A"/>
                </a:solidFill>
                <a:latin typeface="Calibri"/>
              </a:rPr>
              <a:t>PCAP /
PCAPNG</a:t>
            </a:r>
          </a:p>
          <a:p>
            <a:pPr algn="ctr">
              <a:lnSpc>
                <a:spcPct val="88000"/>
              </a:lnSpc>
              <a:spcAft>
                <a:spcPts val="300"/>
              </a:spcAft>
            </a:pPr>
            <a:r>
              <a:rPr sz="800" b="0">
                <a:solidFill>
                  <a:srgbClr val="4A5A70"/>
                </a:solidFill>
                <a:latin typeface="Calibri"/>
              </a:rPr>
              <a:t>untrusted
input</a:t>
            </a:r>
          </a:p>
        </p:txBody>
      </p:sp>
      <p:sp>
        <p:nvSpPr>
          <p:cNvPr id="17412" name="Right Arrow 17411"/>
          <p:cNvSpPr/>
          <p:nvPr/>
        </p:nvSpPr>
        <p:spPr>
          <a:xfrm>
            <a:off x="1755648" y="2057400"/>
            <a:ext cx="237744" cy="164592"/>
          </a:xfrm>
          <a:prstGeom prst="rightArrow">
            <a:avLst/>
          </a:prstGeom>
          <a:solidFill>
            <a:srgbClr val="4A5A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3" name="Rounded Rectangle 17412"/>
          <p:cNvSpPr/>
          <p:nvPr/>
        </p:nvSpPr>
        <p:spPr>
          <a:xfrm>
            <a:off x="2011679" y="1719072"/>
            <a:ext cx="1325880" cy="841248"/>
          </a:xfrm>
          <a:prstGeom prst="roundRect">
            <a:avLst/>
          </a:prstGeom>
          <a:solidFill>
            <a:srgbClr val="EEF3F9"/>
          </a:solidFill>
          <a:ln w="9525">
            <a:solidFill>
              <a:srgbClr val="C2D4E6"/>
            </a:solidFill>
          </a:ln>
          <a:effectLst/>
        </p:spPr>
        <p:style>
          <a:lnRef idx="1">
            <a:schemeClr val="accent1"/>
          </a:lnRef>
          <a:fillRef idx="3">
            <a:schemeClr val="accent1"/>
          </a:fillRef>
          <a:effectRef idx="2">
            <a:schemeClr val="accent1"/>
          </a:effectRef>
          <a:fontRef idx="minor">
            <a:schemeClr val="lt1"/>
          </a:fontRef>
        </p:style>
        <p:txBody>
          <a:bodyPr rtlCol="0" anchor="t" wrap="square" tIns="54864" bIns="54864"/>
          <a:lstStyle/>
          <a:p>
            <a:pPr algn="ctr">
              <a:lnSpc>
                <a:spcPct val="88000"/>
              </a:lnSpc>
              <a:spcAft>
                <a:spcPts val="300"/>
              </a:spcAft>
            </a:pPr>
            <a:r>
              <a:rPr sz="1000" b="1">
                <a:solidFill>
                  <a:srgbClr val="111B2A"/>
                </a:solidFill>
                <a:latin typeface="Calibri"/>
              </a:rPr>
              <a:t>Ingestion
1,166 loc</a:t>
            </a:r>
          </a:p>
          <a:p>
            <a:pPr algn="ctr">
              <a:lnSpc>
                <a:spcPct val="88000"/>
              </a:lnSpc>
              <a:spcAft>
                <a:spcPts val="300"/>
              </a:spcAft>
            </a:pPr>
            <a:r>
              <a:rPr sz="800" b="0">
                <a:solidFill>
                  <a:srgbClr val="4A5A70"/>
                </a:solidFill>
                <a:latin typeface="Calibri"/>
              </a:rPr>
              <a:t>format from
content</a:t>
            </a:r>
          </a:p>
        </p:txBody>
      </p:sp>
      <p:sp>
        <p:nvSpPr>
          <p:cNvPr id="17414" name="Right Arrow 17413"/>
          <p:cNvSpPr/>
          <p:nvPr/>
        </p:nvSpPr>
        <p:spPr>
          <a:xfrm>
            <a:off x="3355847" y="2057400"/>
            <a:ext cx="237744" cy="164592"/>
          </a:xfrm>
          <a:prstGeom prst="rightArrow">
            <a:avLst/>
          </a:prstGeom>
          <a:solidFill>
            <a:srgbClr val="4A5A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5" name="Rounded Rectangle 17414"/>
          <p:cNvSpPr/>
          <p:nvPr/>
        </p:nvSpPr>
        <p:spPr>
          <a:xfrm>
            <a:off x="3611879" y="1719072"/>
            <a:ext cx="1417320" cy="841248"/>
          </a:xfrm>
          <a:prstGeom prst="roundRect">
            <a:avLst/>
          </a:prstGeom>
          <a:solidFill>
            <a:srgbClr val="EEF3F9"/>
          </a:solidFill>
          <a:ln w="9525">
            <a:solidFill>
              <a:srgbClr val="C2D4E6"/>
            </a:solidFill>
          </a:ln>
          <a:effectLst/>
        </p:spPr>
        <p:style>
          <a:lnRef idx="1">
            <a:schemeClr val="accent1"/>
          </a:lnRef>
          <a:fillRef idx="3">
            <a:schemeClr val="accent1"/>
          </a:fillRef>
          <a:effectRef idx="2">
            <a:schemeClr val="accent1"/>
          </a:effectRef>
          <a:fontRef idx="minor">
            <a:schemeClr val="lt1"/>
          </a:fontRef>
        </p:style>
        <p:txBody>
          <a:bodyPr rtlCol="0" anchor="t" wrap="square" tIns="54864" bIns="54864"/>
          <a:lstStyle/>
          <a:p>
            <a:pPr algn="ctr">
              <a:lnSpc>
                <a:spcPct val="88000"/>
              </a:lnSpc>
              <a:spcAft>
                <a:spcPts val="300"/>
              </a:spcAft>
            </a:pPr>
            <a:r>
              <a:rPr sz="1000" b="1">
                <a:solidFill>
                  <a:srgbClr val="111B2A"/>
                </a:solidFill>
                <a:latin typeface="Calibri"/>
              </a:rPr>
              <a:t>TCP rebuild
~900 loc</a:t>
            </a:r>
          </a:p>
          <a:p>
            <a:pPr algn="ctr">
              <a:lnSpc>
                <a:spcPct val="88000"/>
              </a:lnSpc>
              <a:spcAft>
                <a:spcPts val="300"/>
              </a:spcAft>
            </a:pPr>
            <a:r>
              <a:rPr sz="800" b="0">
                <a:solidFill>
                  <a:srgbClr val="4A5A70"/>
                </a:solidFill>
                <a:latin typeface="Calibri"/>
              </a:rPr>
              <a:t>reorder, gaps,
conflicts</a:t>
            </a:r>
          </a:p>
        </p:txBody>
      </p:sp>
      <p:sp>
        <p:nvSpPr>
          <p:cNvPr id="17416" name="Right Arrow 17415"/>
          <p:cNvSpPr/>
          <p:nvPr/>
        </p:nvSpPr>
        <p:spPr>
          <a:xfrm>
            <a:off x="5047487" y="2057400"/>
            <a:ext cx="237744" cy="164592"/>
          </a:xfrm>
          <a:prstGeom prst="rightArrow">
            <a:avLst/>
          </a:prstGeom>
          <a:solidFill>
            <a:srgbClr val="4A5A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7" name="Rounded Rectangle 17416"/>
          <p:cNvSpPr/>
          <p:nvPr/>
        </p:nvSpPr>
        <p:spPr>
          <a:xfrm>
            <a:off x="5303519" y="1719072"/>
            <a:ext cx="1600200" cy="841248"/>
          </a:xfrm>
          <a:prstGeom prst="roundRect">
            <a:avLst/>
          </a:prstGeom>
          <a:solidFill>
            <a:srgbClr val="EEF3F9"/>
          </a:solidFill>
          <a:ln w="9525">
            <a:solidFill>
              <a:srgbClr val="C2D4E6"/>
            </a:solidFill>
          </a:ln>
          <a:effectLst/>
        </p:spPr>
        <p:style>
          <a:lnRef idx="1">
            <a:schemeClr val="accent1"/>
          </a:lnRef>
          <a:fillRef idx="3">
            <a:schemeClr val="accent1"/>
          </a:fillRef>
          <a:effectRef idx="2">
            <a:schemeClr val="accent1"/>
          </a:effectRef>
          <a:fontRef idx="minor">
            <a:schemeClr val="lt1"/>
          </a:fontRef>
        </p:style>
        <p:txBody>
          <a:bodyPr rtlCol="0" anchor="t" wrap="square" tIns="54864" bIns="54864"/>
          <a:lstStyle/>
          <a:p>
            <a:pPr algn="ctr">
              <a:lnSpc>
                <a:spcPct val="88000"/>
              </a:lnSpc>
              <a:spcAft>
                <a:spcPts val="300"/>
              </a:spcAft>
            </a:pPr>
            <a:r>
              <a:rPr sz="1000" b="1">
                <a:solidFill>
                  <a:srgbClr val="111B2A"/>
                </a:solidFill>
                <a:latin typeface="Calibri"/>
              </a:rPr>
              <a:t>Email protocols
3,406 loc</a:t>
            </a:r>
          </a:p>
          <a:p>
            <a:pPr algn="ctr">
              <a:lnSpc>
                <a:spcPct val="88000"/>
              </a:lnSpc>
              <a:spcAft>
                <a:spcPts val="300"/>
              </a:spcAft>
            </a:pPr>
            <a:r>
              <a:rPr sz="800" b="0">
                <a:solidFill>
                  <a:srgbClr val="4A5A70"/>
                </a:solidFill>
                <a:latin typeface="Calibri"/>
              </a:rPr>
              <a:t>SMTP/IMAP/POP3
STARTTLS</a:t>
            </a:r>
          </a:p>
        </p:txBody>
      </p:sp>
      <p:sp>
        <p:nvSpPr>
          <p:cNvPr id="17418" name="Right Arrow 17417"/>
          <p:cNvSpPr/>
          <p:nvPr/>
        </p:nvSpPr>
        <p:spPr>
          <a:xfrm>
            <a:off x="6922007" y="2057400"/>
            <a:ext cx="237744" cy="164592"/>
          </a:xfrm>
          <a:prstGeom prst="rightArrow">
            <a:avLst/>
          </a:prstGeom>
          <a:solidFill>
            <a:srgbClr val="4A5A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9" name="Rounded Rectangle 17418"/>
          <p:cNvSpPr/>
          <p:nvPr/>
        </p:nvSpPr>
        <p:spPr>
          <a:xfrm>
            <a:off x="7178039" y="1719072"/>
            <a:ext cx="1554480" cy="841248"/>
          </a:xfrm>
          <a:prstGeom prst="roundRect">
            <a:avLst/>
          </a:prstGeom>
          <a:solidFill>
            <a:srgbClr val="EEF3F9"/>
          </a:solidFill>
          <a:ln w="9525">
            <a:solidFill>
              <a:srgbClr val="C2D4E6"/>
            </a:solidFill>
          </a:ln>
          <a:effectLst/>
        </p:spPr>
        <p:style>
          <a:lnRef idx="1">
            <a:schemeClr val="accent1"/>
          </a:lnRef>
          <a:fillRef idx="3">
            <a:schemeClr val="accent1"/>
          </a:fillRef>
          <a:effectRef idx="2">
            <a:schemeClr val="accent1"/>
          </a:effectRef>
          <a:fontRef idx="minor">
            <a:schemeClr val="lt1"/>
          </a:fontRef>
        </p:style>
        <p:txBody>
          <a:bodyPr rtlCol="0" anchor="t" wrap="square" tIns="54864" bIns="54864"/>
          <a:lstStyle/>
          <a:p>
            <a:pPr algn="ctr">
              <a:lnSpc>
                <a:spcPct val="88000"/>
              </a:lnSpc>
              <a:spcAft>
                <a:spcPts val="300"/>
              </a:spcAft>
            </a:pPr>
            <a:r>
              <a:rPr sz="1000" b="1">
                <a:solidFill>
                  <a:srgbClr val="111B2A"/>
                </a:solidFill>
                <a:latin typeface="Calibri"/>
              </a:rPr>
              <a:t>TLS + X.509
3,903 loc</a:t>
            </a:r>
          </a:p>
          <a:p>
            <a:pPr algn="ctr">
              <a:lnSpc>
                <a:spcPct val="88000"/>
              </a:lnSpc>
              <a:spcAft>
                <a:spcPts val="300"/>
              </a:spcAft>
            </a:pPr>
            <a:r>
              <a:rPr sz="800" b="0">
                <a:solidFill>
                  <a:srgbClr val="4A5A70"/>
                </a:solidFill>
                <a:latin typeface="Calibri"/>
              </a:rPr>
              <a:t>version, suite,
key exchange</a:t>
            </a:r>
          </a:p>
        </p:txBody>
      </p:sp>
      <p:sp>
        <p:nvSpPr>
          <p:cNvPr id="17420" name="Right Arrow 17419"/>
          <p:cNvSpPr/>
          <p:nvPr/>
        </p:nvSpPr>
        <p:spPr>
          <a:xfrm>
            <a:off x="8750807" y="2057400"/>
            <a:ext cx="237744" cy="164592"/>
          </a:xfrm>
          <a:prstGeom prst="rightArrow">
            <a:avLst/>
          </a:prstGeom>
          <a:solidFill>
            <a:srgbClr val="4A5A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1" name="Rounded Rectangle 17420"/>
          <p:cNvSpPr/>
          <p:nvPr/>
        </p:nvSpPr>
        <p:spPr>
          <a:xfrm>
            <a:off x="9006840" y="1719072"/>
            <a:ext cx="1463040" cy="841248"/>
          </a:xfrm>
          <a:prstGeom prst="roundRect">
            <a:avLst/>
          </a:prstGeom>
          <a:solidFill>
            <a:srgbClr val="EEF3F9"/>
          </a:solidFill>
          <a:ln w="9525">
            <a:solidFill>
              <a:srgbClr val="C2D4E6"/>
            </a:solidFill>
          </a:ln>
          <a:effectLst/>
        </p:spPr>
        <p:style>
          <a:lnRef idx="1">
            <a:schemeClr val="accent1"/>
          </a:lnRef>
          <a:fillRef idx="3">
            <a:schemeClr val="accent1"/>
          </a:fillRef>
          <a:effectRef idx="2">
            <a:schemeClr val="accent1"/>
          </a:effectRef>
          <a:fontRef idx="minor">
            <a:schemeClr val="lt1"/>
          </a:fontRef>
        </p:style>
        <p:txBody>
          <a:bodyPr rtlCol="0" anchor="t" wrap="square" tIns="54864" bIns="54864"/>
          <a:lstStyle/>
          <a:p>
            <a:pPr algn="ctr">
              <a:lnSpc>
                <a:spcPct val="88000"/>
              </a:lnSpc>
              <a:spcAft>
                <a:spcPts val="300"/>
              </a:spcAft>
            </a:pPr>
            <a:r>
              <a:rPr sz="1000" b="1">
                <a:solidFill>
                  <a:srgbClr val="111B2A"/>
                </a:solidFill>
                <a:latin typeface="Calibri"/>
              </a:rPr>
              <a:t>Assessment
3,416 loc</a:t>
            </a:r>
          </a:p>
          <a:p>
            <a:pPr algn="ctr">
              <a:lnSpc>
                <a:spcPct val="88000"/>
              </a:lnSpc>
              <a:spcAft>
                <a:spcPts val="300"/>
              </a:spcAft>
            </a:pPr>
            <a:r>
              <a:rPr sz="800" b="0">
                <a:solidFill>
                  <a:srgbClr val="4A5A70"/>
                </a:solidFill>
                <a:latin typeface="Calibri"/>
              </a:rPr>
              <a:t>25 rules,
score, priority</a:t>
            </a:r>
          </a:p>
        </p:txBody>
      </p:sp>
      <p:sp>
        <p:nvSpPr>
          <p:cNvPr id="17422" name="Rounded Rectangle 17421"/>
          <p:cNvSpPr/>
          <p:nvPr/>
        </p:nvSpPr>
        <p:spPr>
          <a:xfrm>
            <a:off x="411480" y="2798064"/>
            <a:ext cx="5577840" cy="731520"/>
          </a:xfrm>
          <a:prstGeom prst="roundRect">
            <a:avLst/>
          </a:prstGeom>
          <a:solidFill>
            <a:srgbClr val="EEF3F9"/>
          </a:solidFill>
          <a:ln w="9525">
            <a:solidFill>
              <a:srgbClr val="C2D4E6"/>
            </a:solidFill>
          </a:ln>
          <a:effectLst/>
        </p:spPr>
        <p:style>
          <a:lnRef idx="1">
            <a:schemeClr val="accent1"/>
          </a:lnRef>
          <a:fillRef idx="3">
            <a:schemeClr val="accent1"/>
          </a:fillRef>
          <a:effectRef idx="2">
            <a:schemeClr val="accent1"/>
          </a:effectRef>
          <a:fontRef idx="minor">
            <a:schemeClr val="lt1"/>
          </a:fontRef>
        </p:style>
        <p:txBody>
          <a:bodyPr rtlCol="0" anchor="t" wrap="square" tIns="54864" bIns="54864"/>
          <a:lstStyle/>
          <a:p>
            <a:pPr algn="ctr">
              <a:lnSpc>
                <a:spcPct val="90000"/>
              </a:lnSpc>
              <a:spcAft>
                <a:spcPts val="300"/>
              </a:spcAft>
            </a:pPr>
            <a:r>
              <a:rPr sz="1000" b="1">
                <a:solidFill>
                  <a:srgbClr val="0B5FA5"/>
                </a:solidFill>
                <a:latin typeface="Calibri"/>
              </a:rPr>
              <a:t>Cryptographic intelligence — 2,275 loc</a:t>
            </a:r>
          </a:p>
          <a:p>
            <a:pPr>
              <a:lnSpc>
                <a:spcPct val="90000"/>
              </a:lnSpc>
              <a:spcAft>
                <a:spcPts val="300"/>
              </a:spcAft>
            </a:pPr>
            <a:r>
              <a:rPr sz="850" b="0">
                <a:solidFill>
                  <a:srgbClr val="1F2C3F"/>
                </a:solidFill>
                <a:latin typeface="Calibri"/>
              </a:rPr>
              <a:t>fingerprints · server identity · drift between captures · correlation · evidence timeline · blast radius</a:t>
            </a:r>
          </a:p>
        </p:txBody>
      </p:sp>
      <p:sp>
        <p:nvSpPr>
          <p:cNvPr id="17423" name="Rounded Rectangle 17422"/>
          <p:cNvSpPr/>
          <p:nvPr/>
        </p:nvSpPr>
        <p:spPr>
          <a:xfrm>
            <a:off x="6172200" y="2798064"/>
            <a:ext cx="5577840" cy="731520"/>
          </a:xfrm>
          <a:prstGeom prst="roundRect">
            <a:avLst/>
          </a:prstGeom>
          <a:solidFill>
            <a:srgbClr val="EEF3F9"/>
          </a:solidFill>
          <a:ln w="9525">
            <a:solidFill>
              <a:srgbClr val="C2D4E6"/>
            </a:solidFill>
          </a:ln>
          <a:effectLst/>
        </p:spPr>
        <p:style>
          <a:lnRef idx="1">
            <a:schemeClr val="accent1"/>
          </a:lnRef>
          <a:fillRef idx="3">
            <a:schemeClr val="accent1"/>
          </a:fillRef>
          <a:effectRef idx="2">
            <a:schemeClr val="accent1"/>
          </a:effectRef>
          <a:fontRef idx="minor">
            <a:schemeClr val="lt1"/>
          </a:fontRef>
        </p:style>
        <p:txBody>
          <a:bodyPr rtlCol="0" anchor="t" wrap="square" tIns="54864" bIns="54864"/>
          <a:lstStyle/>
          <a:p>
            <a:pPr algn="ctr">
              <a:lnSpc>
                <a:spcPct val="90000"/>
              </a:lnSpc>
              <a:spcAft>
                <a:spcPts val="300"/>
              </a:spcAft>
            </a:pPr>
            <a:r>
              <a:rPr sz="1000" b="1">
                <a:solidFill>
                  <a:srgbClr val="0B5FA5"/>
                </a:solidFill>
                <a:latin typeface="Calibri"/>
              </a:rPr>
              <a:t>Machine learning — 3,196 loc</a:t>
            </a:r>
          </a:p>
          <a:p>
            <a:pPr>
              <a:lnSpc>
                <a:spcPct val="90000"/>
              </a:lnSpc>
              <a:spcAft>
                <a:spcPts val="300"/>
              </a:spcAft>
            </a:pPr>
            <a:r>
              <a:rPr sz="850" b="0">
                <a:solidFill>
                  <a:srgbClr val="1F2C3F"/>
                </a:solidFill>
                <a:latin typeface="Calibri"/>
              </a:rPr>
              <a:t>93-feature schema · deterministic rarity baseline IN USE · Isolation Forest trained and held back · classifier NOT_VALIDATED</a:t>
            </a:r>
          </a:p>
        </p:txBody>
      </p:sp>
      <p:sp>
        <p:nvSpPr>
          <p:cNvPr id="17424" name="Rounded Rectangle 17423"/>
          <p:cNvSpPr/>
          <p:nvPr/>
        </p:nvSpPr>
        <p:spPr>
          <a:xfrm>
            <a:off x="411480" y="3657600"/>
            <a:ext cx="11384280" cy="566928"/>
          </a:xfrm>
          <a:prstGeom prst="roundRect">
            <a:avLst/>
          </a:prstGeom>
          <a:solidFill>
            <a:srgbClr val="E4EEE6"/>
          </a:solidFill>
          <a:ln w="9525">
            <a:solidFill>
              <a:srgbClr val="BED8C6"/>
            </a:solidFill>
          </a:ln>
          <a:effectLst/>
        </p:spPr>
        <p:style>
          <a:lnRef idx="1">
            <a:schemeClr val="accent1"/>
          </a:lnRef>
          <a:fillRef idx="3">
            <a:schemeClr val="accent1"/>
          </a:fillRef>
          <a:effectRef idx="2">
            <a:schemeClr val="accent1"/>
          </a:effectRef>
          <a:fontRef idx="minor">
            <a:schemeClr val="lt1"/>
          </a:fontRef>
        </p:style>
        <p:txBody>
          <a:bodyPr rtlCol="0" anchor="t" wrap="square" tIns="54864" bIns="54864"/>
          <a:lstStyle/>
          <a:p>
            <a:pPr algn="ctr">
              <a:lnSpc>
                <a:spcPct val="100000"/>
              </a:lnSpc>
              <a:spcAft>
                <a:spcPts val="300"/>
              </a:spcAft>
            </a:pPr>
            <a:r>
              <a:rPr sz="1000" b="0">
                <a:solidFill>
                  <a:srgbClr val="1F2C3F"/>
                </a:solidFill>
                <a:latin typeface="Calibri"/>
              </a:rPr>
              <a:t>ONE canonical report model — 1,582 loc  →  JSON · HTML · PDF, parity-tested. The HTML report fetches nothing; the PDF has no URL resolver, so 'no external request' is structural.</a:t>
            </a:r>
          </a:p>
        </p:txBody>
      </p:sp>
      <p:sp>
        <p:nvSpPr>
          <p:cNvPr id="17425" name="Rounded Rectangle 17424"/>
          <p:cNvSpPr/>
          <p:nvPr/>
        </p:nvSpPr>
        <p:spPr>
          <a:xfrm>
            <a:off x="411480" y="4370832"/>
            <a:ext cx="5577840" cy="1810512"/>
          </a:xfrm>
          <a:prstGeom prst="roundRect">
            <a:avLst/>
          </a:prstGeom>
          <a:solidFill>
            <a:srgbClr val="EEF3F9"/>
          </a:solidFill>
          <a:ln w="9525">
            <a:solidFill>
              <a:srgbClr val="C2D4E6"/>
            </a:solidFill>
          </a:ln>
          <a:effectLst/>
        </p:spPr>
        <p:style>
          <a:lnRef idx="1">
            <a:schemeClr val="accent1"/>
          </a:lnRef>
          <a:fillRef idx="3">
            <a:schemeClr val="accent1"/>
          </a:fillRef>
          <a:effectRef idx="2">
            <a:schemeClr val="accent1"/>
          </a:effectRef>
          <a:fontRef idx="minor">
            <a:schemeClr val="lt1"/>
          </a:fontRef>
        </p:style>
        <p:txBody>
          <a:bodyPr rtlCol="0" anchor="t" wrap="square" tIns="54864" bIns="54864"/>
          <a:lstStyle/>
          <a:p>
            <a:pPr algn="ctr">
              <a:lnSpc>
                <a:spcPct val="92000"/>
              </a:lnSpc>
              <a:spcAft>
                <a:spcPts val="300"/>
              </a:spcAft>
            </a:pPr>
            <a:r>
              <a:rPr sz="1100" b="1">
                <a:solidFill>
                  <a:srgbClr val="111B2A"/>
                </a:solidFill>
                <a:latin typeface="Calibri"/>
              </a:rPr>
              <a:t>Technologies</a:t>
            </a:r>
          </a:p>
          <a:p>
            <a:pPr>
              <a:lnSpc>
                <a:spcPct val="92000"/>
              </a:lnSpc>
              <a:spcAft>
                <a:spcPts val="300"/>
              </a:spcAft>
            </a:pPr>
            <a:r>
              <a:rPr sz="900" b="0">
                <a:solidFill>
                  <a:srgbClr val="1F2C3F"/>
                </a:solidFill>
                <a:latin typeface="Calibri"/>
              </a:rPr>
              <a:t>Engine  Python 3.12 · Scapy 2.7 (dissection only) · Pydantic 2.9 · cryptography 50</a:t>
            </a:r>
          </a:p>
          <a:p>
            <a:pPr>
              <a:lnSpc>
                <a:spcPct val="92000"/>
              </a:lnSpc>
              <a:spcAft>
                <a:spcPts val="300"/>
              </a:spcAft>
            </a:pPr>
            <a:r>
              <a:rPr sz="900" b="0">
                <a:solidFill>
                  <a:srgbClr val="1F2C3F"/>
                </a:solidFill>
                <a:latin typeface="Calibri"/>
              </a:rPr>
              <a:t>App  FastAPI · SQLAlchemy · SQLite · Uvicorn</a:t>
            </a:r>
          </a:p>
          <a:p>
            <a:pPr>
              <a:lnSpc>
                <a:spcPct val="92000"/>
              </a:lnSpc>
              <a:spcAft>
                <a:spcPts val="300"/>
              </a:spcAft>
            </a:pPr>
            <a:r>
              <a:rPr sz="900" b="0">
                <a:solidFill>
                  <a:srgbClr val="1F2C3F"/>
                </a:solidFill>
                <a:latin typeface="Calibri"/>
              </a:rPr>
              <a:t>ML  scikit-learn 1.5 · NumPy 2.1</a:t>
            </a:r>
          </a:p>
          <a:p>
            <a:pPr>
              <a:lnSpc>
                <a:spcPct val="92000"/>
              </a:lnSpc>
              <a:spcAft>
                <a:spcPts val="300"/>
              </a:spcAft>
            </a:pPr>
            <a:r>
              <a:rPr sz="900" b="0">
                <a:solidFill>
                  <a:srgbClr val="1F2C3F"/>
                </a:solidFill>
                <a:latin typeface="Calibri"/>
              </a:rPr>
              <a:t>Reports  Jinja2 · ReportLab</a:t>
            </a:r>
          </a:p>
          <a:p>
            <a:pPr>
              <a:lnSpc>
                <a:spcPct val="92000"/>
              </a:lnSpc>
              <a:spcAft>
                <a:spcPts val="300"/>
              </a:spcAft>
            </a:pPr>
            <a:r>
              <a:rPr sz="900" b="0">
                <a:solidFill>
                  <a:srgbClr val="1F2C3F"/>
                </a:solidFill>
                <a:latin typeface="Calibri"/>
              </a:rPr>
              <a:t>UI  React 18 · TypeScript strict · Vite 8 · Tailwind · Recharts</a:t>
            </a:r>
          </a:p>
          <a:p>
            <a:pPr>
              <a:lnSpc>
                <a:spcPct val="92000"/>
              </a:lnSpc>
              <a:spcAft>
                <a:spcPts val="300"/>
              </a:spcAft>
            </a:pPr>
            <a:r>
              <a:rPr sz="900" b="0">
                <a:solidFill>
                  <a:srgbClr val="1F2C3F"/>
                </a:solidFill>
                <a:latin typeface="Calibri"/>
              </a:rPr>
              <a:t>Test  pytest · hypothesis · Playwright · Vitest · TShark (independent cross-check)</a:t>
            </a:r>
          </a:p>
        </p:txBody>
      </p:sp>
      <p:sp>
        <p:nvSpPr>
          <p:cNvPr id="17426" name="Rounded Rectangle 17425"/>
          <p:cNvSpPr/>
          <p:nvPr/>
        </p:nvSpPr>
        <p:spPr>
          <a:xfrm>
            <a:off x="6217920" y="4370832"/>
            <a:ext cx="5577840" cy="1810512"/>
          </a:xfrm>
          <a:prstGeom prst="roundRect">
            <a:avLst/>
          </a:prstGeom>
          <a:solidFill>
            <a:srgbClr val="FDF2EC"/>
          </a:solidFill>
          <a:ln w="9525">
            <a:solidFill>
              <a:srgbClr val="EECFBE"/>
            </a:solidFill>
          </a:ln>
          <a:effectLst/>
        </p:spPr>
        <p:style>
          <a:lnRef idx="1">
            <a:schemeClr val="accent1"/>
          </a:lnRef>
          <a:fillRef idx="3">
            <a:schemeClr val="accent1"/>
          </a:fillRef>
          <a:effectRef idx="2">
            <a:schemeClr val="accent1"/>
          </a:effectRef>
          <a:fontRef idx="minor">
            <a:schemeClr val="lt1"/>
          </a:fontRef>
        </p:style>
        <p:txBody>
          <a:bodyPr rtlCol="0" anchor="t" wrap="square" tIns="54864" bIns="54864"/>
          <a:lstStyle/>
          <a:p>
            <a:pPr algn="ctr">
              <a:lnSpc>
                <a:spcPct val="92000"/>
              </a:lnSpc>
              <a:spcAft>
                <a:spcPts val="300"/>
              </a:spcAft>
            </a:pPr>
            <a:r>
              <a:rPr sz="1100" b="1">
                <a:solidFill>
                  <a:srgbClr val="A83A1E"/>
                </a:solidFill>
                <a:latin typeface="Calibri"/>
              </a:rPr>
              <a:t>Local-first processing</a:t>
            </a:r>
          </a:p>
          <a:p>
            <a:pPr>
              <a:lnSpc>
                <a:spcPct val="92000"/>
              </a:lnSpc>
              <a:spcAft>
                <a:spcPts val="300"/>
              </a:spcAft>
            </a:pPr>
            <a:r>
              <a:rPr sz="900" b="0">
                <a:solidFill>
                  <a:srgbClr val="1F2C3F"/>
                </a:solidFill>
                <a:latin typeface="Calibri"/>
              </a:rPr>
              <a:t>Nothing in the diagram points outward. The only network path in the system is the browser talking to 127.0.0.1 — the application's own interface.</a:t>
            </a:r>
          </a:p>
          <a:p>
            <a:pPr>
              <a:lnSpc>
                <a:spcPct val="92000"/>
              </a:lnSpc>
              <a:spcAft>
                <a:spcPts val="300"/>
              </a:spcAft>
            </a:pPr>
            <a:r>
              <a:rPr sz="900" b="0">
                <a:solidFill>
                  <a:srgbClr val="1F2C3F"/>
                </a:solidFill>
                <a:latin typeface="Calibri"/>
              </a:rPr>
              <a:t>The engine's dependency floor is three packages. A test walks the AST of every engine module to prove the web and ML stacks cannot reach the analysis path.</a:t>
            </a:r>
          </a:p>
          <a:p>
            <a:pPr>
              <a:lnSpc>
                <a:spcPct val="92000"/>
              </a:lnSpc>
              <a:spcAft>
                <a:spcPts val="300"/>
              </a:spcAft>
            </a:pPr>
            <a:r>
              <a:rPr sz="900" b="0">
                <a:solidFill>
                  <a:srgbClr val="1F2C3F"/>
                </a:solidFill>
                <a:latin typeface="Calibri"/>
              </a:rPr>
              <a:t>scapy_guard replaces Scapy's neighbour resolver with one that raises — the one place the dissector could have spoken on the wire.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FEASIBILITY AND VIABILITY</a:t>
            </a:r>
          </a:p>
        </p:txBody>
      </p:sp>
      <p:sp>
        <p:nvSpPr>
          <p:cNvPr id="17410" name="TextBox 8"/>
          <p:cNvSpPr txBox="1">
            <a:spLocks noChangeArrowheads="1"/>
          </p:cNvSpPr>
          <p:nvPr/>
        </p:nvSpPr>
        <p:spPr bwMode="auto">
          <a:xfrm>
            <a:off x="411480" y="1060704"/>
            <a:ext cx="11384280" cy="475488"/>
          </a:xfrm>
          <a:prstGeom prst="rect">
            <a:avLst/>
          </a:prstGeom>
          <a:noFill/>
          <a:ln w="9525">
            <a:noFill/>
            <a:miter lim="800000"/>
            <a:headEnd/>
            <a:tailEnd/>
          </a:ln>
        </p:spPr>
        <p:txBody>
          <a:bodyPr wrap="square">
            <a:spAutoFit/>
          </a:bodyPr>
          <a:lstStyle/>
          <a:p>
            <a:pPr marL="342900" marR="0" indent="-342900" algn="just" defTabSz="457200" rtl="0" eaLnBrk="1" fontAlgn="base" latinLnBrk="0" hangingPunct="1">
              <a:lnSpc>
                <a:spcPct val="100000"/>
              </a:lnSpc>
              <a:spcBef>
                <a:spcPct val="0"/>
              </a:spcBef>
              <a:spcAft>
                <a:spcPts val="300"/>
              </a:spcAft>
              <a:buClrTx/>
              <a:buSzTx/>
              <a:buFont typeface="Arial" panose="020B0604020202020204" pitchFamily="34" charset="0"/>
              <a:buChar char="•"/>
              <a:tabLst/>
              <a:defRPr/>
            </a:pPr>
            <a:r>
              <a:rPr sz="1100" b="0">
                <a:solidFill>
                  <a:srgbClr val="4A5A70"/>
                </a:solidFill>
                <a:latin typeface="Calibri"/>
              </a:rPr>
              <a:t>Feasible because it is built and measured. Every figure below is from the release commit, not an estimate.</a:t>
            </a:r>
            <a:endParaRPr kumimoji="0" lang="en-US" sz="2800" b="0" i="0" u="none" strike="noStrike" kern="1200" cap="none" spc="0" normalizeH="0" baseline="0" noProof="0" dirty="0">
              <a:ln>
                <a:noFill/>
              </a:ln>
              <a:solidFill>
                <a:prstClr val="black"/>
              </a:solidFill>
              <a:effectLst/>
              <a:uLnTx/>
              <a:uFillTx/>
              <a:latin typeface="Arial" pitchFamily="34" charset="0"/>
              <a:ea typeface="ＭＳ Ｐゴシック" pitchFamily="1" charset="-128"/>
              <a:cs typeface="Arial" pitchFamily="34" charset="0"/>
            </a:endParaRP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12" name="Oval 11"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wrap="square"/>
          <a:lstStyle/>
          <a:p>
            <a:pPr algn="ctr"/>
            <a:r>
              <a:rPr sz="1000" b="1"/>
              <a:t>Team Zero-Day</a:t>
            </a:r>
            <a:endParaRPr lang="en-IN" dirty="0"/>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1" name="Rounded Rectangle 17410"/>
          <p:cNvSpPr/>
          <p:nvPr/>
        </p:nvSpPr>
        <p:spPr>
          <a:xfrm>
            <a:off x="411480" y="1609344"/>
            <a:ext cx="3703320" cy="2331720"/>
          </a:xfrm>
          <a:prstGeom prst="roundRect">
            <a:avLst/>
          </a:prstGeom>
          <a:solidFill>
            <a:srgbClr val="EEF3F9"/>
          </a:solidFill>
          <a:ln w="9525">
            <a:solidFill>
              <a:srgbClr val="C2D4E6"/>
            </a:solidFill>
          </a:ln>
          <a:effectLst/>
        </p:spPr>
        <p:style>
          <a:lnRef idx="1">
            <a:schemeClr val="accent1"/>
          </a:lnRef>
          <a:fillRef idx="3">
            <a:schemeClr val="accent1"/>
          </a:fillRef>
          <a:effectRef idx="2">
            <a:schemeClr val="accent1"/>
          </a:effectRef>
          <a:fontRef idx="minor">
            <a:schemeClr val="lt1"/>
          </a:fontRef>
        </p:style>
        <p:txBody>
          <a:bodyPr rtlCol="0" anchor="t" wrap="square" tIns="54864" bIns="54864"/>
          <a:lstStyle/>
          <a:p>
            <a:pPr algn="ctr">
              <a:lnSpc>
                <a:spcPct val="92000"/>
              </a:lnSpc>
              <a:spcAft>
                <a:spcPts val="300"/>
              </a:spcAft>
            </a:pPr>
            <a:r>
              <a:rPr sz="1100" b="1">
                <a:solidFill>
                  <a:srgbClr val="1B6B3A"/>
                </a:solidFill>
                <a:latin typeface="Calibri"/>
              </a:rPr>
              <a:t>Built and verified</a:t>
            </a:r>
          </a:p>
          <a:p>
            <a:pPr>
              <a:lnSpc>
                <a:spcPct val="92000"/>
              </a:lnSpc>
              <a:spcAft>
                <a:spcPts val="300"/>
              </a:spcAft>
            </a:pPr>
            <a:r>
              <a:rPr sz="900" b="0">
                <a:solidFill>
                  <a:srgbClr val="1F2C3F"/>
                </a:solidFill>
                <a:latin typeface="Calibri"/>
              </a:rPr>
              <a:t>1,354 Python tests pass; 1,364 with the TShark cross-check enabled</a:t>
            </a:r>
          </a:p>
          <a:p>
            <a:pPr>
              <a:lnSpc>
                <a:spcPct val="92000"/>
              </a:lnSpc>
              <a:spcAft>
                <a:spcPts val="300"/>
              </a:spcAft>
            </a:pPr>
            <a:r>
              <a:rPr sz="900" b="0">
                <a:solidFill>
                  <a:srgbClr val="1F2C3F"/>
                </a:solidFill>
                <a:latin typeface="Calibri"/>
              </a:rPr>
              <a:t>85 frontend tests · 5 browser end-to-end specs against the real backend, nothing mocked</a:t>
            </a:r>
          </a:p>
          <a:p>
            <a:pPr>
              <a:lnSpc>
                <a:spcPct val="92000"/>
              </a:lnSpc>
              <a:spcAft>
                <a:spcPts val="300"/>
              </a:spcAft>
            </a:pPr>
            <a:r>
              <a:rPr sz="900" b="0">
                <a:solidFill>
                  <a:srgbClr val="1F2C3F"/>
                </a:solidFill>
                <a:latin typeface="Calibri"/>
              </a:rPr>
              <a:t>mypy clean over 152 files · ruff clean</a:t>
            </a:r>
          </a:p>
          <a:p>
            <a:pPr>
              <a:lnSpc>
                <a:spcPct val="92000"/>
              </a:lnSpc>
              <a:spcAft>
                <a:spcPts val="300"/>
              </a:spcAft>
            </a:pPr>
            <a:r>
              <a:rPr sz="900" b="0">
                <a:solidFill>
                  <a:srgbClr val="1F2C3F"/>
                </a:solidFill>
                <a:latin typeface="Calibri"/>
              </a:rPr>
              <a:t>22-step browser-to-backend acceptance test, including stopping and restarting the backend and confirming the investigation survives</a:t>
            </a:r>
          </a:p>
          <a:p>
            <a:pPr>
              <a:lnSpc>
                <a:spcPct val="92000"/>
              </a:lnSpc>
              <a:spcAft>
                <a:spcPts val="300"/>
              </a:spcAft>
            </a:pPr>
            <a:r>
              <a:rPr sz="900" b="0">
                <a:solidFill>
                  <a:srgbClr val="1F2C3F"/>
                </a:solidFill>
                <a:latin typeface="Calibri"/>
              </a:rPr>
              <a:t>Demonstration rehearsed: 14 steps, 0 failures</a:t>
            </a:r>
          </a:p>
          <a:p>
            <a:pPr>
              <a:lnSpc>
                <a:spcPct val="92000"/>
              </a:lnSpc>
              <a:spcAft>
                <a:spcPts val="300"/>
              </a:spcAft>
            </a:pPr>
            <a:r>
              <a:rPr sz="900" b="0">
                <a:solidFill>
                  <a:srgbClr val="1F2C3F"/>
                </a:solidFill>
                <a:latin typeface="Calibri"/>
              </a:rPr>
              <a:t>Clean install from a bare checkout, engine-only and full</a:t>
            </a:r>
          </a:p>
        </p:txBody>
      </p:sp>
      <p:sp>
        <p:nvSpPr>
          <p:cNvPr id="17412" name="Rounded Rectangle 17411"/>
          <p:cNvSpPr/>
          <p:nvPr/>
        </p:nvSpPr>
        <p:spPr>
          <a:xfrm>
            <a:off x="4251960" y="1609344"/>
            <a:ext cx="3703320" cy="2331720"/>
          </a:xfrm>
          <a:prstGeom prst="roundRect">
            <a:avLst/>
          </a:prstGeom>
          <a:solidFill>
            <a:srgbClr val="EEF3F9"/>
          </a:solidFill>
          <a:ln w="9525">
            <a:solidFill>
              <a:srgbClr val="C2D4E6"/>
            </a:solidFill>
          </a:ln>
          <a:effectLst/>
        </p:spPr>
        <p:style>
          <a:lnRef idx="1">
            <a:schemeClr val="accent1"/>
          </a:lnRef>
          <a:fillRef idx="3">
            <a:schemeClr val="accent1"/>
          </a:fillRef>
          <a:effectRef idx="2">
            <a:schemeClr val="accent1"/>
          </a:effectRef>
          <a:fontRef idx="minor">
            <a:schemeClr val="lt1"/>
          </a:fontRef>
        </p:style>
        <p:txBody>
          <a:bodyPr rtlCol="0" anchor="t" wrap="square" tIns="54864" bIns="54864"/>
          <a:lstStyle/>
          <a:p>
            <a:pPr algn="ctr">
              <a:lnSpc>
                <a:spcPct val="92000"/>
              </a:lnSpc>
              <a:spcAft>
                <a:spcPts val="300"/>
              </a:spcAft>
            </a:pPr>
            <a:r>
              <a:rPr sz="1100" b="1">
                <a:solidFill>
                  <a:srgbClr val="111B2A"/>
                </a:solidFill>
                <a:latin typeface="Calibri"/>
              </a:rPr>
              <a:t>Measured performance</a:t>
            </a:r>
          </a:p>
          <a:p>
            <a:pPr>
              <a:lnSpc>
                <a:spcPct val="92000"/>
              </a:lnSpc>
              <a:spcAft>
                <a:spcPts val="300"/>
              </a:spcAft>
            </a:pPr>
            <a:r>
              <a:rPr sz="900" b="0">
                <a:solidFill>
                  <a:srgbClr val="1F2C3F"/>
                </a:solidFill>
                <a:latin typeface="Calibri"/>
              </a:rPr>
              <a:t>1,200 packets → 0.86 s, 270 MB peak</a:t>
            </a:r>
          </a:p>
          <a:p>
            <a:pPr>
              <a:lnSpc>
                <a:spcPct val="92000"/>
              </a:lnSpc>
              <a:spcAft>
                <a:spcPts val="300"/>
              </a:spcAft>
            </a:pPr>
            <a:r>
              <a:rPr sz="900" b="0">
                <a:solidFill>
                  <a:srgbClr val="1F2C3F"/>
                </a:solidFill>
                <a:latin typeface="Calibri"/>
              </a:rPr>
              <a:t>6,000 packets → 4.73 s, 625 MB peak</a:t>
            </a:r>
          </a:p>
          <a:p>
            <a:pPr>
              <a:lnSpc>
                <a:spcPct val="92000"/>
              </a:lnSpc>
              <a:spcAft>
                <a:spcPts val="300"/>
              </a:spcAft>
            </a:pPr>
            <a:r>
              <a:rPr sz="900" b="0">
                <a:solidFill>
                  <a:srgbClr val="1F2C3F"/>
                </a:solidFill>
                <a:latin typeface="Calibri"/>
              </a:rPr>
              <a:t>24,000 packets → 21.4 s, 1,800 MB peak</a:t>
            </a:r>
          </a:p>
          <a:p>
            <a:pPr>
              <a:lnSpc>
                <a:spcPct val="92000"/>
              </a:lnSpc>
              <a:spcAft>
                <a:spcPts val="300"/>
              </a:spcAft>
            </a:pPr>
            <a:r>
              <a:rPr sz="900" b="0">
                <a:solidFill>
                  <a:srgbClr val="1B6B3A"/>
                </a:solidFill>
                <a:latin typeface="Calibri"/>
              </a:rPr>
              <a:t>Ground truth matched exactly at every size</a:t>
            </a:r>
          </a:p>
          <a:p>
            <a:pPr>
              <a:lnSpc>
                <a:spcPct val="92000"/>
              </a:lnSpc>
              <a:spcAft>
                <a:spcPts val="300"/>
              </a:spcAft>
            </a:pPr>
            <a:r>
              <a:rPr sz="900" b="0">
                <a:solidFill>
                  <a:srgbClr val="4A5A70"/>
                </a:solidFill>
                <a:latin typeface="Calibri"/>
              </a:rPr>
              <a:t>Thresholds were committed BEFORE the results they judge — the order is in the repository history</a:t>
            </a:r>
          </a:p>
          <a:p>
            <a:pPr>
              <a:lnSpc>
                <a:spcPct val="92000"/>
              </a:lnSpc>
              <a:spcAft>
                <a:spcPts val="300"/>
              </a:spcAft>
            </a:pPr>
            <a:r>
              <a:rPr sz="900" b="0">
                <a:solidFill>
                  <a:srgbClr val="A83A1E"/>
                </a:solidFill>
                <a:latin typeface="Calibri"/>
              </a:rPr>
              <a:t>Limits: one machine, 16 logical CPUs, synthetic captures. A repeat run on a loaded machine measured 257 packets/s and FAILED the 500 packets/s threshold; that result is published, not discarded.</a:t>
            </a:r>
          </a:p>
        </p:txBody>
      </p:sp>
      <p:sp>
        <p:nvSpPr>
          <p:cNvPr id="17413" name="Rounded Rectangle 17412"/>
          <p:cNvSpPr/>
          <p:nvPr/>
        </p:nvSpPr>
        <p:spPr>
          <a:xfrm>
            <a:off x="8092440" y="1609344"/>
            <a:ext cx="3703320" cy="2331720"/>
          </a:xfrm>
          <a:prstGeom prst="roundRect">
            <a:avLst/>
          </a:prstGeom>
          <a:solidFill>
            <a:srgbClr val="EEF3F9"/>
          </a:solidFill>
          <a:ln w="9525">
            <a:solidFill>
              <a:srgbClr val="C2D4E6"/>
            </a:solidFill>
          </a:ln>
          <a:effectLst/>
        </p:spPr>
        <p:style>
          <a:lnRef idx="1">
            <a:schemeClr val="accent1"/>
          </a:lnRef>
          <a:fillRef idx="3">
            <a:schemeClr val="accent1"/>
          </a:fillRef>
          <a:effectRef idx="2">
            <a:schemeClr val="accent1"/>
          </a:effectRef>
          <a:fontRef idx="minor">
            <a:schemeClr val="lt1"/>
          </a:fontRef>
        </p:style>
        <p:txBody>
          <a:bodyPr rtlCol="0" anchor="t" wrap="square" tIns="54864" bIns="54864"/>
          <a:lstStyle/>
          <a:p>
            <a:pPr algn="ctr">
              <a:lnSpc>
                <a:spcPct val="92000"/>
              </a:lnSpc>
              <a:spcAft>
                <a:spcPts val="300"/>
              </a:spcAft>
            </a:pPr>
            <a:r>
              <a:rPr sz="1100" b="1">
                <a:solidFill>
                  <a:srgbClr val="111B2A"/>
                </a:solidFill>
                <a:latin typeface="Calibri"/>
              </a:rPr>
              <a:t>Security controls</a:t>
            </a:r>
          </a:p>
          <a:p>
            <a:pPr>
              <a:lnSpc>
                <a:spcPct val="92000"/>
              </a:lnSpc>
              <a:spcAft>
                <a:spcPts val="300"/>
              </a:spcAft>
            </a:pPr>
            <a:r>
              <a:rPr sz="900" b="0">
                <a:solidFill>
                  <a:srgbClr val="1F2C3F"/>
                </a:solidFill>
                <a:latin typeface="Calibri"/>
              </a:rPr>
              <a:t>Loopback binding is not a security model, so: host allowlist (DNS rebinding), explicit CORS origins with credentials off, per-installation token outside the repository at mode 0600</a:t>
            </a:r>
          </a:p>
          <a:p>
            <a:pPr>
              <a:lnSpc>
                <a:spcPct val="92000"/>
              </a:lnSpc>
              <a:spcAft>
                <a:spcPts val="300"/>
              </a:spcAft>
            </a:pPr>
            <a:r>
              <a:rPr sz="900" b="0">
                <a:solidFill>
                  <a:srgbClr val="1F2C3F"/>
                </a:solidFill>
                <a:latin typeface="Calibri"/>
              </a:rPr>
              <a:t>Bounded collection responses · magic-byte upload validation while streaming · error bodies with no path or stack trace</a:t>
            </a:r>
          </a:p>
          <a:p>
            <a:pPr>
              <a:lnSpc>
                <a:spcPct val="92000"/>
              </a:lnSpc>
              <a:spcAft>
                <a:spcPts val="300"/>
              </a:spcAft>
            </a:pPr>
            <a:r>
              <a:rPr sz="900" b="0">
                <a:solidFill>
                  <a:srgbClr val="1B6B3A"/>
                </a:solidFill>
                <a:latin typeface="Calibri"/>
              </a:rPr>
              <a:t>0 known vulnerabilities: pip-audit over 49 locked packages, npm audit over production and development trees</a:t>
            </a:r>
          </a:p>
          <a:p>
            <a:pPr>
              <a:lnSpc>
                <a:spcPct val="92000"/>
              </a:lnSpc>
              <a:spcAft>
                <a:spcPts val="300"/>
              </a:spcAft>
            </a:pPr>
            <a:r>
              <a:rPr sz="900" b="0">
                <a:solidFill>
                  <a:srgbClr val="1F2C3F"/>
                </a:solidFill>
                <a:latin typeface="Calibri"/>
              </a:rPr>
              <a:t>Hash-pinned lock verified with --require-hashes · CycloneDX SBOM for both trees</a:t>
            </a:r>
          </a:p>
          <a:p>
            <a:pPr>
              <a:lnSpc>
                <a:spcPct val="92000"/>
              </a:lnSpc>
              <a:spcAft>
                <a:spcPts val="300"/>
              </a:spcAft>
            </a:pPr>
            <a:r>
              <a:rPr sz="900" b="0">
                <a:solidFill>
                  <a:srgbClr val="A83A1E"/>
                </a:solidFill>
                <a:latin typeface="Calibri"/>
              </a:rPr>
              <a:t>NOT a penetration test and NOT a security certification. Not safe to expose to a network, and not claimed to be.</a:t>
            </a:r>
          </a:p>
        </p:txBody>
      </p:sp>
      <p:sp>
        <p:nvSpPr>
          <p:cNvPr id="17414" name="Rounded Rectangle 17413"/>
          <p:cNvSpPr/>
          <p:nvPr/>
        </p:nvSpPr>
        <p:spPr>
          <a:xfrm>
            <a:off x="411480" y="4059936"/>
            <a:ext cx="11384280" cy="2121408"/>
          </a:xfrm>
          <a:prstGeom prst="roundRect">
            <a:avLst/>
          </a:prstGeom>
          <a:solidFill>
            <a:srgbClr val="FDF2EC"/>
          </a:solidFill>
          <a:ln w="9525">
            <a:solidFill>
              <a:srgbClr val="EECFBE"/>
            </a:solidFill>
          </a:ln>
          <a:effectLst/>
        </p:spPr>
        <p:style>
          <a:lnRef idx="1">
            <a:schemeClr val="accent1"/>
          </a:lnRef>
          <a:fillRef idx="3">
            <a:schemeClr val="accent1"/>
          </a:fillRef>
          <a:effectRef idx="2">
            <a:schemeClr val="accent1"/>
          </a:effectRef>
          <a:fontRef idx="minor">
            <a:schemeClr val="lt1"/>
          </a:fontRef>
        </p:style>
        <p:txBody>
          <a:bodyPr rtlCol="0" anchor="t" wrap="square" tIns="54864" bIns="54864"/>
          <a:lstStyle/>
          <a:p>
            <a:pPr algn="ctr">
              <a:lnSpc>
                <a:spcPct val="90000"/>
              </a:lnSpc>
              <a:spcAft>
                <a:spcPts val="300"/>
              </a:spcAft>
            </a:pPr>
            <a:r>
              <a:rPr sz="1100" b="1">
                <a:solidFill>
                  <a:srgbClr val="A83A1E"/>
                </a:solidFill>
                <a:latin typeface="Calibri"/>
              </a:rPr>
              <a:t>Challenges, risks, and what is genuinely unresolved — stated, not hidden</a:t>
            </a:r>
          </a:p>
          <a:p>
            <a:pPr>
              <a:lnSpc>
                <a:spcPct val="90000"/>
              </a:lnSpc>
              <a:spcAft>
                <a:spcPts val="300"/>
              </a:spcAft>
            </a:pPr>
            <a:r>
              <a:rPr sz="950" b="0">
                <a:solidFill>
                  <a:srgbClr val="1F2C3F"/>
                </a:solidFill>
                <a:latin typeface="Calibri"/>
              </a:rPr>
              <a:t>TLS 1.3 encrypts the Certificate message.  PERMANENT.  No passive tool can read it. Reported NOT_AVAILABLE with the reason, never blank and never guessed. TLS 1.2 certificates are read and verified in full: dates, chain, hostname, key size, signature algorithm.</a:t>
            </a:r>
          </a:p>
          <a:p>
            <a:pPr>
              <a:lnSpc>
                <a:spcPct val="90000"/>
              </a:lnSpc>
              <a:spcAft>
                <a:spcPts val="300"/>
              </a:spcAft>
            </a:pPr>
            <a:r>
              <a:rPr sz="950" b="0">
                <a:solidFill>
                  <a:srgbClr val="1F2C3F"/>
                </a:solidFill>
                <a:latin typeface="Calibri"/>
              </a:rPr>
              <a:t>Supervised risk classification is NOT_VALIDATED for real-world use.  Implemented and measured on synthetic data (macro-F1 0.5624), which does not establish real-world accuracy. No independent representative validation has been obtained, the interface says so on screen, and the classifier does not drive any finding or score.</a:t>
            </a:r>
          </a:p>
          <a:p>
            <a:pPr>
              <a:lnSpc>
                <a:spcPct val="90000"/>
              </a:lnSpc>
              <a:spcAft>
                <a:spcPts val="300"/>
              </a:spcAft>
            </a:pPr>
            <a:r>
              <a:rPr sz="950" b="0">
                <a:solidFill>
                  <a:srgbClr val="1F2C3F"/>
                </a:solidFill>
                <a:latin typeface="Calibri"/>
              </a:rPr>
              <a:t>Handshake completion is not verifiable and revocation is never checked.  A capture has no traffic keys, and an OCSP or CRL request would break the passive rule. Three constants are asserted false or zero in every report by the test suite.</a:t>
            </a:r>
          </a:p>
          <a:p>
            <a:pPr>
              <a:lnSpc>
                <a:spcPct val="90000"/>
              </a:lnSpc>
              <a:spcAft>
                <a:spcPts val="300"/>
              </a:spcAft>
            </a:pPr>
            <a:r>
              <a:rPr sz="950" b="0">
                <a:solidFill>
                  <a:srgbClr val="1F2C3F"/>
                </a:solidFill>
                <a:latin typeface="Calibri"/>
              </a:rPr>
              <a:t>Deployment constraints.  Memory is the binding limit — about 76 KB peak resident per packet — and two analyses share one process, so large captures are not claimed to run on the 8 GB machine the thresholds assume. No run on that hardware has been taken; the requirement is recorded NOT_VERIFIED. Analysis cannot be cancelled, and a test asserts the absence so the gap cannot be mistaken for a broken control.</a:t>
            </a:r>
          </a:p>
        </p:txBody>
      </p:sp>
    </p:spTree>
    <p:extLst>
      <p:ext uri="{BB962C8B-B14F-4D97-AF65-F5344CB8AC3E}">
        <p14:creationId xmlns:p14="http://schemas.microsoft.com/office/powerpoint/2010/main" val="37533879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IMPACT AND BENEFITS</a:t>
            </a:r>
          </a:p>
        </p:txBody>
      </p:sp>
      <p:sp>
        <p:nvSpPr>
          <p:cNvPr id="17410" name="TextBox 8"/>
          <p:cNvSpPr txBox="1">
            <a:spLocks noChangeArrowheads="1"/>
          </p:cNvSpPr>
          <p:nvPr/>
        </p:nvSpPr>
        <p:spPr bwMode="auto">
          <a:xfrm>
            <a:off x="411480" y="1060704"/>
            <a:ext cx="11384280" cy="475488"/>
          </a:xfrm>
          <a:prstGeom prst="rect">
            <a:avLst/>
          </a:prstGeom>
          <a:noFill/>
          <a:ln w="9525">
            <a:noFill/>
            <a:miter lim="800000"/>
            <a:headEnd/>
            <a:tailEnd/>
          </a:ln>
        </p:spPr>
        <p:txBody>
          <a:bodyPr wrap="square">
            <a:spAutoFit/>
          </a:bodyPr>
          <a:lstStyle/>
          <a:p>
            <a:pPr marL="342900" marR="0" indent="-342900" algn="just" defTabSz="457200" rtl="0" eaLnBrk="1" fontAlgn="base" latinLnBrk="0" hangingPunct="1">
              <a:lnSpc>
                <a:spcPct val="100000"/>
              </a:lnSpc>
              <a:spcBef>
                <a:spcPct val="0"/>
              </a:spcBef>
              <a:spcAft>
                <a:spcPts val="300"/>
              </a:spcAft>
              <a:buClrTx/>
              <a:buSzTx/>
              <a:buFont typeface="Arial" panose="020B0604020202020204" pitchFamily="34" charset="0"/>
              <a:buChar char="•"/>
              <a:tabLst/>
              <a:defRPr/>
            </a:pPr>
            <a:r>
              <a:rPr sz="1100" b="0">
                <a:solidFill>
                  <a:srgbClr val="4A5A70"/>
                </a:solidFill>
                <a:latin typeface="Calibri"/>
              </a:rPr>
              <a:t>For authorised email-security investigation. These are potential benefits: the tool is demonstrated on synthetic captures and has no deployments, no users and no measured real-world outcomes.</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12" name="Oval 11"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wrap="square"/>
          <a:lstStyle/>
          <a:p>
            <a:pPr algn="ctr"/>
            <a:r>
              <a:rPr sz="1000" b="1"/>
              <a:t>Team Zero-Day</a:t>
            </a:r>
            <a:endParaRPr lang="en-IN" dirty="0"/>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1" name="Rounded Rectangle 17410"/>
          <p:cNvSpPr/>
          <p:nvPr/>
        </p:nvSpPr>
        <p:spPr>
          <a:xfrm>
            <a:off x="411480" y="1627632"/>
            <a:ext cx="3657600" cy="2121408"/>
          </a:xfrm>
          <a:prstGeom prst="roundRect">
            <a:avLst/>
          </a:prstGeom>
          <a:solidFill>
            <a:srgbClr val="EEF3F9"/>
          </a:solidFill>
          <a:ln w="9525">
            <a:solidFill>
              <a:srgbClr val="C2D4E6"/>
            </a:solidFill>
          </a:ln>
          <a:effectLst/>
        </p:spPr>
        <p:style>
          <a:lnRef idx="1">
            <a:schemeClr val="accent1"/>
          </a:lnRef>
          <a:fillRef idx="3">
            <a:schemeClr val="accent1"/>
          </a:fillRef>
          <a:effectRef idx="2">
            <a:schemeClr val="accent1"/>
          </a:effectRef>
          <a:fontRef idx="minor">
            <a:schemeClr val="lt1"/>
          </a:fontRef>
        </p:style>
        <p:txBody>
          <a:bodyPr rtlCol="0" anchor="t" wrap="square" tIns="54864" bIns="54864"/>
          <a:lstStyle/>
          <a:p>
            <a:pPr algn="ctr">
              <a:lnSpc>
                <a:spcPct val="94000"/>
              </a:lnSpc>
              <a:spcAft>
                <a:spcPts val="300"/>
              </a:spcAft>
            </a:pPr>
            <a:r>
              <a:rPr sz="1100" b="1">
                <a:solidFill>
                  <a:srgbClr val="0B5FA5"/>
                </a:solidFill>
                <a:latin typeface="Calibri"/>
              </a:rPr>
              <a:t>Assessment without touching the host</a:t>
            </a:r>
          </a:p>
          <a:p>
            <a:pPr>
              <a:lnSpc>
                <a:spcPct val="94000"/>
              </a:lnSpc>
              <a:spcAft>
                <a:spcPts val="300"/>
              </a:spcAft>
            </a:pPr>
            <a:r>
              <a:rPr sz="950" b="0">
                <a:solidFill>
                  <a:srgbClr val="1F2C3F"/>
                </a:solidFill>
                <a:latin typeface="Calibri"/>
              </a:rPr>
              <a:t>The capture is already collected. Nothing is connected to, scanned or resolved — so an investigator with no authority to touch a production mail server can still assess how it protected traffic.</a:t>
            </a:r>
          </a:p>
        </p:txBody>
      </p:sp>
      <p:sp>
        <p:nvSpPr>
          <p:cNvPr id="17412" name="Rounded Rectangle 17411"/>
          <p:cNvSpPr/>
          <p:nvPr/>
        </p:nvSpPr>
        <p:spPr>
          <a:xfrm>
            <a:off x="4251960" y="1627632"/>
            <a:ext cx="3657600" cy="2121408"/>
          </a:xfrm>
          <a:prstGeom prst="roundRect">
            <a:avLst/>
          </a:prstGeom>
          <a:solidFill>
            <a:srgbClr val="EEF3F9"/>
          </a:solidFill>
          <a:ln w="9525">
            <a:solidFill>
              <a:srgbClr val="C2D4E6"/>
            </a:solidFill>
          </a:ln>
          <a:effectLst/>
        </p:spPr>
        <p:style>
          <a:lnRef idx="1">
            <a:schemeClr val="accent1"/>
          </a:lnRef>
          <a:fillRef idx="3">
            <a:schemeClr val="accent1"/>
          </a:fillRef>
          <a:effectRef idx="2">
            <a:schemeClr val="accent1"/>
          </a:effectRef>
          <a:fontRef idx="minor">
            <a:schemeClr val="lt1"/>
          </a:fontRef>
        </p:style>
        <p:txBody>
          <a:bodyPr rtlCol="0" anchor="t" wrap="square" tIns="54864" bIns="54864"/>
          <a:lstStyle/>
          <a:p>
            <a:pPr algn="ctr">
              <a:lnSpc>
                <a:spcPct val="94000"/>
              </a:lnSpc>
              <a:spcAft>
                <a:spcPts val="300"/>
              </a:spcAft>
            </a:pPr>
            <a:r>
              <a:rPr sz="1100" b="1">
                <a:solidFill>
                  <a:srgbClr val="0B5FA5"/>
                </a:solidFill>
                <a:latin typeface="Calibri"/>
              </a:rPr>
              <a:t>A cryptographic inventory of what was actually used</a:t>
            </a:r>
          </a:p>
          <a:p>
            <a:pPr>
              <a:lnSpc>
                <a:spcPct val="94000"/>
              </a:lnSpc>
              <a:spcAft>
                <a:spcPts val="300"/>
              </a:spcAft>
            </a:pPr>
            <a:r>
              <a:rPr sz="950" b="0">
                <a:solidFill>
                  <a:srgbClr val="1F2C3F"/>
                </a:solidFill>
                <a:latin typeface="Calibri"/>
              </a:rPr>
              <a:t>Not what a configuration file says. Negotiated versions, cipher suites, key exchanges and certificate details per session, read from the bytes on the wire.</a:t>
            </a:r>
          </a:p>
        </p:txBody>
      </p:sp>
      <p:sp>
        <p:nvSpPr>
          <p:cNvPr id="17413" name="Rounded Rectangle 17412"/>
          <p:cNvSpPr/>
          <p:nvPr/>
        </p:nvSpPr>
        <p:spPr>
          <a:xfrm>
            <a:off x="8092440" y="1627632"/>
            <a:ext cx="3657600" cy="2121408"/>
          </a:xfrm>
          <a:prstGeom prst="roundRect">
            <a:avLst/>
          </a:prstGeom>
          <a:solidFill>
            <a:srgbClr val="EEF3F9"/>
          </a:solidFill>
          <a:ln w="9525">
            <a:solidFill>
              <a:srgbClr val="C2D4E6"/>
            </a:solidFill>
          </a:ln>
          <a:effectLst/>
        </p:spPr>
        <p:style>
          <a:lnRef idx="1">
            <a:schemeClr val="accent1"/>
          </a:lnRef>
          <a:fillRef idx="3">
            <a:schemeClr val="accent1"/>
          </a:fillRef>
          <a:effectRef idx="2">
            <a:schemeClr val="accent1"/>
          </a:effectRef>
          <a:fontRef idx="minor">
            <a:schemeClr val="lt1"/>
          </a:fontRef>
        </p:style>
        <p:txBody>
          <a:bodyPr rtlCol="0" anchor="t" wrap="square" tIns="54864" bIns="54864"/>
          <a:lstStyle/>
          <a:p>
            <a:pPr algn="ctr">
              <a:lnSpc>
                <a:spcPct val="94000"/>
              </a:lnSpc>
              <a:spcAft>
                <a:spcPts val="300"/>
              </a:spcAft>
            </a:pPr>
            <a:r>
              <a:rPr sz="1100" b="1">
                <a:solidFill>
                  <a:srgbClr val="0B5FA5"/>
                </a:solidFill>
                <a:latin typeface="Calibri"/>
              </a:rPr>
              <a:t>Findings that carry their own evidence</a:t>
            </a:r>
          </a:p>
          <a:p>
            <a:pPr>
              <a:lnSpc>
                <a:spcPct val="94000"/>
              </a:lnSpc>
              <a:spcAft>
                <a:spcPts val="300"/>
              </a:spcAft>
            </a:pPr>
            <a:r>
              <a:rPr sz="950" b="0">
                <a:solidFill>
                  <a:srgbClr val="1F2C3F"/>
                </a:solidFill>
                <a:latin typeface="Calibri"/>
              </a:rPr>
              <a:t>Every finding cites the packet numbers it was read from, the RFC it applies, and its own limitation. An analyst can open the same packet in Wireshark and check.</a:t>
            </a:r>
          </a:p>
        </p:txBody>
      </p:sp>
      <p:sp>
        <p:nvSpPr>
          <p:cNvPr id="17414" name="Rounded Rectangle 17413"/>
          <p:cNvSpPr/>
          <p:nvPr/>
        </p:nvSpPr>
        <p:spPr>
          <a:xfrm>
            <a:off x="411480" y="3895344"/>
            <a:ext cx="3657600" cy="2121408"/>
          </a:xfrm>
          <a:prstGeom prst="roundRect">
            <a:avLst/>
          </a:prstGeom>
          <a:solidFill>
            <a:srgbClr val="EEF3F9"/>
          </a:solidFill>
          <a:ln w="9525">
            <a:solidFill>
              <a:srgbClr val="C2D4E6"/>
            </a:solidFill>
          </a:ln>
          <a:effectLst/>
        </p:spPr>
        <p:style>
          <a:lnRef idx="1">
            <a:schemeClr val="accent1"/>
          </a:lnRef>
          <a:fillRef idx="3">
            <a:schemeClr val="accent1"/>
          </a:fillRef>
          <a:effectRef idx="2">
            <a:schemeClr val="accent1"/>
          </a:effectRef>
          <a:fontRef idx="minor">
            <a:schemeClr val="lt1"/>
          </a:fontRef>
        </p:style>
        <p:txBody>
          <a:bodyPr rtlCol="0" anchor="t" wrap="square" tIns="54864" bIns="54864"/>
          <a:lstStyle/>
          <a:p>
            <a:pPr algn="ctr">
              <a:lnSpc>
                <a:spcPct val="94000"/>
              </a:lnSpc>
              <a:spcAft>
                <a:spcPts val="300"/>
              </a:spcAft>
            </a:pPr>
            <a:r>
              <a:rPr sz="1100" b="1">
                <a:solidFill>
                  <a:srgbClr val="0B5FA5"/>
                </a:solidFill>
                <a:latin typeface="Calibri"/>
              </a:rPr>
              <a:t>Prioritised, specific remediation</a:t>
            </a:r>
          </a:p>
          <a:p>
            <a:pPr>
              <a:lnSpc>
                <a:spcPct val="94000"/>
              </a:lnSpc>
              <a:spcAft>
                <a:spcPts val="300"/>
              </a:spcAft>
            </a:pPr>
            <a:r>
              <a:rPr sz="950" b="0">
                <a:solidFill>
                  <a:srgbClr val="1F2C3F"/>
                </a:solidFill>
                <a:latin typeface="Calibri"/>
              </a:rPr>
              <a:t>25 rules under a versioned policy produce a priority band and a named remediation with its expected security effect — so the answer to 'what do I fix first' comes with a reason.</a:t>
            </a:r>
          </a:p>
        </p:txBody>
      </p:sp>
      <p:sp>
        <p:nvSpPr>
          <p:cNvPr id="17415" name="Rounded Rectangle 17414"/>
          <p:cNvSpPr/>
          <p:nvPr/>
        </p:nvSpPr>
        <p:spPr>
          <a:xfrm>
            <a:off x="4251960" y="3895344"/>
            <a:ext cx="3657600" cy="2121408"/>
          </a:xfrm>
          <a:prstGeom prst="roundRect">
            <a:avLst/>
          </a:prstGeom>
          <a:solidFill>
            <a:srgbClr val="EEF3F9"/>
          </a:solidFill>
          <a:ln w="9525">
            <a:solidFill>
              <a:srgbClr val="C2D4E6"/>
            </a:solidFill>
          </a:ln>
          <a:effectLst/>
        </p:spPr>
        <p:style>
          <a:lnRef idx="1">
            <a:schemeClr val="accent1"/>
          </a:lnRef>
          <a:fillRef idx="3">
            <a:schemeClr val="accent1"/>
          </a:fillRef>
          <a:effectRef idx="2">
            <a:schemeClr val="accent1"/>
          </a:effectRef>
          <a:fontRef idx="minor">
            <a:schemeClr val="lt1"/>
          </a:fontRef>
        </p:style>
        <p:txBody>
          <a:bodyPr rtlCol="0" anchor="t" wrap="square" tIns="54864" bIns="54864"/>
          <a:lstStyle/>
          <a:p>
            <a:pPr algn="ctr">
              <a:lnSpc>
                <a:spcPct val="94000"/>
              </a:lnSpc>
              <a:spcAft>
                <a:spcPts val="300"/>
              </a:spcAft>
            </a:pPr>
            <a:r>
              <a:rPr sz="1100" b="1">
                <a:solidFill>
                  <a:srgbClr val="0B5FA5"/>
                </a:solidFill>
                <a:latin typeface="Calibri"/>
              </a:rPr>
              <a:t>Drift between captures, attributed</a:t>
            </a:r>
          </a:p>
          <a:p>
            <a:pPr>
              <a:lnSpc>
                <a:spcPct val="94000"/>
              </a:lnSpc>
              <a:spcAft>
                <a:spcPts val="300"/>
              </a:spcAft>
            </a:pPr>
            <a:r>
              <a:rPr sz="950" b="0">
                <a:solidFill>
                  <a:srgbClr val="1F2C3F"/>
                </a:solidFill>
                <a:latin typeface="Calibri"/>
              </a:rPr>
              <a:t>The same server observed twice. If the client offered the same suites and the server selected differently, the change is attributable to the server. If the offers differed, the result is INCONCLUSIVE and says so.</a:t>
            </a:r>
          </a:p>
        </p:txBody>
      </p:sp>
      <p:sp>
        <p:nvSpPr>
          <p:cNvPr id="17416" name="Rounded Rectangle 17415"/>
          <p:cNvSpPr/>
          <p:nvPr/>
        </p:nvSpPr>
        <p:spPr>
          <a:xfrm>
            <a:off x="8092440" y="3895344"/>
            <a:ext cx="3657600" cy="2121408"/>
          </a:xfrm>
          <a:prstGeom prst="roundRect">
            <a:avLst/>
          </a:prstGeom>
          <a:solidFill>
            <a:srgbClr val="EEF3F9"/>
          </a:solidFill>
          <a:ln w="9525">
            <a:solidFill>
              <a:srgbClr val="C2D4E6"/>
            </a:solidFill>
          </a:ln>
          <a:effectLst/>
        </p:spPr>
        <p:style>
          <a:lnRef idx="1">
            <a:schemeClr val="accent1"/>
          </a:lnRef>
          <a:fillRef idx="3">
            <a:schemeClr val="accent1"/>
          </a:fillRef>
          <a:effectRef idx="2">
            <a:schemeClr val="accent1"/>
          </a:effectRef>
          <a:fontRef idx="minor">
            <a:schemeClr val="lt1"/>
          </a:fontRef>
        </p:style>
        <p:txBody>
          <a:bodyPr rtlCol="0" anchor="t" wrap="square" tIns="54864" bIns="54864"/>
          <a:lstStyle/>
          <a:p>
            <a:pPr algn="ctr">
              <a:lnSpc>
                <a:spcPct val="94000"/>
              </a:lnSpc>
              <a:spcAft>
                <a:spcPts val="300"/>
              </a:spcAft>
            </a:pPr>
            <a:r>
              <a:rPr sz="1100" b="1">
                <a:solidFill>
                  <a:srgbClr val="0B5FA5"/>
                </a:solidFill>
                <a:latin typeface="Calibri"/>
              </a:rPr>
              <a:t>Investigation reports that stand alone</a:t>
            </a:r>
          </a:p>
          <a:p>
            <a:pPr>
              <a:lnSpc>
                <a:spcPct val="94000"/>
              </a:lnSpc>
              <a:spcAft>
                <a:spcPts val="300"/>
              </a:spcAft>
            </a:pPr>
            <a:r>
              <a:rPr sz="950" b="0">
                <a:solidFill>
                  <a:srgbClr val="1F2C3F"/>
                </a:solidFill>
                <a:latin typeface="Calibri"/>
              </a:rPr>
              <a:t>JSON, HTML and PDF from one model, so their facts cannot disagree. The HTML opens offline and fetches nothing, which matters for an artefact that may be handed to a reviewer.</a:t>
            </a:r>
          </a:p>
        </p:txBody>
      </p:sp>
      <p:sp>
        <p:nvSpPr>
          <p:cNvPr id="17417" name="TextBox 17416"/>
          <p:cNvSpPr txBox="1"/>
          <p:nvPr/>
        </p:nvSpPr>
        <p:spPr>
          <a:xfrm>
            <a:off x="411480" y="6163056"/>
            <a:ext cx="11384280" cy="274320"/>
          </a:xfrm>
          <a:prstGeom prst="rect">
            <a:avLst/>
          </a:prstGeom>
          <a:noFill/>
        </p:spPr>
        <p:txBody>
          <a:bodyPr wrap="square">
            <a:spAutoFit/>
          </a:bodyPr>
          <a:lstStyle/>
          <a:p>
            <a:pPr>
              <a:lnSpc>
                <a:spcPct val="100000"/>
              </a:lnSpc>
              <a:spcAft>
                <a:spcPts val="300"/>
              </a:spcAft>
            </a:pPr>
            <a:r>
              <a:rPr sz="900" b="1">
                <a:solidFill>
                  <a:srgbClr val="A83A1E"/>
                </a:solidFill>
                <a:latin typeface="Calibri"/>
              </a:rPr>
              <a:t>No financial saving, adoption figure, deployment or real-world detection rate is claimed: none has been measured.</a:t>
            </a:r>
          </a:p>
        </p:txBody>
      </p:sp>
    </p:spTree>
    <p:extLst>
      <p:ext uri="{BB962C8B-B14F-4D97-AF65-F5344CB8AC3E}">
        <p14:creationId xmlns:p14="http://schemas.microsoft.com/office/powerpoint/2010/main" val="29971441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RESEARCH  AND REFERENCES</a:t>
            </a:r>
          </a:p>
        </p:txBody>
      </p:sp>
      <p:sp>
        <p:nvSpPr>
          <p:cNvPr id="17410" name="TextBox 8"/>
          <p:cNvSpPr txBox="1">
            <a:spLocks noChangeArrowheads="1"/>
          </p:cNvSpPr>
          <p:nvPr/>
        </p:nvSpPr>
        <p:spPr bwMode="auto">
          <a:xfrm>
            <a:off x="411480" y="1060704"/>
            <a:ext cx="11384280" cy="420624"/>
          </a:xfrm>
          <a:prstGeom prst="rect">
            <a:avLst/>
          </a:prstGeom>
          <a:noFill/>
          <a:ln w="9525">
            <a:noFill/>
            <a:miter lim="800000"/>
            <a:headEnd/>
            <a:tailEnd/>
          </a:ln>
        </p:spPr>
        <p:txBody>
          <a:bodyPr wrap="square">
            <a:spAutoFit/>
          </a:bodyPr>
          <a:lstStyle/>
          <a:p>
            <a:pPr marL="342900" marR="0" indent="-342900" algn="just" defTabSz="457200" rtl="0" eaLnBrk="1" fontAlgn="base" latinLnBrk="0" hangingPunct="1">
              <a:lnSpc>
                <a:spcPct val="100000"/>
              </a:lnSpc>
              <a:spcBef>
                <a:spcPct val="0"/>
              </a:spcBef>
              <a:spcAft>
                <a:spcPts val="300"/>
              </a:spcAft>
              <a:buClrTx/>
              <a:buSzTx/>
              <a:buFont typeface="Arial" panose="020B0604020202020204" pitchFamily="34" charset="0"/>
              <a:buChar char="•"/>
              <a:tabLst/>
              <a:defRPr/>
            </a:pPr>
            <a:r>
              <a:rPr sz="1100" b="0">
                <a:solidFill>
                  <a:srgbClr val="4A5A70"/>
                </a:solidFill>
                <a:latin typeface="Calibri"/>
              </a:rPr>
              <a:t>Standards the rules cite and the parsers implement. Every rule in the engine names the clause it applies.</a:t>
            </a:r>
            <a:endParaRPr kumimoji="0" lang="en-US" sz="2800" b="0" i="0" u="none" strike="noStrike" kern="1200" cap="none" spc="0" normalizeH="0" baseline="0" noProof="0" dirty="0">
              <a:ln>
                <a:noFill/>
              </a:ln>
              <a:solidFill>
                <a:prstClr val="black"/>
              </a:solidFill>
              <a:effectLst/>
              <a:uLnTx/>
              <a:uFillTx/>
              <a:latin typeface="Arial" pitchFamily="34" charset="0"/>
              <a:ea typeface="ＭＳ Ｐゴシック" pitchFamily="1" charset="-128"/>
              <a:cs typeface="Arial" pitchFamily="34" charset="0"/>
            </a:endParaRP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9" name="Oval 8"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wrap="square"/>
          <a:lstStyle/>
          <a:p>
            <a:pPr algn="ctr"/>
            <a:r>
              <a:rPr sz="1000" b="1"/>
              <a:t>Team Zero-Day</a:t>
            </a:r>
            <a:endParaRPr lang="en-IN" dirty="0"/>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1" name="Rounded Rectangle 17410"/>
          <p:cNvSpPr/>
          <p:nvPr/>
        </p:nvSpPr>
        <p:spPr>
          <a:xfrm>
            <a:off x="411480" y="1554480"/>
            <a:ext cx="5577840" cy="2788920"/>
          </a:xfrm>
          <a:prstGeom prst="roundRect">
            <a:avLst/>
          </a:prstGeom>
          <a:solidFill>
            <a:srgbClr val="EEF3F9"/>
          </a:solidFill>
          <a:ln w="9525">
            <a:solidFill>
              <a:srgbClr val="C2D4E6"/>
            </a:solidFill>
          </a:ln>
          <a:effectLst/>
        </p:spPr>
        <p:style>
          <a:lnRef idx="1">
            <a:schemeClr val="accent1"/>
          </a:lnRef>
          <a:fillRef idx="3">
            <a:schemeClr val="accent1"/>
          </a:fillRef>
          <a:effectRef idx="2">
            <a:schemeClr val="accent1"/>
          </a:effectRef>
          <a:fontRef idx="minor">
            <a:schemeClr val="lt1"/>
          </a:fontRef>
        </p:style>
        <p:txBody>
          <a:bodyPr rtlCol="0" anchor="t" wrap="square" tIns="54864" bIns="54864"/>
          <a:lstStyle/>
          <a:p>
            <a:pPr algn="ctr">
              <a:lnSpc>
                <a:spcPct val="94000"/>
              </a:lnSpc>
              <a:spcAft>
                <a:spcPts val="300"/>
              </a:spcAft>
            </a:pPr>
            <a:r>
              <a:rPr sz="1100" b="1">
                <a:solidFill>
                  <a:srgbClr val="111B2A"/>
                </a:solidFill>
                <a:latin typeface="Calibri"/>
              </a:rPr>
              <a:t>TLS and certificates</a:t>
            </a:r>
          </a:p>
          <a:p>
            <a:pPr>
              <a:lnSpc>
                <a:spcPct val="94000"/>
              </a:lnSpc>
              <a:spcAft>
                <a:spcPts val="300"/>
              </a:spcAft>
            </a:pPr>
            <a:r>
              <a:rPr sz="900" b="0">
                <a:solidFill>
                  <a:srgbClr val="1F2C3F"/>
                </a:solidFill>
                <a:latin typeface="Calibri"/>
              </a:rPr>
              <a:t>RFC 8446 — TLS 1.3</a:t>
            </a:r>
          </a:p>
          <a:p>
            <a:pPr>
              <a:lnSpc>
                <a:spcPct val="94000"/>
              </a:lnSpc>
              <a:spcAft>
                <a:spcPts val="300"/>
              </a:spcAft>
            </a:pPr>
            <a:r>
              <a:rPr sz="900" b="0">
                <a:solidFill>
                  <a:srgbClr val="1F2C3F"/>
                </a:solidFill>
                <a:latin typeface="Calibri"/>
              </a:rPr>
              <a:t>RFC 5246 — TLS 1.2</a:t>
            </a:r>
          </a:p>
          <a:p>
            <a:pPr>
              <a:lnSpc>
                <a:spcPct val="94000"/>
              </a:lnSpc>
              <a:spcAft>
                <a:spcPts val="300"/>
              </a:spcAft>
            </a:pPr>
            <a:r>
              <a:rPr sz="900" b="0">
                <a:solidFill>
                  <a:srgbClr val="1F2C3F"/>
                </a:solidFill>
                <a:latin typeface="Calibri"/>
              </a:rPr>
              <a:t>RFC 9325 — Recommendations for Secure Use of TLS/DTLS (2022)</a:t>
            </a:r>
          </a:p>
          <a:p>
            <a:pPr>
              <a:lnSpc>
                <a:spcPct val="94000"/>
              </a:lnSpc>
              <a:spcAft>
                <a:spcPts val="300"/>
              </a:spcAft>
            </a:pPr>
            <a:r>
              <a:rPr sz="900" b="0">
                <a:solidFill>
                  <a:srgbClr val="1F2C3F"/>
                </a:solidFill>
                <a:latin typeface="Calibri"/>
              </a:rPr>
              <a:t>RFC 8996 — Deprecating TLS 1.0 and TLS 1.1</a:t>
            </a:r>
          </a:p>
          <a:p>
            <a:pPr>
              <a:lnSpc>
                <a:spcPct val="94000"/>
              </a:lnSpc>
              <a:spcAft>
                <a:spcPts val="300"/>
              </a:spcAft>
            </a:pPr>
            <a:r>
              <a:rPr sz="900" b="0">
                <a:solidFill>
                  <a:srgbClr val="1F2C3F"/>
                </a:solidFill>
                <a:latin typeface="Calibri"/>
              </a:rPr>
              <a:t>RFC 7457 — Known Attacks on TLS and DTLS</a:t>
            </a:r>
          </a:p>
          <a:p>
            <a:pPr>
              <a:lnSpc>
                <a:spcPct val="94000"/>
              </a:lnSpc>
              <a:spcAft>
                <a:spcPts val="300"/>
              </a:spcAft>
            </a:pPr>
            <a:r>
              <a:rPr sz="900" b="0">
                <a:solidFill>
                  <a:srgbClr val="1F2C3F"/>
                </a:solidFill>
                <a:latin typeface="Calibri"/>
              </a:rPr>
              <a:t>RFC 4492 — ECC Cipher Suites for TLS</a:t>
            </a:r>
          </a:p>
          <a:p>
            <a:pPr>
              <a:lnSpc>
                <a:spcPct val="94000"/>
              </a:lnSpc>
              <a:spcAft>
                <a:spcPts val="300"/>
              </a:spcAft>
            </a:pPr>
            <a:r>
              <a:rPr sz="900" b="0">
                <a:solidFill>
                  <a:srgbClr val="1F2C3F"/>
                </a:solidFill>
                <a:latin typeface="Calibri"/>
              </a:rPr>
              <a:t>RFC 5280 — X.509 Certificate and CRL Profile</a:t>
            </a:r>
          </a:p>
          <a:p>
            <a:pPr>
              <a:lnSpc>
                <a:spcPct val="94000"/>
              </a:lnSpc>
              <a:spcAft>
                <a:spcPts val="300"/>
              </a:spcAft>
            </a:pPr>
            <a:r>
              <a:rPr sz="900" b="0">
                <a:solidFill>
                  <a:srgbClr val="1F2C3F"/>
                </a:solidFill>
                <a:latin typeface="Calibri"/>
              </a:rPr>
              <a:t>RFC 6125 — Verification of Application Service Identity</a:t>
            </a:r>
          </a:p>
          <a:p>
            <a:pPr>
              <a:lnSpc>
                <a:spcPct val="94000"/>
              </a:lnSpc>
              <a:spcAft>
                <a:spcPts val="300"/>
              </a:spcAft>
            </a:pPr>
            <a:r>
              <a:rPr sz="900" b="0">
                <a:solidFill>
                  <a:srgbClr val="1F2C3F"/>
                </a:solidFill>
                <a:latin typeface="Calibri"/>
              </a:rPr>
              <a:t>NIST SP 800-52 Rev. 2 — Guidelines for TLS Implementations</a:t>
            </a:r>
          </a:p>
          <a:p>
            <a:pPr>
              <a:lnSpc>
                <a:spcPct val="94000"/>
              </a:lnSpc>
              <a:spcAft>
                <a:spcPts val="300"/>
              </a:spcAft>
            </a:pPr>
            <a:r>
              <a:rPr sz="900" b="0">
                <a:solidFill>
                  <a:srgbClr val="1F2C3F"/>
                </a:solidFill>
                <a:latin typeface="Calibri"/>
              </a:rPr>
              <a:t>IANA TLS Parameters registry — suites, groups, signature schemes</a:t>
            </a:r>
          </a:p>
        </p:txBody>
      </p:sp>
      <p:sp>
        <p:nvSpPr>
          <p:cNvPr id="17412" name="Rounded Rectangle 17411"/>
          <p:cNvSpPr/>
          <p:nvPr/>
        </p:nvSpPr>
        <p:spPr>
          <a:xfrm>
            <a:off x="6217920" y="1554480"/>
            <a:ext cx="5577840" cy="2788920"/>
          </a:xfrm>
          <a:prstGeom prst="roundRect">
            <a:avLst/>
          </a:prstGeom>
          <a:solidFill>
            <a:srgbClr val="EEF3F9"/>
          </a:solidFill>
          <a:ln w="9525">
            <a:solidFill>
              <a:srgbClr val="C2D4E6"/>
            </a:solidFill>
          </a:ln>
          <a:effectLst/>
        </p:spPr>
        <p:style>
          <a:lnRef idx="1">
            <a:schemeClr val="accent1"/>
          </a:lnRef>
          <a:fillRef idx="3">
            <a:schemeClr val="accent1"/>
          </a:fillRef>
          <a:effectRef idx="2">
            <a:schemeClr val="accent1"/>
          </a:effectRef>
          <a:fontRef idx="minor">
            <a:schemeClr val="lt1"/>
          </a:fontRef>
        </p:style>
        <p:txBody>
          <a:bodyPr rtlCol="0" anchor="t" wrap="square" tIns="54864" bIns="54864"/>
          <a:lstStyle/>
          <a:p>
            <a:pPr algn="ctr">
              <a:lnSpc>
                <a:spcPct val="94000"/>
              </a:lnSpc>
              <a:spcAft>
                <a:spcPts val="300"/>
              </a:spcAft>
            </a:pPr>
            <a:r>
              <a:rPr sz="1100" b="1">
                <a:solidFill>
                  <a:srgbClr val="111B2A"/>
                </a:solidFill>
                <a:latin typeface="Calibri"/>
              </a:rPr>
              <a:t>Email transport</a:t>
            </a:r>
          </a:p>
          <a:p>
            <a:pPr>
              <a:lnSpc>
                <a:spcPct val="94000"/>
              </a:lnSpc>
              <a:spcAft>
                <a:spcPts val="300"/>
              </a:spcAft>
            </a:pPr>
            <a:r>
              <a:rPr sz="900" b="0">
                <a:solidFill>
                  <a:srgbClr val="1F2C3F"/>
                </a:solidFill>
                <a:latin typeface="Calibri"/>
              </a:rPr>
              <a:t>RFC 5321 — Simple Mail Transfer Protocol</a:t>
            </a:r>
          </a:p>
          <a:p>
            <a:pPr>
              <a:lnSpc>
                <a:spcPct val="94000"/>
              </a:lnSpc>
              <a:spcAft>
                <a:spcPts val="300"/>
              </a:spcAft>
            </a:pPr>
            <a:r>
              <a:rPr sz="900" b="0">
                <a:solidFill>
                  <a:srgbClr val="1F2C3F"/>
                </a:solidFill>
                <a:latin typeface="Calibri"/>
              </a:rPr>
              <a:t>RFC 3207 — SMTP Service Extension for Secure SMTP over TLS</a:t>
            </a:r>
          </a:p>
          <a:p>
            <a:pPr>
              <a:lnSpc>
                <a:spcPct val="94000"/>
              </a:lnSpc>
              <a:spcAft>
                <a:spcPts val="300"/>
              </a:spcAft>
            </a:pPr>
            <a:r>
              <a:rPr sz="900" b="0">
                <a:solidFill>
                  <a:srgbClr val="1F2C3F"/>
                </a:solidFill>
                <a:latin typeface="Calibri"/>
              </a:rPr>
              <a:t>RFC 9051 — IMAP version 4rev2</a:t>
            </a:r>
          </a:p>
          <a:p>
            <a:pPr>
              <a:lnSpc>
                <a:spcPct val="94000"/>
              </a:lnSpc>
              <a:spcAft>
                <a:spcPts val="300"/>
              </a:spcAft>
            </a:pPr>
            <a:r>
              <a:rPr sz="900" b="0">
                <a:solidFill>
                  <a:srgbClr val="1F2C3F"/>
                </a:solidFill>
                <a:latin typeface="Calibri"/>
              </a:rPr>
              <a:t>RFC 1939 — Post Office Protocol version 3</a:t>
            </a:r>
          </a:p>
          <a:p>
            <a:pPr>
              <a:lnSpc>
                <a:spcPct val="94000"/>
              </a:lnSpc>
              <a:spcAft>
                <a:spcPts val="300"/>
              </a:spcAft>
            </a:pPr>
            <a:r>
              <a:rPr sz="900" b="0">
                <a:solidFill>
                  <a:srgbClr val="1F2C3F"/>
                </a:solidFill>
                <a:latin typeface="Calibri"/>
              </a:rPr>
              <a:t>RFC 2595 — Using TLS with IMAP, POP3 and ACAP</a:t>
            </a:r>
          </a:p>
          <a:p>
            <a:pPr>
              <a:lnSpc>
                <a:spcPct val="94000"/>
              </a:lnSpc>
              <a:spcAft>
                <a:spcPts val="300"/>
              </a:spcAft>
            </a:pPr>
            <a:r>
              <a:rPr sz="900" b="0">
                <a:solidFill>
                  <a:srgbClr val="1F2C3F"/>
                </a:solidFill>
                <a:latin typeface="Calibri"/>
              </a:rPr>
              <a:t>RFC 2606 — Reserved Top Level DNS Names (.invalid, used by every synthetic fixture)</a:t>
            </a:r>
          </a:p>
          <a:p>
            <a:pPr>
              <a:lnSpc>
                <a:spcPct val="94000"/>
              </a:lnSpc>
              <a:spcAft>
                <a:spcPts val="300"/>
              </a:spcAft>
            </a:pPr>
            <a:r>
              <a:rPr sz="600" b="0">
                <a:solidFill>
                  <a:srgbClr val="111B2A"/>
                </a:solidFill>
                <a:latin typeface="Calibri"/>
              </a:rPr>
              <a:t/>
            </a:r>
          </a:p>
          <a:p>
            <a:pPr>
              <a:lnSpc>
                <a:spcPct val="94000"/>
              </a:lnSpc>
              <a:spcAft>
                <a:spcPts val="300"/>
              </a:spcAft>
            </a:pPr>
            <a:r>
              <a:rPr sz="1100" b="1">
                <a:solidFill>
                  <a:srgbClr val="111B2A"/>
                </a:solidFill>
                <a:latin typeface="Calibri"/>
              </a:rPr>
              <a:t>Libraries</a:t>
            </a:r>
          </a:p>
          <a:p>
            <a:pPr>
              <a:lnSpc>
                <a:spcPct val="94000"/>
              </a:lnSpc>
              <a:spcAft>
                <a:spcPts val="300"/>
              </a:spcAft>
            </a:pPr>
            <a:r>
              <a:rPr sz="900" b="0">
                <a:solidFill>
                  <a:srgbClr val="1F2C3F"/>
                </a:solidFill>
                <a:latin typeface="Calibri"/>
              </a:rPr>
              <a:t>Scapy · Pydantic · python-cryptography · FastAPI · SQLAlchemy · scikit-learn · ReportLab · React · Vite</a:t>
            </a:r>
          </a:p>
          <a:p>
            <a:pPr>
              <a:lnSpc>
                <a:spcPct val="94000"/>
              </a:lnSpc>
              <a:spcAft>
                <a:spcPts val="300"/>
              </a:spcAft>
            </a:pPr>
            <a:r>
              <a:rPr sz="900" b="0">
                <a:solidFill>
                  <a:srgbClr val="1F2C3F"/>
                </a:solidFill>
                <a:latin typeface="Calibri"/>
              </a:rPr>
              <a:t>TShark (Wireshark) — used as an independent dissector to cross-check our own parse</a:t>
            </a:r>
          </a:p>
        </p:txBody>
      </p:sp>
      <p:sp>
        <p:nvSpPr>
          <p:cNvPr id="17413" name="Rounded Rectangle 17412"/>
          <p:cNvSpPr/>
          <p:nvPr/>
        </p:nvSpPr>
        <p:spPr>
          <a:xfrm>
            <a:off x="411480" y="4462272"/>
            <a:ext cx="11384280" cy="1719072"/>
          </a:xfrm>
          <a:prstGeom prst="roundRect">
            <a:avLst/>
          </a:prstGeom>
          <a:solidFill>
            <a:srgbClr val="EEF3F9"/>
          </a:solidFill>
          <a:ln w="9525">
            <a:solidFill>
              <a:srgbClr val="C2D4E6"/>
            </a:solidFill>
          </a:ln>
          <a:effectLst/>
        </p:spPr>
        <p:style>
          <a:lnRef idx="1">
            <a:schemeClr val="accent1"/>
          </a:lnRef>
          <a:fillRef idx="3">
            <a:schemeClr val="accent1"/>
          </a:fillRef>
          <a:effectRef idx="2">
            <a:schemeClr val="accent1"/>
          </a:effectRef>
          <a:fontRef idx="minor">
            <a:schemeClr val="lt1"/>
          </a:fontRef>
        </p:style>
        <p:txBody>
          <a:bodyPr rtlCol="0" anchor="t" wrap="square" tIns="54864" bIns="54864"/>
          <a:lstStyle/>
          <a:p>
            <a:pPr algn="ctr">
              <a:lnSpc>
                <a:spcPct val="92000"/>
              </a:lnSpc>
              <a:spcAft>
                <a:spcPts val="300"/>
              </a:spcAft>
            </a:pPr>
            <a:r>
              <a:rPr sz="1100" b="1">
                <a:solidFill>
                  <a:srgbClr val="0B5FA5"/>
                </a:solidFill>
                <a:latin typeface="Calibri"/>
              </a:rPr>
              <a:t>Project research and documentation — written alongside the code, in this repository</a:t>
            </a:r>
          </a:p>
          <a:p>
            <a:pPr>
              <a:lnSpc>
                <a:spcPct val="92000"/>
              </a:lnSpc>
              <a:spcAft>
                <a:spcPts val="300"/>
              </a:spcAft>
            </a:pPr>
            <a:r>
              <a:rPr sz="900" b="0">
                <a:solidFill>
                  <a:srgbClr val="1F2C3F"/>
                </a:solidFill>
                <a:latin typeface="Calibri"/>
              </a:rPr>
              <a:t>docs/evidence-model.md — the four evidence statuses and how provenance is tracked   ·   docs/scoring-methodology.md — the formula, the bands, and why a multi-capture headline is the weakest capture rather than an average</a:t>
            </a:r>
          </a:p>
          <a:p>
            <a:pPr>
              <a:lnSpc>
                <a:spcPct val="92000"/>
              </a:lnSpc>
              <a:spcAft>
                <a:spcPts val="300"/>
              </a:spcAft>
            </a:pPr>
            <a:r>
              <a:rPr sz="900" b="0">
                <a:solidFill>
                  <a:srgbClr val="1F2C3F"/>
                </a:solidFill>
                <a:latin typeface="Calibri"/>
              </a:rPr>
              <a:t>docs/limitations.md — what passive analysis cannot do   ·   docs/threat-model.md — risks from untrusted captures and how each is bounded   ·   docs/security-audit.md — the local threat model, the controls, and what the audit did not cover</a:t>
            </a:r>
          </a:p>
          <a:p>
            <a:pPr>
              <a:lnSpc>
                <a:spcPct val="92000"/>
              </a:lnSpc>
              <a:spcAft>
                <a:spcPts val="300"/>
              </a:spcAft>
            </a:pPr>
            <a:r>
              <a:rPr sz="900" b="0">
                <a:solidFill>
                  <a:srgbClr val="1F2C3F"/>
                </a:solidFill>
                <a:latin typeface="Calibri"/>
              </a:rPr>
              <a:t>docs/ml-methodology.md and docs/ml-model-card.md — why a deterministic rarity baseline was selected over a trained Isolation Forest by measurement, and what the models are not fit for   ·   docs/ml-evaluation.md — the metrics and the synthetic dataset they describe</a:t>
            </a:r>
          </a:p>
          <a:p>
            <a:pPr>
              <a:lnSpc>
                <a:spcPct val="92000"/>
              </a:lnSpc>
              <a:spcAft>
                <a:spcPts val="300"/>
              </a:spcAft>
            </a:pPr>
            <a:r>
              <a:rPr sz="900" b="0">
                <a:solidFill>
                  <a:srgbClr val="1F2C3F"/>
                </a:solidFill>
                <a:latin typeface="Calibri"/>
              </a:rPr>
              <a:t>docs/performance-benchmarks.md — measurements, thresholds committed beforehand, and a published failing run   ·   docs/requirements-matrix.md — every requirement mapped to a module, a test and an honest status</a:t>
            </a:r>
          </a:p>
        </p:txBody>
      </p:sp>
    </p:spTree>
    <p:extLst>
      <p:ext uri="{BB962C8B-B14F-4D97-AF65-F5344CB8AC3E}">
        <p14:creationId xmlns:p14="http://schemas.microsoft.com/office/powerpoint/2010/main" val="39167886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7489</TotalTime>
  <Words>325</Words>
  <Application>Microsoft Office PowerPoint</Application>
  <PresentationFormat>Widescreen</PresentationFormat>
  <Paragraphs>62</Paragraphs>
  <Slides>7</Slides>
  <Notes>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vt:i4>
      </vt:variant>
    </vt:vector>
  </HeadingPairs>
  <TitlesOfParts>
    <vt:vector size="15" baseType="lpstr">
      <vt:lpstr>ＭＳ Ｐゴシック</vt:lpstr>
      <vt:lpstr>Arial</vt:lpstr>
      <vt:lpstr>Calibri</vt:lpstr>
      <vt:lpstr>Garamond</vt:lpstr>
      <vt:lpstr>Times New Roman</vt:lpstr>
      <vt:lpstr>TradeGothic</vt:lpstr>
      <vt:lpstr>Wingdings</vt:lpstr>
      <vt:lpstr>Office Theme</vt:lpstr>
      <vt:lpstr>SMART INDIA HACKATHON 2026</vt:lpstr>
      <vt:lpstr> IDEA TITLE</vt:lpstr>
      <vt:lpstr>TECHNICAL APPROACH</vt:lpstr>
      <vt:lpstr>FEASIBILITY AND VIABILITY</vt:lpstr>
      <vt:lpstr>IMPACT AND BENEFITS</vt:lpstr>
      <vt:lpstr>RESEARCH  AND REFERENCES</vt:lpstr>
      <vt:lpstr>PowerPoint Presentation</vt:lpstr>
    </vt:vector>
  </TitlesOfParts>
  <Manager/>
  <Company>Crowdfunder, Inc.</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Investor Pitch Deck Template</dc:title>
  <dc:subject/>
  <dc:creator>Crowdfunder</dc:creator>
  <cp:keywords/>
  <dc:description/>
  <cp:lastModifiedBy>AICTE</cp:lastModifiedBy>
  <cp:revision>148</cp:revision>
  <dcterms:created xsi:type="dcterms:W3CDTF">2013-12-12T18:46:50Z</dcterms:created>
  <dcterms:modified xsi:type="dcterms:W3CDTF">2026-06-02T09:29:39Z</dcterms:modified>
  <cp:category/>
</cp:coreProperties>
</file>