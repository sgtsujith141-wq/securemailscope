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github.com/sgtsujith141-wq/securemailscope" TargetMode="External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3163824"/>
            <a:ext cx="6949440" cy="2834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Problem Statement ID – SIH26159</a:t>
            </a:r>
            <a:endParaRPr lang="en-US" dirty="0"/>
          </a:p>
          <a:p>
            <a:pPr marL="219456" indent="-219456"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Problem Statement Title – SecureMailScope: AI-Assisted Cryptographic Security Posture Assessment for Secure Email Communications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Organisation – National Technical Research Organisation (NTRO)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Theme – Blockchain &amp; Cybersecurity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PS Category – Software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Team ID – 146876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Team Name (Registered on portal) – Zero-Day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1938528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300"/>
              </a:spcAft>
              <a:buNone/>
            </a:pPr>
            <a:r>
              <a:rPr sz="4000" b="1">
                <a:solidFill>
                  <a:srgbClr val="0B5FA5"/>
                </a:solidFill>
                <a:latin typeface="Calibri"/>
              </a:rPr>
              <a:t>SecureMailScope</a:t>
            </a:r>
          </a:p>
          <a:p>
            <a:pPr>
              <a:lnSpc>
                <a:spcPct val="104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F2C3F"/>
                </a:solidFill>
                <a:latin typeface="Calibri"/>
              </a:rPr>
              <a:t>AI-Assisted Cryptographic Security Posture Assessment for Secure Email Communications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1847088"/>
            <a:ext cx="1188720" cy="45720"/>
          </a:xfrm>
          <a:prstGeom prst="rect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84048" y="1097280"/>
            <a:ext cx="11420856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00000"/>
              </a:lnSpc>
              <a:spcAft>
                <a:spcPts val="300"/>
              </a:spcAft>
              <a:buFont typeface="Wingdings" panose="05000000000000000000" pitchFamily="2" charset="2"/>
              <a:buNone/>
            </a:pPr>
            <a:r>
              <a:rPr sz="1800" b="1">
                <a:solidFill>
                  <a:srgbClr val="0B5FA5"/>
                </a:solidFill>
                <a:latin typeface="Calibri"/>
              </a:rPr>
              <a:t>SecureMailScope turns passive email packet captures into evidence-backed cryptographic investigations.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384048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PCAP / PCAPNG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authorised capture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2339340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TCP RECONSTRUCTION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sessions rebuilt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294632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SMTP · IMAP · POP3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from the dialogue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6249924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STARTTLS · STLS · TLS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upgrade and handshake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8205216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CRYPTOGRAPHIC EVIDENCE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versions, suites, certificates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10160508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RISK + REMEDIATION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ranked, with the fix</a:t>
            </a:r>
          </a:p>
        </p:txBody>
      </p:sp>
      <p:sp>
        <p:nvSpPr>
          <p:cNvPr id="15369" name="Right Arrow 15368"/>
          <p:cNvSpPr/>
          <p:nvPr/>
        </p:nvSpPr>
        <p:spPr>
          <a:xfrm>
            <a:off x="2083308" y="1975104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Right Arrow 15369"/>
          <p:cNvSpPr/>
          <p:nvPr/>
        </p:nvSpPr>
        <p:spPr>
          <a:xfrm>
            <a:off x="4038600" y="1975104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ight Arrow 15370"/>
          <p:cNvSpPr/>
          <p:nvPr/>
        </p:nvSpPr>
        <p:spPr>
          <a:xfrm>
            <a:off x="5993892" y="1975104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ight Arrow 15371"/>
          <p:cNvSpPr/>
          <p:nvPr/>
        </p:nvSpPr>
        <p:spPr>
          <a:xfrm>
            <a:off x="7949184" y="1975104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ight Arrow 15372"/>
          <p:cNvSpPr/>
          <p:nvPr/>
        </p:nvSpPr>
        <p:spPr>
          <a:xfrm>
            <a:off x="9904476" y="1975104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4" name="Picture 15373" descr="crop-0.11-0.022-1.0-0.243-02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578608"/>
            <a:ext cx="7315200" cy="3150373"/>
          </a:xfrm>
          <a:prstGeom prst="rect">
            <a:avLst/>
          </a:prstGeom>
        </p:spPr>
      </p:pic>
      <p:sp>
        <p:nvSpPr>
          <p:cNvPr id="15375" name="Rectangle 15374"/>
          <p:cNvSpPr/>
          <p:nvPr/>
        </p:nvSpPr>
        <p:spPr>
          <a:xfrm>
            <a:off x="384048" y="2578608"/>
            <a:ext cx="7315200" cy="3150373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384048" y="5765557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The investigation opens on its conclusion. Actual product output.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7845552" y="2578608"/>
            <a:ext cx="3959352" cy="10501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PASSIVE BY DESIGN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Existing captures only. No live probe, no connection back to the mail server, nothing leaves the machine.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7845552" y="3775036"/>
            <a:ext cx="3959352" cy="10501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EVIDENCE-FIRST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Every finding traces back to the packet-level observations that establish it — number, timestamp and stream offset.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7845552" y="4971464"/>
            <a:ext cx="3959352" cy="10501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AI + CROSS-CAPTURE INTELLIGENCE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ML-assisted risk triage alongside cryptographic fingerprints, configuration drift and correlation.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932688"/>
            <a:ext cx="11420856" cy="347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00000"/>
              </a:lnSpc>
              <a:spcAft>
                <a:spcPts val="300"/>
              </a:spcAft>
              <a:buFont typeface="Arial" panose="020B0604020202020204" pitchFamily="34" charset="0"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Each stage consumes the previous stage’s evidence and preserves packet-level provenance.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335024"/>
            <a:ext cx="1793737" cy="2743200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INPUT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75488" y="2039111"/>
            <a:ext cx="1610857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PCAP / PCAPNG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authorised capture</a:t>
            </a:r>
          </a:p>
        </p:txBody>
      </p:sp>
      <p:sp>
        <p:nvSpPr>
          <p:cNvPr id="17413" name="Down Arrow 17412"/>
          <p:cNvSpPr/>
          <p:nvPr/>
        </p:nvSpPr>
        <p:spPr>
          <a:xfrm>
            <a:off x="1198620" y="2724911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475488" y="2843784"/>
            <a:ext cx="1610857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Safe ingestion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format from the bytes, 8 limits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2324089" y="1335024"/>
            <a:ext cx="2196413" cy="2743200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RECONSTRUCTION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415529" y="1636775"/>
            <a:ext cx="2013533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Packet decode</a:t>
            </a:r>
          </a:p>
        </p:txBody>
      </p:sp>
      <p:sp>
        <p:nvSpPr>
          <p:cNvPr id="17417" name="Down Arrow 17416"/>
          <p:cNvSpPr/>
          <p:nvPr/>
        </p:nvSpPr>
        <p:spPr>
          <a:xfrm>
            <a:off x="3340000" y="2121407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2415529" y="2240279"/>
            <a:ext cx="2013533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TCP reassembly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reorder · retransmit · gaps</a:t>
            </a:r>
          </a:p>
        </p:txBody>
      </p:sp>
      <p:sp>
        <p:nvSpPr>
          <p:cNvPr id="17419" name="Down Arrow 17418"/>
          <p:cNvSpPr/>
          <p:nvPr/>
        </p:nvSpPr>
        <p:spPr>
          <a:xfrm>
            <a:off x="3340000" y="2724911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2415529" y="2843784"/>
            <a:ext cx="2013533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SMTP · IMAP · POP3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state machines, not ports</a:t>
            </a:r>
          </a:p>
        </p:txBody>
      </p:sp>
      <p:sp>
        <p:nvSpPr>
          <p:cNvPr id="17421" name="Down Arrow 17420"/>
          <p:cNvSpPr/>
          <p:nvPr/>
        </p:nvSpPr>
        <p:spPr>
          <a:xfrm>
            <a:off x="3340000" y="3328415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2415529" y="3447288"/>
            <a:ext cx="2013533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STARTTLS · STLS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advertised · requested · outcome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666807" y="1335024"/>
            <a:ext cx="2269627" cy="2743200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CRYPTOGRAPHIC ASSESSMENT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758247" y="1636775"/>
            <a:ext cx="2086747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TLS handshake → X.509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version · suite · key exchange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5719324" y="2121407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4758247" y="2240279"/>
            <a:ext cx="2086747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Certificate analysis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where passively observable</a:t>
            </a:r>
          </a:p>
        </p:txBody>
      </p:sp>
      <p:sp>
        <p:nvSpPr>
          <p:cNvPr id="17427" name="Down Arrow 17426"/>
          <p:cNvSpPr/>
          <p:nvPr/>
        </p:nvSpPr>
        <p:spPr>
          <a:xfrm>
            <a:off x="5719324" y="2724911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4758247" y="2843784"/>
            <a:ext cx="2086747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25 deterministic rules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versioned and fingerprinted</a:t>
            </a:r>
          </a:p>
        </p:txBody>
      </p:sp>
      <p:sp>
        <p:nvSpPr>
          <p:cNvPr id="17429" name="Down Arrow 17428"/>
          <p:cNvSpPr/>
          <p:nvPr/>
        </p:nvSpPr>
        <p:spPr>
          <a:xfrm>
            <a:off x="5719324" y="3328415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4758247" y="3447288"/>
            <a:ext cx="2086747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Score · coverage · priority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arithmetic shown, not asserted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7082738" y="1335024"/>
            <a:ext cx="2489268" cy="111556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DETERMINISTIC INTELLIGENCE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174178" y="1545336"/>
            <a:ext cx="2306388" cy="23774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Cryptographic fingerprint</a:t>
            </a:r>
          </a:p>
        </p:txBody>
      </p:sp>
      <p:sp>
        <p:nvSpPr>
          <p:cNvPr id="17433" name="Down Arrow 17432"/>
          <p:cNvSpPr/>
          <p:nvPr/>
        </p:nvSpPr>
        <p:spPr>
          <a:xfrm>
            <a:off x="8245076" y="1792224"/>
            <a:ext cx="164592" cy="5486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7174178" y="1856231"/>
            <a:ext cx="2306388" cy="23774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Cross-session correlation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8245076" y="2103120"/>
            <a:ext cx="164592" cy="5486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7174178" y="2167128"/>
            <a:ext cx="2306388" cy="23774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Configuration drift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082738" y="2542032"/>
            <a:ext cx="2489268" cy="1536192"/>
          </a:xfrm>
          <a:prstGeom prst="roundRect">
            <a:avLst/>
          </a:prstGeom>
          <a:solidFill>
            <a:srgbClr val="FDF5E7"/>
          </a:solidFill>
          <a:ln w="15875">
            <a:solidFill>
              <a:srgbClr val="DCB8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800" b="1">
                <a:solidFill>
                  <a:srgbClr val="A83A1E"/>
                </a:solidFill>
                <a:latin typeface="Calibri"/>
              </a:rPr>
              <a:t>AI-ASSISTED TRIAGE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174178" y="2779775"/>
            <a:ext cx="2306388" cy="274320"/>
          </a:xfrm>
          <a:prstGeom prst="roundRect">
            <a:avLst/>
          </a:prstGeom>
          <a:solidFill>
            <a:srgbClr val="FFFDF8"/>
          </a:solidFill>
          <a:ln w="9525">
            <a:solidFill>
              <a:srgbClr val="DCB8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93-feature vector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cryptographic · session · evidence</a:t>
            </a:r>
          </a:p>
        </p:txBody>
      </p:sp>
      <p:sp>
        <p:nvSpPr>
          <p:cNvPr id="17439" name="Down Arrow 17438"/>
          <p:cNvSpPr/>
          <p:nvPr/>
        </p:nvSpPr>
        <p:spPr>
          <a:xfrm>
            <a:off x="8245076" y="3063239"/>
            <a:ext cx="164592" cy="5486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7174178" y="3127247"/>
            <a:ext cx="2306388" cy="274320"/>
          </a:xfrm>
          <a:prstGeom prst="roundRect">
            <a:avLst/>
          </a:prstGeom>
          <a:solidFill>
            <a:srgbClr val="FFFDF8"/>
          </a:solidFill>
          <a:ln w="9525">
            <a:solidFill>
              <a:srgbClr val="DCB8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Supervised classifier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logistic regression</a:t>
            </a:r>
          </a:p>
        </p:txBody>
      </p:sp>
      <p:sp>
        <p:nvSpPr>
          <p:cNvPr id="17441" name="Down Arrow 17440"/>
          <p:cNvSpPr/>
          <p:nvPr/>
        </p:nvSpPr>
        <p:spPr>
          <a:xfrm>
            <a:off x="8245076" y="3410711"/>
            <a:ext cx="164592" cy="54864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7174178" y="3474719"/>
            <a:ext cx="2306388" cy="274320"/>
          </a:xfrm>
          <a:prstGeom prst="roundRect">
            <a:avLst/>
          </a:prstGeom>
          <a:solidFill>
            <a:srgbClr val="FFFDF8"/>
          </a:solidFill>
          <a:ln w="9525">
            <a:solidFill>
              <a:srgbClr val="DCB8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Advisory risk class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CRITICAL · HIGH · MODERATE · LOW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7174178" y="3803904"/>
            <a:ext cx="230638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0000"/>
              </a:lnSpc>
              <a:spcAft>
                <a:spcPts val="300"/>
              </a:spcAft>
              <a:buNone/>
            </a:pPr>
            <a:r>
              <a:rPr sz="850" b="1">
                <a:solidFill>
                  <a:srgbClr val="A83A1E"/>
                </a:solidFill>
                <a:latin typeface="Calibri"/>
              </a:rPr>
              <a:t>Advisory only — never overrides deterministic evidence or scoring.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9718311" y="1335024"/>
            <a:ext cx="2086592" cy="2743200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OUTPUT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9809751" y="1636775"/>
            <a:ext cx="1903712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Canonical report model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schema 1.4.0</a:t>
            </a:r>
          </a:p>
        </p:txBody>
      </p:sp>
      <p:sp>
        <p:nvSpPr>
          <p:cNvPr id="17446" name="Down Arrow 17445"/>
          <p:cNvSpPr/>
          <p:nvPr/>
        </p:nvSpPr>
        <p:spPr>
          <a:xfrm>
            <a:off x="10679311" y="2121407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Rounded Rectangle 17446"/>
          <p:cNvSpPr/>
          <p:nvPr/>
        </p:nvSpPr>
        <p:spPr>
          <a:xfrm>
            <a:off x="9809751" y="2240279"/>
            <a:ext cx="1903712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FastAPI + SQLite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loopback only, token</a:t>
            </a:r>
          </a:p>
        </p:txBody>
      </p:sp>
      <p:sp>
        <p:nvSpPr>
          <p:cNvPr id="17448" name="Down Arrow 17447"/>
          <p:cNvSpPr/>
          <p:nvPr/>
        </p:nvSpPr>
        <p:spPr>
          <a:xfrm>
            <a:off x="10679311" y="2724911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Rounded Rectangle 17448"/>
          <p:cNvSpPr/>
          <p:nvPr/>
        </p:nvSpPr>
        <p:spPr>
          <a:xfrm>
            <a:off x="9809751" y="2843784"/>
            <a:ext cx="1903712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React workspace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evidence-linked throughout</a:t>
            </a:r>
          </a:p>
        </p:txBody>
      </p:sp>
      <p:sp>
        <p:nvSpPr>
          <p:cNvPr id="17450" name="Down Arrow 17449"/>
          <p:cNvSpPr/>
          <p:nvPr/>
        </p:nvSpPr>
        <p:spPr>
          <a:xfrm>
            <a:off x="10679311" y="3328415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1" name="Rounded Rectangle 17450"/>
          <p:cNvSpPr/>
          <p:nvPr/>
        </p:nvSpPr>
        <p:spPr>
          <a:xfrm>
            <a:off x="9809751" y="3447288"/>
            <a:ext cx="1903712" cy="47548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JSON · HTML · PDF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750" b="0">
                <a:solidFill>
                  <a:srgbClr val="4A5A70"/>
                </a:solidFill>
                <a:latin typeface="Calibri"/>
              </a:rPr>
              <a:t>parity-tested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384048" y="4169663"/>
            <a:ext cx="11420856" cy="65836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EVIDENCE RAIL — WHAT EVERY FINDING CARRIES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512064" y="4407407"/>
            <a:ext cx="1601724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PACKET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2424683" y="4407407"/>
            <a:ext cx="1601724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OBSERVATION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4337304" y="4407407"/>
            <a:ext cx="1601724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CRYPTO FACT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249924" y="4407407"/>
            <a:ext cx="1601724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RULE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8162543" y="4407407"/>
            <a:ext cx="1601724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FINDING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10075164" y="4407407"/>
            <a:ext cx="1601724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REMEDIATION</a:t>
            </a:r>
          </a:p>
        </p:txBody>
      </p:sp>
      <p:sp>
        <p:nvSpPr>
          <p:cNvPr id="17459" name="Right Arrow 17458"/>
          <p:cNvSpPr/>
          <p:nvPr/>
        </p:nvSpPr>
        <p:spPr>
          <a:xfrm>
            <a:off x="2168652" y="449884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0" name="Right Arrow 17459"/>
          <p:cNvSpPr/>
          <p:nvPr/>
        </p:nvSpPr>
        <p:spPr>
          <a:xfrm>
            <a:off x="4081271" y="449884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Right Arrow 17460"/>
          <p:cNvSpPr/>
          <p:nvPr/>
        </p:nvSpPr>
        <p:spPr>
          <a:xfrm>
            <a:off x="5993892" y="449884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2" name="Right Arrow 17461"/>
          <p:cNvSpPr/>
          <p:nvPr/>
        </p:nvSpPr>
        <p:spPr>
          <a:xfrm>
            <a:off x="7906512" y="449884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3" name="Right Arrow 17462"/>
          <p:cNvSpPr/>
          <p:nvPr/>
        </p:nvSpPr>
        <p:spPr>
          <a:xfrm>
            <a:off x="9819132" y="449884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4" name="Rounded Rectangle 17463"/>
          <p:cNvSpPr/>
          <p:nvPr/>
        </p:nvSpPr>
        <p:spPr>
          <a:xfrm>
            <a:off x="384048" y="4919472"/>
            <a:ext cx="2167128" cy="69494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ENGINE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1F2C3F"/>
                </a:solidFill>
                <a:latin typeface="Calibri"/>
              </a:rPr>
              <a:t>Python · Scapy · cryptography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2697480" y="4919472"/>
            <a:ext cx="2167128" cy="69494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APPLICATION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1F2C3F"/>
                </a:solidFill>
                <a:latin typeface="Calibri"/>
              </a:rPr>
              <a:t>FastAPI · SQLite · React · TypeScript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5010912" y="4919472"/>
            <a:ext cx="2167128" cy="69494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A83A1E"/>
                </a:solidFill>
                <a:latin typeface="Calibri"/>
              </a:rPr>
              <a:t>AI / ANALYTICS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1F2C3F"/>
                </a:solidFill>
                <a:latin typeface="Calibri"/>
              </a:rPr>
              <a:t>scikit-learn · supervised risk classifier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7324344" y="4919472"/>
            <a:ext cx="2167128" cy="69494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VALIDATION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1F2C3F"/>
                </a:solidFill>
                <a:latin typeface="Calibri"/>
              </a:rPr>
              <a:t>pytest · Playwright · TShark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9637776" y="4919472"/>
            <a:ext cx="2167128" cy="69494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B6B3A"/>
                </a:solidFill>
                <a:latin typeface="Calibri"/>
              </a:rPr>
              <a:t>GUARANTEES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1F2C3F"/>
                </a:solidFill>
                <a:latin typeface="Calibri"/>
              </a:rPr>
              <a:t>Passive · Local-first · Evidence-linked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384048" y="5687568"/>
            <a:ext cx="11420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The classifier is trained on 313 synthetic sessions and is NOT VALIDATED for real-world risk; deterministic packet evidence remains authoritative throughout.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1042415"/>
            <a:ext cx="11420856" cy="347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Feasible to build, feasible to operate, feasible to deploy and feasible to maintain — each with its own evidence.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0B5FA5"/>
                </a:solidFill>
                <a:latin typeface="Calibri"/>
              </a:rPr>
              <a:t>1,357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backend tests pass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31190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0B5FA5"/>
                </a:solidFill>
                <a:latin typeface="Calibri"/>
              </a:rPr>
              <a:t>1,367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with the TShark cross-check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3976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0B5FA5"/>
                </a:solidFill>
                <a:latin typeface="Calibri"/>
              </a:rPr>
              <a:t>89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frontend tests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762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0B5FA5"/>
                </a:solidFill>
                <a:latin typeface="Calibri"/>
              </a:rPr>
              <a:t>5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real-backend browser E2E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09548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0B5FA5"/>
                </a:solidFill>
                <a:latin typeface="Calibri"/>
              </a:rPr>
              <a:t>158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files ruff + mypy clean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1002334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1B6B3A"/>
                </a:solidFill>
                <a:latin typeface="Calibri"/>
              </a:rPr>
              <a:t>0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known advisories at audit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84048" y="2377440"/>
            <a:ext cx="5637276" cy="13624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TECHNICALLY FEASIBLE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The pipeline runs end to end today: PCAP → reconstruction → cryptographic assessment → findings → reports.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Every figure in the strip above was produced by running the gate, not by asserting it.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167628" y="2377440"/>
            <a:ext cx="5637276" cy="13624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OPERATIONALLY FEASIBLE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No agent installation · no mail-server modification · no credentials required · no active probing.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Works from the authorised PCAP / PCAPNG an organisation already collects.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84048" y="3886200"/>
            <a:ext cx="5637276" cy="13624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1B6B3A"/>
                </a:solidFill>
                <a:latin typeface="Calibri"/>
              </a:rPr>
              <a:t>DEPLOYMENT VIABLE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Local-first: FastAPI + React + SQLite. Core analysis works offline.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Captured traffic never needs to be uploaded to a cloud service; it runs as a self-contained investigation workstation.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67628" y="3886200"/>
            <a:ext cx="5637276" cy="13624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MAINTAINABLE / EXTENSIBLE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Versioned policy rules · modular protocol and TLS pipeline · canonical report model · independent TShark cross-check.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New deterministic rules can be added without redesigning the capture pipeline.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84048" y="5394960"/>
            <a:ext cx="11420856" cy="749808"/>
          </a:xfrm>
          <a:prstGeom prst="roundRect">
            <a:avLst/>
          </a:prstGeom>
          <a:solidFill>
            <a:srgbClr val="FDF2EC"/>
          </a:solidFill>
          <a:ln w="9525">
            <a:solidFill>
              <a:srgbClr val="EE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4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A83A1E"/>
                </a:solidFill>
                <a:latin typeface="Calibri"/>
              </a:rPr>
              <a:t>KNOWN BOUNDARIES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TLS 1.3 may encrypt certificate evidence a passive capture cannot recover; it is reported NOT AVAILABLE with the reason, never guessed.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The AI classifier remains advisory until real-world validation; it never overrides a deterministic finding or the score.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1042415"/>
            <a:ext cx="11420856" cy="347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What changes for the organisation that adopts it — and for the people who have to act on the result.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444752"/>
            <a:ext cx="2167128" cy="14813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REDUCES MANUAL ANALYSIS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Turns captures into structured cryptographic findings instead of an analyst reading every TLS negotiation by hand.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697480" y="1444752"/>
            <a:ext cx="2167128" cy="14813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NO PRODUCTION EXPOSURE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Assesses posture without modifying the mail server, deploying agents, scanning or using credentials.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010912" y="1444752"/>
            <a:ext cx="2167128" cy="14813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MAKES FINDINGS DEFENSIBLE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Each conclusion links to capture, session, packet, timestamp, rule and remediation — independently verifiable.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324344" y="1444752"/>
            <a:ext cx="2167128" cy="14813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PRIORITISES REMEDIATION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Severity, confidence, priority and a named fix, rather than raw protocol data.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637776" y="1444752"/>
            <a:ext cx="2167128" cy="14813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DETECTS REGRESSION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Cross-capture drift reveals changes in observed cryptographic posture between captures of the same service.</a:t>
            </a:r>
          </a:p>
        </p:txBody>
      </p:sp>
      <p:pic>
        <p:nvPicPr>
          <p:cNvPr id="17416" name="Picture 17415" descr="crop-0.11-0.15-1.0-0.648-04-finding-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054096"/>
            <a:ext cx="4587563" cy="1589138"/>
          </a:xfrm>
          <a:prstGeom prst="rect">
            <a:avLst/>
          </a:prstGeom>
        </p:spPr>
      </p:pic>
      <p:sp>
        <p:nvSpPr>
          <p:cNvPr id="17417" name="Rectangle 17416"/>
          <p:cNvSpPr/>
          <p:nvPr/>
        </p:nvSpPr>
        <p:spPr>
          <a:xfrm>
            <a:off x="384048" y="3054096"/>
            <a:ext cx="4587563" cy="1589138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384048" y="4679810"/>
            <a:ext cx="45875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DEFENSIBLE — the finding, its rule and the packets it was evaluated against.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117915" y="3054096"/>
            <a:ext cx="3724556" cy="188174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REGRESSION OVER TIME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1">
                <a:solidFill>
                  <a:srgbClr val="A83A1E"/>
                </a:solidFill>
                <a:latin typeface="Calibri"/>
              </a:rPr>
              <a:t>negotiated version · OBSERVED_CHANGE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392235" y="3602736"/>
            <a:ext cx="1405078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1">
                <a:solidFill>
                  <a:srgbClr val="4A5A70"/>
                </a:solidFill>
                <a:latin typeface="Calibri"/>
              </a:rPr>
              <a:t>EARLIER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TLS 1.2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7163073" y="3602736"/>
            <a:ext cx="1405078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1">
                <a:solidFill>
                  <a:srgbClr val="4A5A70"/>
                </a:solidFill>
                <a:latin typeface="Calibri"/>
              </a:rPr>
              <a:t>LATER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A83A1E"/>
                </a:solidFill>
                <a:latin typeface="Calibri"/>
              </a:rPr>
              <a:t>TLS 1.0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6852177" y="3831335"/>
            <a:ext cx="25603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5264219" y="4405490"/>
            <a:ext cx="34319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The same observed service, two captures. The change is recorded as OBSERVED_CHANGE, never inferred.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8988775" y="3054096"/>
            <a:ext cx="2816128" cy="1881746"/>
          </a:xfrm>
          <a:prstGeom prst="roundRect">
            <a:avLst/>
          </a:prstGeom>
          <a:solidFill>
            <a:srgbClr val="EEF7F0"/>
          </a:solidFill>
          <a:ln w="9525">
            <a:solidFill>
              <a:srgbClr val="C6E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1B6B3A"/>
                </a:solidFill>
                <a:latin typeface="Calibri"/>
              </a:rPr>
              <a:t>KEEPS SENSITIVE TRAFFIC LOCAL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Captured enterprise and government email metadata does not need to be sent to an external AI or cloud service for core analysis.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The engine opens no socket. The only traffic is the browser talking to 127.0.0.1.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84048" y="5084064"/>
            <a:ext cx="2167128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SOC / SECURITY ANALYSTS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697480" y="5084064"/>
            <a:ext cx="2167128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INCIDENT RESPONSE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5010912" y="5084064"/>
            <a:ext cx="2167128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MAIL ADMINISTRATORS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7324344" y="5084064"/>
            <a:ext cx="2167128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AUDIT / ASSURANCE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9637776" y="5084064"/>
            <a:ext cx="2167128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GOVERNMENT / ENTERPRISE SECURITY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84048" y="5650992"/>
            <a:ext cx="11420856" cy="420624"/>
          </a:xfrm>
          <a:prstGeom prst="roundRect">
            <a:avLst/>
          </a:prstGeom>
          <a:solidFill>
            <a:srgbClr val="EFF5EF"/>
          </a:solidFill>
          <a:ln w="9525">
            <a:solidFill>
              <a:srgbClr val="CFE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2D5A3A"/>
                </a:solidFill>
                <a:latin typeface="Calibri"/>
              </a:rPr>
              <a:t>Benefits demonstrated on controlled synthetic captures; no production deployment and no measured time-saving claim.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1042415"/>
            <a:ext cx="11420856" cy="347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The standards the rules cite, and the pipeline every claim in this deck is checked by.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444752"/>
            <a:ext cx="3709416" cy="13350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CORE TLS / PKI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8446 — TLS 1.3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9325 — secure use of TLS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5280 — X.509 and CRL profile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NIST SP 800-52 Rev. 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39768" y="1444752"/>
            <a:ext cx="3709416" cy="13350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EMAIL SECURITY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5321 — SMTP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3207 — STARTTLS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9051 — IMAP 4rev2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1939 / RFC 2595 — POP3 and TLS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095488" y="1444752"/>
            <a:ext cx="3709416" cy="13350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VALIDATION / TOOLING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Wireshark / TShark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Scapy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cryptography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pytest · Playwright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84048" y="2926080"/>
            <a:ext cx="11420856" cy="157276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750" b="1">
                <a:solidFill>
                  <a:srgbClr val="8A9BB0"/>
                </a:solidFill>
                <a:latin typeface="Calibri"/>
              </a:rPr>
              <a:t>HOW EVERY CLAIM IS CHECKED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30352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CONTROLLED FIXTURES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one fixed seed, identical bytes everywhere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436876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HAND-DERIVED EXPECTATIONS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written by hand, committed, not read back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343400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ENGINE UNDER TEST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1,357 tests; captures stay out of git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249924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INDEPENDENT TSHARK CROSS-CHECK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against Wireshark’s own dissector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156448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REAL-BACKEND PLAYWRIGHT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five browser specs, including a restart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10062972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50" b="1">
                <a:solidFill>
                  <a:srgbClr val="111B2A"/>
                </a:solidFill>
                <a:latin typeface="Calibri"/>
              </a:rPr>
              <a:t>REPORT PARITY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JSON, HTML and PDF asserted to agree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2180844" y="367588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ight Arrow 17421"/>
          <p:cNvSpPr/>
          <p:nvPr/>
        </p:nvSpPr>
        <p:spPr>
          <a:xfrm>
            <a:off x="4087368" y="367588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ight Arrow 17422"/>
          <p:cNvSpPr/>
          <p:nvPr/>
        </p:nvSpPr>
        <p:spPr>
          <a:xfrm>
            <a:off x="5993892" y="367588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ight Arrow 17423"/>
          <p:cNvSpPr/>
          <p:nvPr/>
        </p:nvSpPr>
        <p:spPr>
          <a:xfrm>
            <a:off x="7900416" y="367588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ight Arrow 17424"/>
          <p:cNvSpPr/>
          <p:nvPr/>
        </p:nvSpPr>
        <p:spPr>
          <a:xfrm>
            <a:off x="9806940" y="367588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384048" y="4754880"/>
            <a:ext cx="6766560" cy="106070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PROJECT</a:t>
            </a:r>
          </a:p>
          <a:p>
            <a:pPr>
              <a:lnSpc>
                <a:spcPct val="88000"/>
              </a:lnSpc>
              <a:spcAft>
                <a:spcPts val="200"/>
              </a:spcAft>
              <a:buNone/>
            </a:pPr>
            <a:r>
              <a:rPr sz="1150" b="1">
                <a:solidFill>
                  <a:srgbClr val="111B2A"/>
                </a:solidFill>
                <a:latin typeface="Calibri"/>
              </a:rPr>
              <a:t>GitHub repository  </a:t>
            </a:r>
            <a:r>
              <a:rPr sz="1150" u="sng">
                <a:solidFill>
                  <a:srgbClr val="0B5FA5"/>
                </a:solidFill>
                <a:latin typeface="Calibri"/>
                <a:hlinkClick r:id="rId4"/>
              </a:rPr>
              <a:t>https://github.com/sgtsujith141-wq/securemailscope</a:t>
            </a:r>
          </a:p>
          <a:p>
            <a:pPr>
              <a:lnSpc>
                <a:spcPct val="88000"/>
              </a:lnSpc>
              <a:spcAft>
                <a:spcPts val="200"/>
              </a:spcAft>
              <a:buNone/>
            </a:pPr>
            <a:r>
              <a:rPr sz="1150" b="1">
                <a:solidFill>
                  <a:srgbClr val="111B2A"/>
                </a:solidFill>
                <a:latin typeface="Calibri"/>
              </a:rPr>
              <a:t>Demo video included in submission package.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296912" y="4754880"/>
            <a:ext cx="4507992" cy="106070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</a:p>
        </p:txBody>
      </p:sp>
      <p:pic>
        <p:nvPicPr>
          <p:cNvPr id="17428" name="Picture 17427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8" y="4892040"/>
            <a:ext cx="786384" cy="786384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8339328" y="4983480"/>
            <a:ext cx="333755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SCAN FOR THE REPOSITORY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Public — source, tests and submission package.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