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github.com/sgtsujith141-wq/securemailscope" TargetMode="External"/><Relationship Id="rId5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66928" y="3163824"/>
            <a:ext cx="6949440" cy="2834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Aft>
                <a:spcPts val="300"/>
              </a:spcAft>
              <a:buNone/>
            </a:pPr>
            <a:r>
              <a:rPr sz="1400" b="0">
                <a:solidFill>
                  <a:srgbClr val="111B2A"/>
                </a:solidFill>
                <a:latin typeface="Calibri"/>
              </a:rPr>
              <a:t>Problem Statement ID – SIH26159</a:t>
            </a:r>
            <a:endParaRPr lang="en-US" dirty="0"/>
          </a:p>
          <a:p>
            <a:pPr marL="219456" indent="-219456">
              <a:lnSpc>
                <a:spcPct val="130000"/>
              </a:lnSpc>
              <a:spcAft>
                <a:spcPts val="300"/>
              </a:spcAft>
              <a:buNone/>
            </a:pPr>
            <a:r>
              <a:rPr sz="1400" b="0">
                <a:solidFill>
                  <a:srgbClr val="111B2A"/>
                </a:solidFill>
                <a:latin typeface="Calibri"/>
              </a:rPr>
              <a:t>Problem Statement Title – SecureMailScope: AI-Assisted Cryptographic Security Posture Assessment for Secure Email Communications</a:t>
            </a:r>
          </a:p>
          <a:p>
            <a:pPr>
              <a:lnSpc>
                <a:spcPct val="130000"/>
              </a:lnSpc>
              <a:spcAft>
                <a:spcPts val="300"/>
              </a:spcAft>
              <a:buNone/>
            </a:pPr>
            <a:r>
              <a:rPr sz="1400" b="0">
                <a:solidFill>
                  <a:srgbClr val="111B2A"/>
                </a:solidFill>
                <a:latin typeface="Calibri"/>
              </a:rPr>
              <a:t>Organisation – National Technical Research Organisation (NTRO)</a:t>
            </a:r>
          </a:p>
          <a:p>
            <a:pPr>
              <a:lnSpc>
                <a:spcPct val="130000"/>
              </a:lnSpc>
              <a:spcAft>
                <a:spcPts val="300"/>
              </a:spcAft>
              <a:buNone/>
            </a:pPr>
            <a:r>
              <a:rPr sz="1400" b="0">
                <a:solidFill>
                  <a:srgbClr val="111B2A"/>
                </a:solidFill>
                <a:latin typeface="Calibri"/>
              </a:rPr>
              <a:t>Theme – Blockchain &amp; Cybersecurity</a:t>
            </a:r>
          </a:p>
          <a:p>
            <a:pPr>
              <a:lnSpc>
                <a:spcPct val="130000"/>
              </a:lnSpc>
              <a:spcAft>
                <a:spcPts val="300"/>
              </a:spcAft>
              <a:buNone/>
            </a:pPr>
            <a:r>
              <a:rPr sz="1400" b="0">
                <a:solidFill>
                  <a:srgbClr val="111B2A"/>
                </a:solidFill>
                <a:latin typeface="Calibri"/>
              </a:rPr>
              <a:t>PS Category – Software</a:t>
            </a:r>
          </a:p>
          <a:p>
            <a:pPr>
              <a:lnSpc>
                <a:spcPct val="130000"/>
              </a:lnSpc>
              <a:spcAft>
                <a:spcPts val="300"/>
              </a:spcAft>
              <a:buNone/>
            </a:pPr>
            <a:r>
              <a:rPr sz="1400" b="0">
                <a:solidFill>
                  <a:srgbClr val="111B2A"/>
                </a:solidFill>
                <a:latin typeface="Calibri"/>
              </a:rPr>
              <a:t>Team ID – 146876</a:t>
            </a:r>
          </a:p>
          <a:p>
            <a:pPr>
              <a:lnSpc>
                <a:spcPct val="130000"/>
              </a:lnSpc>
              <a:spcAft>
                <a:spcPts val="300"/>
              </a:spcAft>
              <a:buNone/>
            </a:pPr>
            <a:r>
              <a:rPr sz="1400" b="0">
                <a:solidFill>
                  <a:srgbClr val="111B2A"/>
                </a:solidFill>
                <a:latin typeface="Calibri"/>
              </a:rPr>
              <a:t>Team Name (Registered on portal) – Zero-Day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66928" y="1938528"/>
            <a:ext cx="6766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4000"/>
              </a:lnSpc>
              <a:spcAft>
                <a:spcPts val="300"/>
              </a:spcAft>
              <a:buNone/>
            </a:pPr>
            <a:r>
              <a:rPr sz="4000" b="1">
                <a:solidFill>
                  <a:srgbClr val="0B5FA5"/>
                </a:solidFill>
                <a:latin typeface="Calibri"/>
              </a:rPr>
              <a:t>SecureMailScope</a:t>
            </a:r>
          </a:p>
          <a:p>
            <a:pPr>
              <a:lnSpc>
                <a:spcPct val="104000"/>
              </a:lnSpc>
              <a:spcAft>
                <a:spcPts val="300"/>
              </a:spcAft>
              <a:buNone/>
            </a:pPr>
            <a:r>
              <a:rPr sz="1400" b="0">
                <a:solidFill>
                  <a:srgbClr val="1F2C3F"/>
                </a:solidFill>
                <a:latin typeface="Calibri"/>
              </a:rPr>
              <a:t>AI-Assisted Cryptographic Security Posture Assessment for Secure Email Communications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1847088"/>
            <a:ext cx="1188720" cy="45720"/>
          </a:xfrm>
          <a:prstGeom prst="rect">
            <a:avLst/>
          </a:prstGeom>
          <a:solidFill>
            <a:srgbClr val="0B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384048" y="1097280"/>
            <a:ext cx="11420856" cy="475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100000"/>
              </a:lnSpc>
              <a:spcAft>
                <a:spcPts val="300"/>
              </a:spcAft>
              <a:buFont typeface="Wingdings" panose="05000000000000000000" pitchFamily="2" charset="2"/>
              <a:buNone/>
            </a:pPr>
            <a:r>
              <a:rPr sz="1800" b="1">
                <a:solidFill>
                  <a:srgbClr val="0B5FA5"/>
                </a:solidFill>
                <a:latin typeface="Calibri"/>
              </a:rPr>
              <a:t>SecureMailScope turns passive email packet captures into evidence-backed cryptographic investigations.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1000" b="1"/>
              <a:t>Zero-Day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Rounded Rectangle 15362"/>
          <p:cNvSpPr/>
          <p:nvPr/>
        </p:nvSpPr>
        <p:spPr>
          <a:xfrm>
            <a:off x="384048" y="1700784"/>
            <a:ext cx="1644396" cy="713232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111B2A"/>
                </a:solidFill>
                <a:latin typeface="Calibri"/>
              </a:rPr>
              <a:t>PCAP / PCAPNG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authorised capture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2339340" y="1700784"/>
            <a:ext cx="1644396" cy="713232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111B2A"/>
                </a:solidFill>
                <a:latin typeface="Calibri"/>
              </a:rPr>
              <a:t>TCP RECONSTRUCTION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sessions rebuilt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4294632" y="1700784"/>
            <a:ext cx="1644396" cy="713232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111B2A"/>
                </a:solidFill>
                <a:latin typeface="Calibri"/>
              </a:rPr>
              <a:t>SMTP · IMAP · POP3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from the dialogue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6249924" y="1700784"/>
            <a:ext cx="1644396" cy="713232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111B2A"/>
                </a:solidFill>
                <a:latin typeface="Calibri"/>
              </a:rPr>
              <a:t>STARTTLS · STLS · TLS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upgrade and handshake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8205216" y="1700784"/>
            <a:ext cx="1644396" cy="713232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111B2A"/>
                </a:solidFill>
                <a:latin typeface="Calibri"/>
              </a:rPr>
              <a:t>CRYPTOGRAPHIC EVIDENCE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versions, suites, certificates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10160508" y="1700784"/>
            <a:ext cx="1644396" cy="713232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111B2A"/>
                </a:solidFill>
                <a:latin typeface="Calibri"/>
              </a:rPr>
              <a:t>RISK + REMEDIATION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ranked, with the fix</a:t>
            </a:r>
          </a:p>
        </p:txBody>
      </p:sp>
      <p:sp>
        <p:nvSpPr>
          <p:cNvPr id="15369" name="Right Arrow 15368"/>
          <p:cNvSpPr/>
          <p:nvPr/>
        </p:nvSpPr>
        <p:spPr>
          <a:xfrm>
            <a:off x="2083308" y="1975104"/>
            <a:ext cx="201168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0" name="Right Arrow 15369"/>
          <p:cNvSpPr/>
          <p:nvPr/>
        </p:nvSpPr>
        <p:spPr>
          <a:xfrm>
            <a:off x="4038600" y="1975104"/>
            <a:ext cx="201168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1" name="Right Arrow 15370"/>
          <p:cNvSpPr/>
          <p:nvPr/>
        </p:nvSpPr>
        <p:spPr>
          <a:xfrm>
            <a:off x="5993892" y="1975104"/>
            <a:ext cx="201168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2" name="Right Arrow 15371"/>
          <p:cNvSpPr/>
          <p:nvPr/>
        </p:nvSpPr>
        <p:spPr>
          <a:xfrm>
            <a:off x="7949184" y="1975104"/>
            <a:ext cx="201168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3" name="Right Arrow 15372"/>
          <p:cNvSpPr/>
          <p:nvPr/>
        </p:nvSpPr>
        <p:spPr>
          <a:xfrm>
            <a:off x="9904476" y="1975104"/>
            <a:ext cx="201168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74" name="Picture 15373" descr="crop-0.11-0.022-1.0-0.243-02-over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2578608"/>
            <a:ext cx="7315200" cy="3150373"/>
          </a:xfrm>
          <a:prstGeom prst="rect">
            <a:avLst/>
          </a:prstGeom>
        </p:spPr>
      </p:pic>
      <p:sp>
        <p:nvSpPr>
          <p:cNvPr id="15375" name="Rectangle 15374"/>
          <p:cNvSpPr/>
          <p:nvPr/>
        </p:nvSpPr>
        <p:spPr>
          <a:xfrm>
            <a:off x="384048" y="2578608"/>
            <a:ext cx="7315200" cy="3150373"/>
          </a:xfrm>
          <a:prstGeom prst="rect">
            <a:avLst/>
          </a:prstGeom>
          <a:noFill/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6" name="TextBox 15375"/>
          <p:cNvSpPr txBox="1"/>
          <p:nvPr/>
        </p:nvSpPr>
        <p:spPr>
          <a:xfrm>
            <a:off x="384048" y="5765557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4A5A70"/>
                </a:solidFill>
                <a:latin typeface="Calibri"/>
              </a:rPr>
              <a:t>The investigation opens on its conclusion. Actual product output.</a:t>
            </a:r>
          </a:p>
        </p:txBody>
      </p:sp>
      <p:sp>
        <p:nvSpPr>
          <p:cNvPr id="15377" name="Rounded Rectangle 15376"/>
          <p:cNvSpPr/>
          <p:nvPr/>
        </p:nvSpPr>
        <p:spPr>
          <a:xfrm>
            <a:off x="7845552" y="2578608"/>
            <a:ext cx="3959352" cy="105012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8000"/>
              </a:lnSpc>
              <a:spcAft>
                <a:spcPts val="300"/>
              </a:spcAft>
              <a:buNone/>
            </a:pPr>
            <a:r>
              <a:rPr sz="1200" b="1">
                <a:solidFill>
                  <a:srgbClr val="0B5FA5"/>
                </a:solidFill>
                <a:latin typeface="Calibri"/>
              </a:rPr>
              <a:t>PASSIVE BY DESIGN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50" b="0">
                <a:solidFill>
                  <a:srgbClr val="1F2C3F"/>
                </a:solidFill>
                <a:latin typeface="Calibri"/>
              </a:rPr>
              <a:t>Existing captures only. No live probe, no connection back to the mail server, nothing leaves the machine.</a:t>
            </a:r>
          </a:p>
        </p:txBody>
      </p:sp>
      <p:sp>
        <p:nvSpPr>
          <p:cNvPr id="15378" name="Rounded Rectangle 15377"/>
          <p:cNvSpPr/>
          <p:nvPr/>
        </p:nvSpPr>
        <p:spPr>
          <a:xfrm>
            <a:off x="7845552" y="3775036"/>
            <a:ext cx="3959352" cy="105012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8000"/>
              </a:lnSpc>
              <a:spcAft>
                <a:spcPts val="300"/>
              </a:spcAft>
              <a:buNone/>
            </a:pPr>
            <a:r>
              <a:rPr sz="1200" b="1">
                <a:solidFill>
                  <a:srgbClr val="0B5FA5"/>
                </a:solidFill>
                <a:latin typeface="Calibri"/>
              </a:rPr>
              <a:t>EVIDENCE-FIRST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50" b="0">
                <a:solidFill>
                  <a:srgbClr val="1F2C3F"/>
                </a:solidFill>
                <a:latin typeface="Calibri"/>
              </a:rPr>
              <a:t>Every finding traces back to the packet-level observations that establish it — number, timestamp and stream offset.</a:t>
            </a:r>
          </a:p>
        </p:txBody>
      </p:sp>
      <p:sp>
        <p:nvSpPr>
          <p:cNvPr id="15379" name="Rounded Rectangle 15378"/>
          <p:cNvSpPr/>
          <p:nvPr/>
        </p:nvSpPr>
        <p:spPr>
          <a:xfrm>
            <a:off x="7845552" y="4971464"/>
            <a:ext cx="3959352" cy="105012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8000"/>
              </a:lnSpc>
              <a:spcAft>
                <a:spcPts val="300"/>
              </a:spcAft>
              <a:buNone/>
            </a:pPr>
            <a:r>
              <a:rPr sz="1200" b="1">
                <a:solidFill>
                  <a:srgbClr val="0B5FA5"/>
                </a:solidFill>
                <a:latin typeface="Calibri"/>
              </a:rPr>
              <a:t>AI + CROSS-CAPTURE INTELLIGENCE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50" b="0">
                <a:solidFill>
                  <a:srgbClr val="1F2C3F"/>
                </a:solidFill>
                <a:latin typeface="Calibri"/>
              </a:rPr>
              <a:t>ML-assisted risk triage alongside cryptographic fingerprints, configuration drift and correlation.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84048" y="932688"/>
            <a:ext cx="11420856" cy="3474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100000"/>
              </a:lnSpc>
              <a:spcAft>
                <a:spcPts val="300"/>
              </a:spcAft>
              <a:buFont typeface="Arial" panose="020B0604020202020204" pitchFamily="34" charset="0"/>
              <a:buNone/>
            </a:pPr>
            <a:r>
              <a:rPr sz="1300" b="0">
                <a:solidFill>
                  <a:srgbClr val="4A5A70"/>
                </a:solidFill>
                <a:latin typeface="Calibri"/>
              </a:rPr>
              <a:t>Each stage consumes the previous stage’s evidence and preserves packet-level provenance.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1000" b="1"/>
              <a:t>Zero-Day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84048" y="1335024"/>
            <a:ext cx="1793737" cy="2962656"/>
          </a:xfrm>
          <a:prstGeom prst="roundRect">
            <a:avLst/>
          </a:prstGeom>
          <a:solidFill>
            <a:srgbClr val="F7FAFD"/>
          </a:solidFill>
          <a:ln w="9525">
            <a:solidFill>
              <a:srgbClr val="DC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tIns="27432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800" b="1">
                <a:solidFill>
                  <a:srgbClr val="8A9BB0"/>
                </a:solidFill>
                <a:latin typeface="Calibri"/>
              </a:rPr>
              <a:t>INPUT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75488" y="2093976"/>
            <a:ext cx="1610857" cy="768096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111B2A"/>
                </a:solidFill>
                <a:latin typeface="Calibri"/>
              </a:rPr>
              <a:t>PCAP / PCAPNG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authorised capture</a:t>
            </a:r>
          </a:p>
        </p:txBody>
      </p:sp>
      <p:sp>
        <p:nvSpPr>
          <p:cNvPr id="17413" name="Down Arrow 17412"/>
          <p:cNvSpPr/>
          <p:nvPr/>
        </p:nvSpPr>
        <p:spPr>
          <a:xfrm>
            <a:off x="1198620" y="2871215"/>
            <a:ext cx="164592" cy="109728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Rounded Rectangle 17413"/>
          <p:cNvSpPr/>
          <p:nvPr/>
        </p:nvSpPr>
        <p:spPr>
          <a:xfrm>
            <a:off x="475488" y="2990088"/>
            <a:ext cx="1610857" cy="768096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111B2A"/>
                </a:solidFill>
                <a:latin typeface="Calibri"/>
              </a:rPr>
              <a:t>Safe ingestion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format from the bytes, 8 limits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2324089" y="1335024"/>
            <a:ext cx="2196413" cy="2962656"/>
          </a:xfrm>
          <a:prstGeom prst="roundRect">
            <a:avLst/>
          </a:prstGeom>
          <a:solidFill>
            <a:srgbClr val="F7FAFD"/>
          </a:solidFill>
          <a:ln w="9525">
            <a:solidFill>
              <a:srgbClr val="DC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tIns="27432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800" b="1">
                <a:solidFill>
                  <a:srgbClr val="8A9BB0"/>
                </a:solidFill>
                <a:latin typeface="Calibri"/>
              </a:rPr>
              <a:t>RECONSTRUCTION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2415529" y="1673352"/>
            <a:ext cx="2013533" cy="530352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111B2A"/>
                </a:solidFill>
                <a:latin typeface="Calibri"/>
              </a:rPr>
              <a:t>Packet decode</a:t>
            </a:r>
          </a:p>
        </p:txBody>
      </p:sp>
      <p:sp>
        <p:nvSpPr>
          <p:cNvPr id="17417" name="Down Arrow 17416"/>
          <p:cNvSpPr/>
          <p:nvPr/>
        </p:nvSpPr>
        <p:spPr>
          <a:xfrm>
            <a:off x="3340000" y="2212848"/>
            <a:ext cx="164592" cy="109728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2415529" y="2331720"/>
            <a:ext cx="2013533" cy="530352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111B2A"/>
                </a:solidFill>
                <a:latin typeface="Calibri"/>
              </a:rPr>
              <a:t>TCP reassembly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reorder · retransmit · gaps</a:t>
            </a:r>
          </a:p>
        </p:txBody>
      </p:sp>
      <p:sp>
        <p:nvSpPr>
          <p:cNvPr id="17419" name="Down Arrow 17418"/>
          <p:cNvSpPr/>
          <p:nvPr/>
        </p:nvSpPr>
        <p:spPr>
          <a:xfrm>
            <a:off x="3340000" y="2871216"/>
            <a:ext cx="164592" cy="109728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ounded Rectangle 17419"/>
          <p:cNvSpPr/>
          <p:nvPr/>
        </p:nvSpPr>
        <p:spPr>
          <a:xfrm>
            <a:off x="2415529" y="2990088"/>
            <a:ext cx="2013533" cy="530352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111B2A"/>
                </a:solidFill>
                <a:latin typeface="Calibri"/>
              </a:rPr>
              <a:t>SMTP · IMAP · POP3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state machines, not ports</a:t>
            </a:r>
          </a:p>
        </p:txBody>
      </p:sp>
      <p:sp>
        <p:nvSpPr>
          <p:cNvPr id="17421" name="Down Arrow 17420"/>
          <p:cNvSpPr/>
          <p:nvPr/>
        </p:nvSpPr>
        <p:spPr>
          <a:xfrm>
            <a:off x="3340000" y="3529584"/>
            <a:ext cx="164592" cy="109728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Rounded Rectangle 17421"/>
          <p:cNvSpPr/>
          <p:nvPr/>
        </p:nvSpPr>
        <p:spPr>
          <a:xfrm>
            <a:off x="2415529" y="3648456"/>
            <a:ext cx="2013533" cy="530352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111B2A"/>
                </a:solidFill>
                <a:latin typeface="Calibri"/>
              </a:rPr>
              <a:t>STARTTLS · STLS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advertised · requested · outcome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4666807" y="1335024"/>
            <a:ext cx="2269627" cy="2962656"/>
          </a:xfrm>
          <a:prstGeom prst="roundRect">
            <a:avLst/>
          </a:prstGeom>
          <a:solidFill>
            <a:srgbClr val="F7FAFD"/>
          </a:solidFill>
          <a:ln w="9525">
            <a:solidFill>
              <a:srgbClr val="DC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tIns="27432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800" b="1">
                <a:solidFill>
                  <a:srgbClr val="8A9BB0"/>
                </a:solidFill>
                <a:latin typeface="Calibri"/>
              </a:rPr>
              <a:t>CRYPTOGRAPHIC ASSESSMENT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4758247" y="1673352"/>
            <a:ext cx="2086747" cy="530352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111B2A"/>
                </a:solidFill>
                <a:latin typeface="Calibri"/>
              </a:rPr>
              <a:t>TLS handshake → X.509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version · suite · key exchange</a:t>
            </a:r>
          </a:p>
        </p:txBody>
      </p:sp>
      <p:sp>
        <p:nvSpPr>
          <p:cNvPr id="17425" name="Down Arrow 17424"/>
          <p:cNvSpPr/>
          <p:nvPr/>
        </p:nvSpPr>
        <p:spPr>
          <a:xfrm>
            <a:off x="5719324" y="2212848"/>
            <a:ext cx="164592" cy="109728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Rounded Rectangle 17425"/>
          <p:cNvSpPr/>
          <p:nvPr/>
        </p:nvSpPr>
        <p:spPr>
          <a:xfrm>
            <a:off x="4758247" y="2331720"/>
            <a:ext cx="2086747" cy="530352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111B2A"/>
                </a:solidFill>
                <a:latin typeface="Calibri"/>
              </a:rPr>
              <a:t>Certificate analysis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where passively observable</a:t>
            </a:r>
          </a:p>
        </p:txBody>
      </p:sp>
      <p:sp>
        <p:nvSpPr>
          <p:cNvPr id="17427" name="Down Arrow 17426"/>
          <p:cNvSpPr/>
          <p:nvPr/>
        </p:nvSpPr>
        <p:spPr>
          <a:xfrm>
            <a:off x="5719324" y="2871216"/>
            <a:ext cx="164592" cy="109728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Rounded Rectangle 17427"/>
          <p:cNvSpPr/>
          <p:nvPr/>
        </p:nvSpPr>
        <p:spPr>
          <a:xfrm>
            <a:off x="4758247" y="2990088"/>
            <a:ext cx="2086747" cy="530352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111B2A"/>
                </a:solidFill>
                <a:latin typeface="Calibri"/>
              </a:rPr>
              <a:t>25 deterministic rules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versioned and fingerprinted</a:t>
            </a:r>
          </a:p>
        </p:txBody>
      </p:sp>
      <p:sp>
        <p:nvSpPr>
          <p:cNvPr id="17429" name="Down Arrow 17428"/>
          <p:cNvSpPr/>
          <p:nvPr/>
        </p:nvSpPr>
        <p:spPr>
          <a:xfrm>
            <a:off x="5719324" y="3529584"/>
            <a:ext cx="164592" cy="109728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0" name="Rounded Rectangle 17429"/>
          <p:cNvSpPr/>
          <p:nvPr/>
        </p:nvSpPr>
        <p:spPr>
          <a:xfrm>
            <a:off x="4758247" y="3648456"/>
            <a:ext cx="2086747" cy="530352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111B2A"/>
                </a:solidFill>
                <a:latin typeface="Calibri"/>
              </a:rPr>
              <a:t>Score · coverage · priority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arithmetic shown, not asserted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7082738" y="1335024"/>
            <a:ext cx="2489268" cy="1152144"/>
          </a:xfrm>
          <a:prstGeom prst="roundRect">
            <a:avLst/>
          </a:prstGeom>
          <a:solidFill>
            <a:srgbClr val="F7FAFD"/>
          </a:solidFill>
          <a:ln w="9525">
            <a:solidFill>
              <a:srgbClr val="DC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tIns="27432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800" b="1">
                <a:solidFill>
                  <a:srgbClr val="8A9BB0"/>
                </a:solidFill>
                <a:latin typeface="Calibri"/>
              </a:rPr>
              <a:t>DETERMINISTIC INTELLIGENCE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7174178" y="1618488"/>
            <a:ext cx="2306388" cy="23774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111B2A"/>
                </a:solidFill>
                <a:latin typeface="Calibri"/>
              </a:rPr>
              <a:t>Cryptographic fingerprint</a:t>
            </a:r>
          </a:p>
        </p:txBody>
      </p:sp>
      <p:sp>
        <p:nvSpPr>
          <p:cNvPr id="17433" name="Down Arrow 17432"/>
          <p:cNvSpPr/>
          <p:nvPr/>
        </p:nvSpPr>
        <p:spPr>
          <a:xfrm>
            <a:off x="8245076" y="1865376"/>
            <a:ext cx="164592" cy="45720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4" name="Rounded Rectangle 17433"/>
          <p:cNvSpPr/>
          <p:nvPr/>
        </p:nvSpPr>
        <p:spPr>
          <a:xfrm>
            <a:off x="7174178" y="1920240"/>
            <a:ext cx="2306388" cy="23774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111B2A"/>
                </a:solidFill>
                <a:latin typeface="Calibri"/>
              </a:rPr>
              <a:t>Cross-session correlation</a:t>
            </a:r>
          </a:p>
        </p:txBody>
      </p:sp>
      <p:sp>
        <p:nvSpPr>
          <p:cNvPr id="17435" name="Down Arrow 17434"/>
          <p:cNvSpPr/>
          <p:nvPr/>
        </p:nvSpPr>
        <p:spPr>
          <a:xfrm>
            <a:off x="8245076" y="2167128"/>
            <a:ext cx="164592" cy="45720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6" name="Rounded Rectangle 17435"/>
          <p:cNvSpPr/>
          <p:nvPr/>
        </p:nvSpPr>
        <p:spPr>
          <a:xfrm>
            <a:off x="7174178" y="2221992"/>
            <a:ext cx="2306388" cy="23774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111B2A"/>
                </a:solidFill>
                <a:latin typeface="Calibri"/>
              </a:rPr>
              <a:t>Configuration drift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7082738" y="2578608"/>
            <a:ext cx="2489268" cy="1719072"/>
          </a:xfrm>
          <a:prstGeom prst="roundRect">
            <a:avLst/>
          </a:prstGeom>
          <a:solidFill>
            <a:srgbClr val="FDF5E7"/>
          </a:solidFill>
          <a:ln w="15875">
            <a:solidFill>
              <a:srgbClr val="DCB8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tIns="27432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850" b="1">
                <a:solidFill>
                  <a:srgbClr val="A83A1E"/>
                </a:solidFill>
                <a:latin typeface="Calibri"/>
              </a:rPr>
              <a:t>AI-ASSISTED TRIAGE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7174178" y="2871215"/>
            <a:ext cx="2306388" cy="347472"/>
          </a:xfrm>
          <a:prstGeom prst="roundRect">
            <a:avLst/>
          </a:prstGeom>
          <a:solidFill>
            <a:srgbClr val="FFFDF8"/>
          </a:solidFill>
          <a:ln w="9525">
            <a:solidFill>
              <a:srgbClr val="DCB8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111B2A"/>
                </a:solidFill>
                <a:latin typeface="Calibri"/>
              </a:rPr>
              <a:t>93-feature vector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cryptographic · session · evidence</a:t>
            </a:r>
          </a:p>
        </p:txBody>
      </p:sp>
      <p:sp>
        <p:nvSpPr>
          <p:cNvPr id="17439" name="Down Arrow 17438"/>
          <p:cNvSpPr/>
          <p:nvPr/>
        </p:nvSpPr>
        <p:spPr>
          <a:xfrm>
            <a:off x="8245076" y="3227831"/>
            <a:ext cx="164592" cy="27432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0" name="Rounded Rectangle 17439"/>
          <p:cNvSpPr/>
          <p:nvPr/>
        </p:nvSpPr>
        <p:spPr>
          <a:xfrm>
            <a:off x="7174178" y="3264407"/>
            <a:ext cx="2306388" cy="347472"/>
          </a:xfrm>
          <a:prstGeom prst="roundRect">
            <a:avLst/>
          </a:prstGeom>
          <a:solidFill>
            <a:srgbClr val="FFFDF8"/>
          </a:solidFill>
          <a:ln w="9525">
            <a:solidFill>
              <a:srgbClr val="DCB8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111B2A"/>
                </a:solidFill>
                <a:latin typeface="Calibri"/>
              </a:rPr>
              <a:t>Supervised classifier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logistic regression</a:t>
            </a:r>
          </a:p>
        </p:txBody>
      </p:sp>
      <p:sp>
        <p:nvSpPr>
          <p:cNvPr id="17441" name="Down Arrow 17440"/>
          <p:cNvSpPr/>
          <p:nvPr/>
        </p:nvSpPr>
        <p:spPr>
          <a:xfrm>
            <a:off x="8245076" y="3621023"/>
            <a:ext cx="164592" cy="27432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2" name="Rounded Rectangle 17441"/>
          <p:cNvSpPr/>
          <p:nvPr/>
        </p:nvSpPr>
        <p:spPr>
          <a:xfrm>
            <a:off x="7174178" y="3657599"/>
            <a:ext cx="2306388" cy="347472"/>
          </a:xfrm>
          <a:prstGeom prst="roundRect">
            <a:avLst/>
          </a:prstGeom>
          <a:solidFill>
            <a:srgbClr val="FFFDF8"/>
          </a:solidFill>
          <a:ln w="9525">
            <a:solidFill>
              <a:srgbClr val="DCB8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111B2A"/>
                </a:solidFill>
                <a:latin typeface="Calibri"/>
              </a:rPr>
              <a:t>Advisory risk class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CRITICAL · HIGH · MODERATE · LOW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7174178" y="4023360"/>
            <a:ext cx="2306388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0000"/>
              </a:lnSpc>
              <a:spcAft>
                <a:spcPts val="300"/>
              </a:spcAft>
              <a:buNone/>
            </a:pPr>
            <a:r>
              <a:rPr sz="850" b="1">
                <a:solidFill>
                  <a:srgbClr val="A83A1E"/>
                </a:solidFill>
                <a:latin typeface="Calibri"/>
              </a:rPr>
              <a:t>Advisory only — never overrides deterministic evidence or scoring.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9718311" y="1335024"/>
            <a:ext cx="2086592" cy="2962656"/>
          </a:xfrm>
          <a:prstGeom prst="roundRect">
            <a:avLst/>
          </a:prstGeom>
          <a:solidFill>
            <a:srgbClr val="F7FAFD"/>
          </a:solidFill>
          <a:ln w="9525">
            <a:solidFill>
              <a:srgbClr val="DC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tIns="27432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800" b="1">
                <a:solidFill>
                  <a:srgbClr val="8A9BB0"/>
                </a:solidFill>
                <a:latin typeface="Calibri"/>
              </a:rPr>
              <a:t>OUTPUT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9809751" y="1673352"/>
            <a:ext cx="1903712" cy="530352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111B2A"/>
                </a:solidFill>
                <a:latin typeface="Calibri"/>
              </a:rPr>
              <a:t>Canonical report model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schema 1.4.0</a:t>
            </a:r>
          </a:p>
        </p:txBody>
      </p:sp>
      <p:sp>
        <p:nvSpPr>
          <p:cNvPr id="17446" name="Down Arrow 17445"/>
          <p:cNvSpPr/>
          <p:nvPr/>
        </p:nvSpPr>
        <p:spPr>
          <a:xfrm>
            <a:off x="10679311" y="2212848"/>
            <a:ext cx="164592" cy="109728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7" name="Rounded Rectangle 17446"/>
          <p:cNvSpPr/>
          <p:nvPr/>
        </p:nvSpPr>
        <p:spPr>
          <a:xfrm>
            <a:off x="9809751" y="2331720"/>
            <a:ext cx="1903712" cy="530352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111B2A"/>
                </a:solidFill>
                <a:latin typeface="Calibri"/>
              </a:rPr>
              <a:t>FastAPI + SQLite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loopback only, token</a:t>
            </a:r>
          </a:p>
        </p:txBody>
      </p:sp>
      <p:sp>
        <p:nvSpPr>
          <p:cNvPr id="17448" name="Down Arrow 17447"/>
          <p:cNvSpPr/>
          <p:nvPr/>
        </p:nvSpPr>
        <p:spPr>
          <a:xfrm>
            <a:off x="10679311" y="2871216"/>
            <a:ext cx="164592" cy="109728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9" name="Rounded Rectangle 17448"/>
          <p:cNvSpPr/>
          <p:nvPr/>
        </p:nvSpPr>
        <p:spPr>
          <a:xfrm>
            <a:off x="9809751" y="2990088"/>
            <a:ext cx="1903712" cy="530352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111B2A"/>
                </a:solidFill>
                <a:latin typeface="Calibri"/>
              </a:rPr>
              <a:t>React workspace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evidence-linked throughout</a:t>
            </a:r>
          </a:p>
        </p:txBody>
      </p:sp>
      <p:sp>
        <p:nvSpPr>
          <p:cNvPr id="17450" name="Down Arrow 17449"/>
          <p:cNvSpPr/>
          <p:nvPr/>
        </p:nvSpPr>
        <p:spPr>
          <a:xfrm>
            <a:off x="10679311" y="3529584"/>
            <a:ext cx="164592" cy="109728"/>
          </a:xfrm>
          <a:prstGeom prst="down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1" name="Rounded Rectangle 17450"/>
          <p:cNvSpPr/>
          <p:nvPr/>
        </p:nvSpPr>
        <p:spPr>
          <a:xfrm>
            <a:off x="9809751" y="3648456"/>
            <a:ext cx="1903712" cy="530352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111B2A"/>
                </a:solidFill>
                <a:latin typeface="Calibri"/>
              </a:rPr>
              <a:t>JSON · HTML · PDF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850" b="0">
                <a:solidFill>
                  <a:srgbClr val="4A5A70"/>
                </a:solidFill>
                <a:latin typeface="Calibri"/>
              </a:rPr>
              <a:t>parity-tested</a:t>
            </a:r>
          </a:p>
        </p:txBody>
      </p:sp>
      <p:sp>
        <p:nvSpPr>
          <p:cNvPr id="17452" name="Rounded Rectangle 17451"/>
          <p:cNvSpPr/>
          <p:nvPr/>
        </p:nvSpPr>
        <p:spPr>
          <a:xfrm>
            <a:off x="384048" y="4389120"/>
            <a:ext cx="11420856" cy="603504"/>
          </a:xfrm>
          <a:prstGeom prst="roundRect">
            <a:avLst/>
          </a:prstGeom>
          <a:solidFill>
            <a:srgbClr val="F7FAFD"/>
          </a:solidFill>
          <a:ln w="9525">
            <a:solidFill>
              <a:srgbClr val="DC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tIns="27432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800" b="1">
                <a:solidFill>
                  <a:srgbClr val="8A9BB0"/>
                </a:solidFill>
                <a:latin typeface="Calibri"/>
              </a:rPr>
              <a:t>EVIDENCE RAIL — WHAT EVERY FINDING CARRIES</a:t>
            </a:r>
          </a:p>
        </p:txBody>
      </p:sp>
      <p:sp>
        <p:nvSpPr>
          <p:cNvPr id="17453" name="Rounded Rectangle 17452"/>
          <p:cNvSpPr/>
          <p:nvPr/>
        </p:nvSpPr>
        <p:spPr>
          <a:xfrm>
            <a:off x="512064" y="4608576"/>
            <a:ext cx="1601724" cy="3291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0B5FA5"/>
                </a:solidFill>
                <a:latin typeface="Calibri"/>
              </a:rPr>
              <a:t>PACKET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2424683" y="4608576"/>
            <a:ext cx="1601724" cy="3291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0B5FA5"/>
                </a:solidFill>
                <a:latin typeface="Calibri"/>
              </a:rPr>
              <a:t>OBSERVATION</a:t>
            </a:r>
          </a:p>
        </p:txBody>
      </p:sp>
      <p:sp>
        <p:nvSpPr>
          <p:cNvPr id="17455" name="Rounded Rectangle 17454"/>
          <p:cNvSpPr/>
          <p:nvPr/>
        </p:nvSpPr>
        <p:spPr>
          <a:xfrm>
            <a:off x="4337304" y="4608576"/>
            <a:ext cx="1601724" cy="3291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0B5FA5"/>
                </a:solidFill>
                <a:latin typeface="Calibri"/>
              </a:rPr>
              <a:t>CRYPTO FACT</a:t>
            </a:r>
          </a:p>
        </p:txBody>
      </p:sp>
      <p:sp>
        <p:nvSpPr>
          <p:cNvPr id="17456" name="Rounded Rectangle 17455"/>
          <p:cNvSpPr/>
          <p:nvPr/>
        </p:nvSpPr>
        <p:spPr>
          <a:xfrm>
            <a:off x="6249924" y="4608576"/>
            <a:ext cx="1601724" cy="3291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0B5FA5"/>
                </a:solidFill>
                <a:latin typeface="Calibri"/>
              </a:rPr>
              <a:t>RULE</a:t>
            </a:r>
          </a:p>
        </p:txBody>
      </p:sp>
      <p:sp>
        <p:nvSpPr>
          <p:cNvPr id="17457" name="Rounded Rectangle 17456"/>
          <p:cNvSpPr/>
          <p:nvPr/>
        </p:nvSpPr>
        <p:spPr>
          <a:xfrm>
            <a:off x="8162543" y="4608576"/>
            <a:ext cx="1601724" cy="3291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0B5FA5"/>
                </a:solidFill>
                <a:latin typeface="Calibri"/>
              </a:rPr>
              <a:t>FINDING</a:t>
            </a:r>
          </a:p>
        </p:txBody>
      </p:sp>
      <p:sp>
        <p:nvSpPr>
          <p:cNvPr id="17458" name="Rounded Rectangle 17457"/>
          <p:cNvSpPr/>
          <p:nvPr/>
        </p:nvSpPr>
        <p:spPr>
          <a:xfrm>
            <a:off x="10075164" y="4608576"/>
            <a:ext cx="1601724" cy="3291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0B5FA5"/>
                </a:solidFill>
                <a:latin typeface="Calibri"/>
              </a:rPr>
              <a:t>REMEDIATION</a:t>
            </a:r>
          </a:p>
        </p:txBody>
      </p:sp>
      <p:sp>
        <p:nvSpPr>
          <p:cNvPr id="17459" name="Right Arrow 17458"/>
          <p:cNvSpPr/>
          <p:nvPr/>
        </p:nvSpPr>
        <p:spPr>
          <a:xfrm>
            <a:off x="2168652" y="4690872"/>
            <a:ext cx="201168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0" name="Right Arrow 17459"/>
          <p:cNvSpPr/>
          <p:nvPr/>
        </p:nvSpPr>
        <p:spPr>
          <a:xfrm>
            <a:off x="4081271" y="4690872"/>
            <a:ext cx="201168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1" name="Right Arrow 17460"/>
          <p:cNvSpPr/>
          <p:nvPr/>
        </p:nvSpPr>
        <p:spPr>
          <a:xfrm>
            <a:off x="5993892" y="4690872"/>
            <a:ext cx="201168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2" name="Right Arrow 17461"/>
          <p:cNvSpPr/>
          <p:nvPr/>
        </p:nvSpPr>
        <p:spPr>
          <a:xfrm>
            <a:off x="7906512" y="4690872"/>
            <a:ext cx="201168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3" name="Right Arrow 17462"/>
          <p:cNvSpPr/>
          <p:nvPr/>
        </p:nvSpPr>
        <p:spPr>
          <a:xfrm>
            <a:off x="9819132" y="4690872"/>
            <a:ext cx="201168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4" name="Rounded Rectangle 17463"/>
          <p:cNvSpPr/>
          <p:nvPr/>
        </p:nvSpPr>
        <p:spPr>
          <a:xfrm>
            <a:off x="384048" y="5084064"/>
            <a:ext cx="2167128" cy="676656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0B5FA5"/>
                </a:solidFill>
                <a:latin typeface="Calibri"/>
              </a:rPr>
              <a:t>ENGINE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00" b="0">
                <a:solidFill>
                  <a:srgbClr val="1F2C3F"/>
                </a:solidFill>
                <a:latin typeface="Calibri"/>
              </a:rPr>
              <a:t>Python · Scapy · cryptography</a:t>
            </a:r>
          </a:p>
        </p:txBody>
      </p:sp>
      <p:sp>
        <p:nvSpPr>
          <p:cNvPr id="17465" name="Rounded Rectangle 17464"/>
          <p:cNvSpPr/>
          <p:nvPr/>
        </p:nvSpPr>
        <p:spPr>
          <a:xfrm>
            <a:off x="2697480" y="5084064"/>
            <a:ext cx="2167128" cy="676656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0B5FA5"/>
                </a:solidFill>
                <a:latin typeface="Calibri"/>
              </a:rPr>
              <a:t>APPLICATION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00" b="0">
                <a:solidFill>
                  <a:srgbClr val="1F2C3F"/>
                </a:solidFill>
                <a:latin typeface="Calibri"/>
              </a:rPr>
              <a:t>FastAPI · SQLite · React · TypeScript</a:t>
            </a:r>
          </a:p>
        </p:txBody>
      </p:sp>
      <p:sp>
        <p:nvSpPr>
          <p:cNvPr id="17466" name="Rounded Rectangle 17465"/>
          <p:cNvSpPr/>
          <p:nvPr/>
        </p:nvSpPr>
        <p:spPr>
          <a:xfrm>
            <a:off x="5010912" y="5084064"/>
            <a:ext cx="2167128" cy="676656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A83A1E"/>
                </a:solidFill>
                <a:latin typeface="Calibri"/>
              </a:rPr>
              <a:t>AI / ANALYTICS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00" b="0">
                <a:solidFill>
                  <a:srgbClr val="1F2C3F"/>
                </a:solidFill>
                <a:latin typeface="Calibri"/>
              </a:rPr>
              <a:t>scikit-learn · supervised risk classifier</a:t>
            </a:r>
          </a:p>
        </p:txBody>
      </p:sp>
      <p:sp>
        <p:nvSpPr>
          <p:cNvPr id="17467" name="Rounded Rectangle 17466"/>
          <p:cNvSpPr/>
          <p:nvPr/>
        </p:nvSpPr>
        <p:spPr>
          <a:xfrm>
            <a:off x="7324344" y="5084064"/>
            <a:ext cx="2167128" cy="676656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0B5FA5"/>
                </a:solidFill>
                <a:latin typeface="Calibri"/>
              </a:rPr>
              <a:t>VALIDATION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00" b="0">
                <a:solidFill>
                  <a:srgbClr val="1F2C3F"/>
                </a:solidFill>
                <a:latin typeface="Calibri"/>
              </a:rPr>
              <a:t>pytest · Playwright · TShark</a:t>
            </a:r>
          </a:p>
        </p:txBody>
      </p:sp>
      <p:sp>
        <p:nvSpPr>
          <p:cNvPr id="17468" name="Rounded Rectangle 17467"/>
          <p:cNvSpPr/>
          <p:nvPr/>
        </p:nvSpPr>
        <p:spPr>
          <a:xfrm>
            <a:off x="9637776" y="5084064"/>
            <a:ext cx="2167128" cy="676656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50" b="1">
                <a:solidFill>
                  <a:srgbClr val="1B6B3A"/>
                </a:solidFill>
                <a:latin typeface="Calibri"/>
              </a:rPr>
              <a:t>GUARANTEES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00" b="0">
                <a:solidFill>
                  <a:srgbClr val="1F2C3F"/>
                </a:solidFill>
                <a:latin typeface="Calibri"/>
              </a:rPr>
              <a:t>Passive · Local-first · Evidence-linked</a:t>
            </a:r>
          </a:p>
        </p:txBody>
      </p:sp>
      <p:sp>
        <p:nvSpPr>
          <p:cNvPr id="17469" name="TextBox 17468"/>
          <p:cNvSpPr txBox="1"/>
          <p:nvPr/>
        </p:nvSpPr>
        <p:spPr>
          <a:xfrm>
            <a:off x="384048" y="5833872"/>
            <a:ext cx="11420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  <a:buNone/>
            </a:pPr>
            <a:r>
              <a:rPr sz="950" b="0">
                <a:solidFill>
                  <a:srgbClr val="4A5A70"/>
                </a:solidFill>
                <a:latin typeface="Calibri"/>
              </a:rPr>
              <a:t>The classifier is trained on 313 synthetic sessions and is NOT VALIDATED for real-world risk; deterministic packet evidence remains authoritative throughout.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84048" y="1042415"/>
            <a:ext cx="11420856" cy="3474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sz="1300" b="0">
                <a:solidFill>
                  <a:srgbClr val="4A5A70"/>
                </a:solidFill>
                <a:latin typeface="Calibri"/>
              </a:rPr>
              <a:t>Feasible to build, feasible to operate, feasible to deploy and feasible to maintain — each with its own evidence.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1000" b="1"/>
              <a:t>Zero-Day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84048" y="1444752"/>
            <a:ext cx="1781556" cy="78638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4000"/>
              </a:lnSpc>
              <a:spcAft>
                <a:spcPts val="0"/>
              </a:spcAft>
              <a:buNone/>
            </a:pPr>
            <a:r>
              <a:rPr sz="2500" b="1">
                <a:solidFill>
                  <a:srgbClr val="0B5FA5"/>
                </a:solidFill>
                <a:latin typeface="Calibri"/>
              </a:rPr>
              <a:t>1,357</a:t>
            </a:r>
          </a:p>
          <a:p>
            <a:pPr algn="ctr">
              <a:lnSpc>
                <a:spcPct val="84000"/>
              </a:lnSpc>
              <a:spcAft>
                <a:spcPts val="0"/>
              </a:spcAft>
              <a:buNone/>
            </a:pPr>
            <a:r>
              <a:rPr sz="900" b="0">
                <a:solidFill>
                  <a:srgbClr val="4A5A70"/>
                </a:solidFill>
                <a:latin typeface="Calibri"/>
              </a:rPr>
              <a:t>backend tests pass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2311908" y="1444752"/>
            <a:ext cx="1781556" cy="78638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4000"/>
              </a:lnSpc>
              <a:spcAft>
                <a:spcPts val="0"/>
              </a:spcAft>
              <a:buNone/>
            </a:pPr>
            <a:r>
              <a:rPr sz="2500" b="1">
                <a:solidFill>
                  <a:srgbClr val="0B5FA5"/>
                </a:solidFill>
                <a:latin typeface="Calibri"/>
              </a:rPr>
              <a:t>1,367</a:t>
            </a:r>
          </a:p>
          <a:p>
            <a:pPr algn="ctr">
              <a:lnSpc>
                <a:spcPct val="84000"/>
              </a:lnSpc>
              <a:spcAft>
                <a:spcPts val="0"/>
              </a:spcAft>
              <a:buNone/>
            </a:pPr>
            <a:r>
              <a:rPr sz="900" b="0">
                <a:solidFill>
                  <a:srgbClr val="4A5A70"/>
                </a:solidFill>
                <a:latin typeface="Calibri"/>
              </a:rPr>
              <a:t>with the TShark cross-check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239768" y="1444752"/>
            <a:ext cx="1781556" cy="78638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4000"/>
              </a:lnSpc>
              <a:spcAft>
                <a:spcPts val="0"/>
              </a:spcAft>
              <a:buNone/>
            </a:pPr>
            <a:r>
              <a:rPr sz="2500" b="1">
                <a:solidFill>
                  <a:srgbClr val="0B5FA5"/>
                </a:solidFill>
                <a:latin typeface="Calibri"/>
              </a:rPr>
              <a:t>89</a:t>
            </a:r>
          </a:p>
          <a:p>
            <a:pPr algn="ctr">
              <a:lnSpc>
                <a:spcPct val="84000"/>
              </a:lnSpc>
              <a:spcAft>
                <a:spcPts val="0"/>
              </a:spcAft>
              <a:buNone/>
            </a:pPr>
            <a:r>
              <a:rPr sz="900" b="0">
                <a:solidFill>
                  <a:srgbClr val="4A5A70"/>
                </a:solidFill>
                <a:latin typeface="Calibri"/>
              </a:rPr>
              <a:t>frontend tests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6167628" y="1444752"/>
            <a:ext cx="1781556" cy="78638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4000"/>
              </a:lnSpc>
              <a:spcAft>
                <a:spcPts val="0"/>
              </a:spcAft>
              <a:buNone/>
            </a:pPr>
            <a:r>
              <a:rPr sz="2500" b="1">
                <a:solidFill>
                  <a:srgbClr val="0B5FA5"/>
                </a:solidFill>
                <a:latin typeface="Calibri"/>
              </a:rPr>
              <a:t>5</a:t>
            </a:r>
          </a:p>
          <a:p>
            <a:pPr algn="ctr">
              <a:lnSpc>
                <a:spcPct val="84000"/>
              </a:lnSpc>
              <a:spcAft>
                <a:spcPts val="0"/>
              </a:spcAft>
              <a:buNone/>
            </a:pPr>
            <a:r>
              <a:rPr sz="900" b="0">
                <a:solidFill>
                  <a:srgbClr val="4A5A70"/>
                </a:solidFill>
                <a:latin typeface="Calibri"/>
              </a:rPr>
              <a:t>real-backend browser E2E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8095488" y="1444752"/>
            <a:ext cx="1781556" cy="78638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4000"/>
              </a:lnSpc>
              <a:spcAft>
                <a:spcPts val="0"/>
              </a:spcAft>
              <a:buNone/>
            </a:pPr>
            <a:r>
              <a:rPr sz="2500" b="1">
                <a:solidFill>
                  <a:srgbClr val="0B5FA5"/>
                </a:solidFill>
                <a:latin typeface="Calibri"/>
              </a:rPr>
              <a:t>158</a:t>
            </a:r>
          </a:p>
          <a:p>
            <a:pPr algn="ctr">
              <a:lnSpc>
                <a:spcPct val="84000"/>
              </a:lnSpc>
              <a:spcAft>
                <a:spcPts val="0"/>
              </a:spcAft>
              <a:buNone/>
            </a:pPr>
            <a:r>
              <a:rPr sz="900" b="0">
                <a:solidFill>
                  <a:srgbClr val="4A5A70"/>
                </a:solidFill>
                <a:latin typeface="Calibri"/>
              </a:rPr>
              <a:t>files ruff + mypy clean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10023348" y="1444752"/>
            <a:ext cx="1781556" cy="78638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4000"/>
              </a:lnSpc>
              <a:spcAft>
                <a:spcPts val="0"/>
              </a:spcAft>
              <a:buNone/>
            </a:pPr>
            <a:r>
              <a:rPr sz="2500" b="1">
                <a:solidFill>
                  <a:srgbClr val="1B6B3A"/>
                </a:solidFill>
                <a:latin typeface="Calibri"/>
              </a:rPr>
              <a:t>0</a:t>
            </a:r>
          </a:p>
          <a:p>
            <a:pPr algn="ctr">
              <a:lnSpc>
                <a:spcPct val="84000"/>
              </a:lnSpc>
              <a:spcAft>
                <a:spcPts val="0"/>
              </a:spcAft>
              <a:buNone/>
            </a:pPr>
            <a:r>
              <a:rPr sz="900" b="0">
                <a:solidFill>
                  <a:srgbClr val="4A5A70"/>
                </a:solidFill>
                <a:latin typeface="Calibri"/>
              </a:rPr>
              <a:t>known advisories at audit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384048" y="2377440"/>
            <a:ext cx="5637276" cy="1362456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8000"/>
              </a:lnSpc>
              <a:spcAft>
                <a:spcPts val="300"/>
              </a:spcAft>
              <a:buNone/>
            </a:pPr>
            <a:r>
              <a:rPr sz="1250" b="1">
                <a:solidFill>
                  <a:srgbClr val="0B5FA5"/>
                </a:solidFill>
                <a:latin typeface="Calibri"/>
              </a:rPr>
              <a:t>TECHNICALLY FEASIBLE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The pipeline runs end to end today: PCAP → reconstruction → cryptographic assessment → findings → reports.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Every figure in the strip above was produced by running the gate, not by asserting it.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6167628" y="2377440"/>
            <a:ext cx="5637276" cy="1362456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8000"/>
              </a:lnSpc>
              <a:spcAft>
                <a:spcPts val="300"/>
              </a:spcAft>
              <a:buNone/>
            </a:pPr>
            <a:r>
              <a:rPr sz="1250" b="1">
                <a:solidFill>
                  <a:srgbClr val="0B5FA5"/>
                </a:solidFill>
                <a:latin typeface="Calibri"/>
              </a:rPr>
              <a:t>OPERATIONALLY FEASIBLE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No agent installation · no mail-server modification · no credentials required · no active probing.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Works from the authorised PCAP / PCAPNG an organisation already collects.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384048" y="3886200"/>
            <a:ext cx="5637276" cy="1362456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8000"/>
              </a:lnSpc>
              <a:spcAft>
                <a:spcPts val="300"/>
              </a:spcAft>
              <a:buNone/>
            </a:pPr>
            <a:r>
              <a:rPr sz="1250" b="1">
                <a:solidFill>
                  <a:srgbClr val="1B6B3A"/>
                </a:solidFill>
                <a:latin typeface="Calibri"/>
              </a:rPr>
              <a:t>DEPLOYMENT VIABLE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Local-first: FastAPI + React + SQLite. Core analysis works offline.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Captured traffic never needs to be uploaded to a cloud service; it runs as a self-contained investigation workstation.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6167628" y="3886200"/>
            <a:ext cx="5637276" cy="1362456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8000"/>
              </a:lnSpc>
              <a:spcAft>
                <a:spcPts val="300"/>
              </a:spcAft>
              <a:buNone/>
            </a:pPr>
            <a:r>
              <a:rPr sz="1250" b="1">
                <a:solidFill>
                  <a:srgbClr val="0B5FA5"/>
                </a:solidFill>
                <a:latin typeface="Calibri"/>
              </a:rPr>
              <a:t>MAINTAINABLE / EXTENSIBLE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Versioned policy rules · modular protocol and TLS pipeline · canonical report model · independent TShark cross-check.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1F2C3F"/>
                </a:solidFill>
                <a:latin typeface="Calibri"/>
              </a:rPr>
              <a:t>New deterministic rules can be added without redesigning the capture pipeline.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384048" y="5394960"/>
            <a:ext cx="11420856" cy="749808"/>
          </a:xfrm>
          <a:prstGeom prst="roundRect">
            <a:avLst/>
          </a:prstGeom>
          <a:solidFill>
            <a:srgbClr val="FDF2EC"/>
          </a:solidFill>
          <a:ln w="9525">
            <a:solidFill>
              <a:srgbClr val="EE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4000"/>
              </a:lnSpc>
              <a:spcAft>
                <a:spcPts val="300"/>
              </a:spcAft>
              <a:buNone/>
            </a:pPr>
            <a:r>
              <a:rPr sz="1050" b="1">
                <a:solidFill>
                  <a:srgbClr val="A83A1E"/>
                </a:solidFill>
                <a:latin typeface="Calibri"/>
              </a:rPr>
              <a:t>KNOWN BOUNDARIES</a:t>
            </a:r>
          </a:p>
          <a:p>
            <a:pPr>
              <a:lnSpc>
                <a:spcPct val="94000"/>
              </a:lnSpc>
              <a:spcAft>
                <a:spcPts val="300"/>
              </a:spcAft>
              <a:buNone/>
            </a:pPr>
            <a:r>
              <a:rPr sz="1050" b="0">
                <a:solidFill>
                  <a:srgbClr val="1F2C3F"/>
                </a:solidFill>
                <a:latin typeface="Calibri"/>
              </a:rPr>
              <a:t>TLS 1.3 may encrypt certificate evidence a passive capture cannot recover; it is reported NOT AVAILABLE with the reason, never guessed.</a:t>
            </a:r>
          </a:p>
          <a:p>
            <a:pPr>
              <a:lnSpc>
                <a:spcPct val="94000"/>
              </a:lnSpc>
              <a:spcAft>
                <a:spcPts val="300"/>
              </a:spcAft>
              <a:buNone/>
            </a:pPr>
            <a:r>
              <a:rPr sz="1050" b="0">
                <a:solidFill>
                  <a:srgbClr val="1F2C3F"/>
                </a:solidFill>
                <a:latin typeface="Calibri"/>
              </a:rPr>
              <a:t>The AI classifier remains advisory until real-world validation; it never overrides a deterministic finding or the score.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84048" y="1042415"/>
            <a:ext cx="11420856" cy="3474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sz="1300" b="0">
                <a:solidFill>
                  <a:srgbClr val="4A5A70"/>
                </a:solidFill>
                <a:latin typeface="Calibri"/>
              </a:rPr>
              <a:t>What changes for the organisation that adopts it — and for the people who have to act on the result.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1000" b="1"/>
              <a:t>Zero-Day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84048" y="1444752"/>
            <a:ext cx="2167128" cy="148132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8000"/>
              </a:lnSpc>
              <a:spcAft>
                <a:spcPts val="300"/>
              </a:spcAft>
              <a:buNone/>
            </a:pPr>
            <a:r>
              <a:rPr sz="1150" b="1">
                <a:solidFill>
                  <a:srgbClr val="0B5FA5"/>
                </a:solidFill>
                <a:latin typeface="Calibri"/>
              </a:rPr>
              <a:t>REDUCES MANUAL ANALYSIS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00" b="0">
                <a:solidFill>
                  <a:srgbClr val="1F2C3F"/>
                </a:solidFill>
                <a:latin typeface="Calibri"/>
              </a:rPr>
              <a:t>Turns captures into structured cryptographic findings instead of an analyst reading every TLS negotiation by hand.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2697480" y="1444752"/>
            <a:ext cx="2167128" cy="148132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8000"/>
              </a:lnSpc>
              <a:spcAft>
                <a:spcPts val="300"/>
              </a:spcAft>
              <a:buNone/>
            </a:pPr>
            <a:r>
              <a:rPr sz="1150" b="1">
                <a:solidFill>
                  <a:srgbClr val="0B5FA5"/>
                </a:solidFill>
                <a:latin typeface="Calibri"/>
              </a:rPr>
              <a:t>NO PRODUCTION EXPOSURE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00" b="0">
                <a:solidFill>
                  <a:srgbClr val="1F2C3F"/>
                </a:solidFill>
                <a:latin typeface="Calibri"/>
              </a:rPr>
              <a:t>Assesses posture without modifying the mail server, deploying agents, scanning or using credentials.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5010912" y="1444752"/>
            <a:ext cx="2167128" cy="148132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8000"/>
              </a:lnSpc>
              <a:spcAft>
                <a:spcPts val="300"/>
              </a:spcAft>
              <a:buNone/>
            </a:pPr>
            <a:r>
              <a:rPr sz="1150" b="1">
                <a:solidFill>
                  <a:srgbClr val="0B5FA5"/>
                </a:solidFill>
                <a:latin typeface="Calibri"/>
              </a:rPr>
              <a:t>MAKES FINDINGS DEFENSIBLE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00" b="0">
                <a:solidFill>
                  <a:srgbClr val="1F2C3F"/>
                </a:solidFill>
                <a:latin typeface="Calibri"/>
              </a:rPr>
              <a:t>Each conclusion links to capture, session, packet, timestamp, rule and remediation — independently verifiable.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7324344" y="1444752"/>
            <a:ext cx="2167128" cy="148132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8000"/>
              </a:lnSpc>
              <a:spcAft>
                <a:spcPts val="300"/>
              </a:spcAft>
              <a:buNone/>
            </a:pPr>
            <a:r>
              <a:rPr sz="1150" b="1">
                <a:solidFill>
                  <a:srgbClr val="0B5FA5"/>
                </a:solidFill>
                <a:latin typeface="Calibri"/>
              </a:rPr>
              <a:t>PRIORITISES REMEDIATION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00" b="0">
                <a:solidFill>
                  <a:srgbClr val="1F2C3F"/>
                </a:solidFill>
                <a:latin typeface="Calibri"/>
              </a:rPr>
              <a:t>Severity, confidence, priority and a named fix, rather than raw protocol data.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9637776" y="1444752"/>
            <a:ext cx="2167128" cy="148132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8000"/>
              </a:lnSpc>
              <a:spcAft>
                <a:spcPts val="300"/>
              </a:spcAft>
              <a:buNone/>
            </a:pPr>
            <a:r>
              <a:rPr sz="1150" b="1">
                <a:solidFill>
                  <a:srgbClr val="0B5FA5"/>
                </a:solidFill>
                <a:latin typeface="Calibri"/>
              </a:rPr>
              <a:t>DETECTS REGRESSION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00" b="0">
                <a:solidFill>
                  <a:srgbClr val="1F2C3F"/>
                </a:solidFill>
                <a:latin typeface="Calibri"/>
              </a:rPr>
              <a:t>Cross-capture drift reveals changes in observed cryptographic posture between captures of the same service.</a:t>
            </a:r>
          </a:p>
        </p:txBody>
      </p:sp>
      <p:pic>
        <p:nvPicPr>
          <p:cNvPr id="17416" name="Picture 17415" descr="crop-0.11-0.15-1.0-0.648-04-finding-evid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3054096"/>
            <a:ext cx="4587563" cy="1589138"/>
          </a:xfrm>
          <a:prstGeom prst="rect">
            <a:avLst/>
          </a:prstGeom>
        </p:spPr>
      </p:pic>
      <p:sp>
        <p:nvSpPr>
          <p:cNvPr id="17417" name="Rectangle 17416"/>
          <p:cNvSpPr/>
          <p:nvPr/>
        </p:nvSpPr>
        <p:spPr>
          <a:xfrm>
            <a:off x="384048" y="3054096"/>
            <a:ext cx="4587563" cy="1589138"/>
          </a:xfrm>
          <a:prstGeom prst="rect">
            <a:avLst/>
          </a:prstGeom>
          <a:noFill/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384048" y="4679810"/>
            <a:ext cx="458756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1100" b="0">
                <a:solidFill>
                  <a:srgbClr val="4A5A70"/>
                </a:solidFill>
                <a:latin typeface="Calibri"/>
              </a:rPr>
              <a:t>DEFENSIBLE — the finding, its rule and the packets it was evaluated against.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5117915" y="3054096"/>
            <a:ext cx="3724556" cy="1881746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8000"/>
              </a:lnSpc>
              <a:spcAft>
                <a:spcPts val="300"/>
              </a:spcAft>
              <a:buNone/>
            </a:pPr>
            <a:r>
              <a:rPr sz="1150" b="1">
                <a:solidFill>
                  <a:srgbClr val="0B5FA5"/>
                </a:solidFill>
                <a:latin typeface="Calibri"/>
              </a:rPr>
              <a:t>REGRESSION OVER TIME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00" b="1">
                <a:solidFill>
                  <a:srgbClr val="A83A1E"/>
                </a:solidFill>
                <a:latin typeface="Calibri"/>
              </a:rPr>
              <a:t>negotiated version · OBSERVED_CHANGE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5392235" y="3602736"/>
            <a:ext cx="1405078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00" b="1">
                <a:solidFill>
                  <a:srgbClr val="4A5A70"/>
                </a:solidFill>
                <a:latin typeface="Calibri"/>
              </a:rPr>
              <a:t>EARLIER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400" b="1">
                <a:solidFill>
                  <a:srgbClr val="0B5FA5"/>
                </a:solidFill>
                <a:latin typeface="Calibri"/>
              </a:rPr>
              <a:t>TLS 1.2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7163073" y="3602736"/>
            <a:ext cx="1405078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00" b="1">
                <a:solidFill>
                  <a:srgbClr val="4A5A70"/>
                </a:solidFill>
                <a:latin typeface="Calibri"/>
              </a:rPr>
              <a:t>LATER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400" b="1">
                <a:solidFill>
                  <a:srgbClr val="A83A1E"/>
                </a:solidFill>
                <a:latin typeface="Calibri"/>
              </a:rPr>
              <a:t>TLS 1.0</a:t>
            </a:r>
          </a:p>
        </p:txBody>
      </p:sp>
      <p:sp>
        <p:nvSpPr>
          <p:cNvPr id="17422" name="Right Arrow 17421"/>
          <p:cNvSpPr/>
          <p:nvPr/>
        </p:nvSpPr>
        <p:spPr>
          <a:xfrm>
            <a:off x="6852177" y="3831335"/>
            <a:ext cx="256032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TextBox 17422"/>
          <p:cNvSpPr txBox="1"/>
          <p:nvPr/>
        </p:nvSpPr>
        <p:spPr>
          <a:xfrm>
            <a:off x="5264219" y="4405490"/>
            <a:ext cx="34319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6000"/>
              </a:lnSpc>
              <a:spcAft>
                <a:spcPts val="300"/>
              </a:spcAft>
              <a:buNone/>
            </a:pPr>
            <a:r>
              <a:rPr sz="950" b="0">
                <a:solidFill>
                  <a:srgbClr val="4A5A70"/>
                </a:solidFill>
                <a:latin typeface="Calibri"/>
              </a:rPr>
              <a:t>The same observed service, two captures. The change is recorded as OBSERVED_CHANGE, never inferred.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8988775" y="3054096"/>
            <a:ext cx="2816128" cy="1881746"/>
          </a:xfrm>
          <a:prstGeom prst="roundRect">
            <a:avLst/>
          </a:prstGeom>
          <a:solidFill>
            <a:srgbClr val="EEF7F0"/>
          </a:solidFill>
          <a:ln w="9525">
            <a:solidFill>
              <a:srgbClr val="C6E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8000"/>
              </a:lnSpc>
              <a:spcAft>
                <a:spcPts val="300"/>
              </a:spcAft>
              <a:buNone/>
            </a:pPr>
            <a:r>
              <a:rPr sz="1150" b="1">
                <a:solidFill>
                  <a:srgbClr val="1B6B3A"/>
                </a:solidFill>
                <a:latin typeface="Calibri"/>
              </a:rPr>
              <a:t>KEEPS SENSITIVE TRAFFIC LOCAL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00" b="0">
                <a:solidFill>
                  <a:srgbClr val="1F2C3F"/>
                </a:solidFill>
                <a:latin typeface="Calibri"/>
              </a:rPr>
              <a:t>Captured enterprise and government email metadata does not need to be sent to an external AI or cloud service for core analysis.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00" b="0">
                <a:solidFill>
                  <a:srgbClr val="1F2C3F"/>
                </a:solidFill>
                <a:latin typeface="Calibri"/>
              </a:rPr>
              <a:t>The engine opens no socket. The only traffic is the browser talking to 127.0.0.1.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384048" y="5084064"/>
            <a:ext cx="2167128" cy="438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0B5FA5"/>
                </a:solidFill>
                <a:latin typeface="Calibri"/>
              </a:rPr>
              <a:t>SOC / SECURITY ANALYSTS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2697480" y="5084064"/>
            <a:ext cx="2167128" cy="438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0B5FA5"/>
                </a:solidFill>
                <a:latin typeface="Calibri"/>
              </a:rPr>
              <a:t>INCIDENT RESPONSE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5010912" y="5084064"/>
            <a:ext cx="2167128" cy="438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0B5FA5"/>
                </a:solidFill>
                <a:latin typeface="Calibri"/>
              </a:rPr>
              <a:t>MAIL ADMINISTRATORS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7324344" y="5084064"/>
            <a:ext cx="2167128" cy="438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0B5FA5"/>
                </a:solidFill>
                <a:latin typeface="Calibri"/>
              </a:rPr>
              <a:t>AUDIT / ASSURANCE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9637776" y="5084064"/>
            <a:ext cx="2167128" cy="438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0B5FA5"/>
                </a:solidFill>
                <a:latin typeface="Calibri"/>
              </a:rPr>
              <a:t>GOVERNMENT / ENTERPRISE SECURITY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384048" y="5650992"/>
            <a:ext cx="11420856" cy="420624"/>
          </a:xfrm>
          <a:prstGeom prst="roundRect">
            <a:avLst/>
          </a:prstGeom>
          <a:solidFill>
            <a:srgbClr val="EFF5EF"/>
          </a:solidFill>
          <a:ln w="9525">
            <a:solidFill>
              <a:srgbClr val="CFE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1050" b="1">
                <a:solidFill>
                  <a:srgbClr val="2D5A3A"/>
                </a:solidFill>
                <a:latin typeface="Calibri"/>
              </a:rPr>
              <a:t>Benefits demonstrated on controlled synthetic captures; no production deployment and no measured time-saving claim.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84048" y="1042415"/>
            <a:ext cx="11420856" cy="3474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sz="1300" b="0">
                <a:solidFill>
                  <a:srgbClr val="4A5A70"/>
                </a:solidFill>
                <a:latin typeface="Calibri"/>
              </a:rPr>
              <a:t>The standards the rules cite, and the pipeline every claim in this deck is checked by.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1000" b="1"/>
              <a:t>Zero-Day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84048" y="1444752"/>
            <a:ext cx="3709416" cy="133502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8000"/>
              </a:lnSpc>
              <a:spcAft>
                <a:spcPts val="300"/>
              </a:spcAft>
              <a:buNone/>
            </a:pPr>
            <a:r>
              <a:rPr sz="1200" b="1">
                <a:solidFill>
                  <a:srgbClr val="0B5FA5"/>
                </a:solidFill>
                <a:latin typeface="Calibri"/>
              </a:rPr>
              <a:t>CORE TLS / PKI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50" b="0">
                <a:solidFill>
                  <a:srgbClr val="1F2C3F"/>
                </a:solidFill>
                <a:latin typeface="Calibri"/>
              </a:rPr>
              <a:t>RFC 8446 — TLS 1.3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50" b="0">
                <a:solidFill>
                  <a:srgbClr val="1F2C3F"/>
                </a:solidFill>
                <a:latin typeface="Calibri"/>
              </a:rPr>
              <a:t>RFC 9325 — secure use of TLS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50" b="0">
                <a:solidFill>
                  <a:srgbClr val="1F2C3F"/>
                </a:solidFill>
                <a:latin typeface="Calibri"/>
              </a:rPr>
              <a:t>RFC 5280 — X.509 and CRL profile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50" b="0">
                <a:solidFill>
                  <a:srgbClr val="1F2C3F"/>
                </a:solidFill>
                <a:latin typeface="Calibri"/>
              </a:rPr>
              <a:t>NIST SP 800-52 Rev. 2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239768" y="1444752"/>
            <a:ext cx="3709416" cy="133502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8000"/>
              </a:lnSpc>
              <a:spcAft>
                <a:spcPts val="300"/>
              </a:spcAft>
              <a:buNone/>
            </a:pPr>
            <a:r>
              <a:rPr sz="1200" b="1">
                <a:solidFill>
                  <a:srgbClr val="0B5FA5"/>
                </a:solidFill>
                <a:latin typeface="Calibri"/>
              </a:rPr>
              <a:t>EMAIL SECURITY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50" b="0">
                <a:solidFill>
                  <a:srgbClr val="1F2C3F"/>
                </a:solidFill>
                <a:latin typeface="Calibri"/>
              </a:rPr>
              <a:t>RFC 5321 — SMTP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50" b="0">
                <a:solidFill>
                  <a:srgbClr val="1F2C3F"/>
                </a:solidFill>
                <a:latin typeface="Calibri"/>
              </a:rPr>
              <a:t>RFC 3207 — STARTTLS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50" b="0">
                <a:solidFill>
                  <a:srgbClr val="1F2C3F"/>
                </a:solidFill>
                <a:latin typeface="Calibri"/>
              </a:rPr>
              <a:t>RFC 9051 — IMAP 4rev2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50" b="0">
                <a:solidFill>
                  <a:srgbClr val="1F2C3F"/>
                </a:solidFill>
                <a:latin typeface="Calibri"/>
              </a:rPr>
              <a:t>RFC 1939 / RFC 2595 — POP3 and TLS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8095488" y="1444752"/>
            <a:ext cx="3709416" cy="133502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98000"/>
              </a:lnSpc>
              <a:spcAft>
                <a:spcPts val="300"/>
              </a:spcAft>
              <a:buNone/>
            </a:pPr>
            <a:r>
              <a:rPr sz="1200" b="1">
                <a:solidFill>
                  <a:srgbClr val="0B5FA5"/>
                </a:solidFill>
                <a:latin typeface="Calibri"/>
              </a:rPr>
              <a:t>VALIDATION / TOOLING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50" b="0">
                <a:solidFill>
                  <a:srgbClr val="1F2C3F"/>
                </a:solidFill>
                <a:latin typeface="Calibri"/>
              </a:rPr>
              <a:t>Wireshark / TShark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50" b="0">
                <a:solidFill>
                  <a:srgbClr val="1F2C3F"/>
                </a:solidFill>
                <a:latin typeface="Calibri"/>
              </a:rPr>
              <a:t>Scapy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50" b="0">
                <a:solidFill>
                  <a:srgbClr val="1F2C3F"/>
                </a:solidFill>
                <a:latin typeface="Calibri"/>
              </a:rPr>
              <a:t>cryptography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50" b="0">
                <a:solidFill>
                  <a:srgbClr val="1F2C3F"/>
                </a:solidFill>
                <a:latin typeface="Calibri"/>
              </a:rPr>
              <a:t>pytest · Playwright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384048" y="2926080"/>
            <a:ext cx="11420856" cy="1572768"/>
          </a:xfrm>
          <a:prstGeom prst="roundRect">
            <a:avLst/>
          </a:prstGeom>
          <a:solidFill>
            <a:srgbClr val="F7FAFD"/>
          </a:solidFill>
          <a:ln w="9525">
            <a:solidFill>
              <a:srgbClr val="DC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tIns="27432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800" b="1">
                <a:solidFill>
                  <a:srgbClr val="8A9BB0"/>
                </a:solidFill>
                <a:latin typeface="Calibri"/>
              </a:rPr>
              <a:t>HOW EVERY CLAIM IS CHECKED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530352" y="3200400"/>
            <a:ext cx="1595628" cy="111556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111B2A"/>
                </a:solidFill>
                <a:latin typeface="Calibri"/>
              </a:rPr>
              <a:t>CONTROLLED FIXTURES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00" b="0">
                <a:solidFill>
                  <a:srgbClr val="4A5A70"/>
                </a:solidFill>
                <a:latin typeface="Calibri"/>
              </a:rPr>
              <a:t>one fixed seed, identical bytes everywhere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2436876" y="3200400"/>
            <a:ext cx="1595628" cy="111556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111B2A"/>
                </a:solidFill>
                <a:latin typeface="Calibri"/>
              </a:rPr>
              <a:t>HAND-DERIVED EXPECTATIONS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00" b="0">
                <a:solidFill>
                  <a:srgbClr val="4A5A70"/>
                </a:solidFill>
                <a:latin typeface="Calibri"/>
              </a:rPr>
              <a:t>written by hand, committed, not read back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4343400" y="3200400"/>
            <a:ext cx="1595628" cy="111556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111B2A"/>
                </a:solidFill>
                <a:latin typeface="Calibri"/>
              </a:rPr>
              <a:t>ENGINE UNDER TEST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00" b="0">
                <a:solidFill>
                  <a:srgbClr val="4A5A70"/>
                </a:solidFill>
                <a:latin typeface="Calibri"/>
              </a:rPr>
              <a:t>1,357 tests; captures stay out of git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6249924" y="3200400"/>
            <a:ext cx="1595628" cy="111556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111B2A"/>
                </a:solidFill>
                <a:latin typeface="Calibri"/>
              </a:rPr>
              <a:t>INDEPENDENT TSHARK CROSS-CHECK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00" b="0">
                <a:solidFill>
                  <a:srgbClr val="4A5A70"/>
                </a:solidFill>
                <a:latin typeface="Calibri"/>
              </a:rPr>
              <a:t>against Wireshark’s own dissector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8156448" y="3200400"/>
            <a:ext cx="1595628" cy="111556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111B2A"/>
                </a:solidFill>
                <a:latin typeface="Calibri"/>
              </a:rPr>
              <a:t>REAL-BACKEND PLAYWRIGHT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00" b="0">
                <a:solidFill>
                  <a:srgbClr val="4A5A70"/>
                </a:solidFill>
                <a:latin typeface="Calibri"/>
              </a:rPr>
              <a:t>five browser specs, including a restart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10062972" y="3200400"/>
            <a:ext cx="1595628" cy="1115568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1000" b="1">
                <a:solidFill>
                  <a:srgbClr val="111B2A"/>
                </a:solidFill>
                <a:latin typeface="Calibri"/>
              </a:rPr>
              <a:t>REPORT PARITY</a:t>
            </a:r>
          </a:p>
          <a:p>
            <a:pPr algn="ctr">
              <a:lnSpc>
                <a:spcPct val="88000"/>
              </a:lnSpc>
              <a:spcAft>
                <a:spcPts val="100"/>
              </a:spcAft>
              <a:buNone/>
            </a:pPr>
            <a:r>
              <a:rPr sz="900" b="0">
                <a:solidFill>
                  <a:srgbClr val="4A5A70"/>
                </a:solidFill>
                <a:latin typeface="Calibri"/>
              </a:rPr>
              <a:t>JSON, HTML and PDF asserted to agree</a:t>
            </a:r>
          </a:p>
        </p:txBody>
      </p:sp>
      <p:sp>
        <p:nvSpPr>
          <p:cNvPr id="17421" name="Right Arrow 17420"/>
          <p:cNvSpPr/>
          <p:nvPr/>
        </p:nvSpPr>
        <p:spPr>
          <a:xfrm>
            <a:off x="2180844" y="3675887"/>
            <a:ext cx="201168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Right Arrow 17421"/>
          <p:cNvSpPr/>
          <p:nvPr/>
        </p:nvSpPr>
        <p:spPr>
          <a:xfrm>
            <a:off x="4087368" y="3675887"/>
            <a:ext cx="201168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Right Arrow 17422"/>
          <p:cNvSpPr/>
          <p:nvPr/>
        </p:nvSpPr>
        <p:spPr>
          <a:xfrm>
            <a:off x="5993892" y="3675887"/>
            <a:ext cx="201168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Right Arrow 17423"/>
          <p:cNvSpPr/>
          <p:nvPr/>
        </p:nvSpPr>
        <p:spPr>
          <a:xfrm>
            <a:off x="7900416" y="3675887"/>
            <a:ext cx="201168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Right Arrow 17424"/>
          <p:cNvSpPr/>
          <p:nvPr/>
        </p:nvSpPr>
        <p:spPr>
          <a:xfrm>
            <a:off x="9806940" y="3675887"/>
            <a:ext cx="201168" cy="164592"/>
          </a:xfrm>
          <a:prstGeom prst="rightArrow">
            <a:avLst/>
          </a:prstGeom>
          <a:solidFill>
            <a:srgbClr val="4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Rounded Rectangle 17425"/>
          <p:cNvSpPr/>
          <p:nvPr/>
        </p:nvSpPr>
        <p:spPr>
          <a:xfrm>
            <a:off x="384048" y="4754880"/>
            <a:ext cx="6766560" cy="106070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1200" b="1">
                <a:solidFill>
                  <a:srgbClr val="0B5FA5"/>
                </a:solidFill>
                <a:latin typeface="Calibri"/>
              </a:rPr>
              <a:t>PROJECT</a:t>
            </a:r>
          </a:p>
          <a:p>
            <a:pPr>
              <a:lnSpc>
                <a:spcPct val="88000"/>
              </a:lnSpc>
              <a:spcAft>
                <a:spcPts val="200"/>
              </a:spcAft>
              <a:buNone/>
            </a:pPr>
            <a:r>
              <a:rPr sz="1150" b="1">
                <a:solidFill>
                  <a:srgbClr val="111B2A"/>
                </a:solidFill>
                <a:latin typeface="Calibri"/>
              </a:rPr>
              <a:t>GitHub repository  </a:t>
            </a:r>
            <a:r>
              <a:rPr sz="1150" u="sng">
                <a:solidFill>
                  <a:srgbClr val="0B5FA5"/>
                </a:solidFill>
                <a:latin typeface="Calibri"/>
                <a:hlinkClick r:id="rId4"/>
              </a:rPr>
              <a:t>https://github.com/sgtsujith141-wq/securemailscope</a:t>
            </a:r>
          </a:p>
          <a:p>
            <a:pPr>
              <a:lnSpc>
                <a:spcPct val="88000"/>
              </a:lnSpc>
              <a:spcAft>
                <a:spcPts val="200"/>
              </a:spcAft>
              <a:buNone/>
            </a:pPr>
            <a:r>
              <a:rPr sz="1150" b="1">
                <a:solidFill>
                  <a:srgbClr val="111B2A"/>
                </a:solidFill>
                <a:latin typeface="Calibri"/>
              </a:rPr>
              <a:t>Demo video included in submission package.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7296912" y="4754880"/>
            <a:ext cx="4507992" cy="1060704"/>
          </a:xfrm>
          <a:prstGeom prst="roundRect">
            <a:avLst/>
          </a:prstGeom>
          <a:solidFill>
            <a:srgbClr val="EEF3F9"/>
          </a:solidFill>
          <a:ln w="9525">
            <a:solidFill>
              <a:srgbClr val="C2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</a:p>
        </p:txBody>
      </p:sp>
      <p:pic>
        <p:nvPicPr>
          <p:cNvPr id="17428" name="Picture 17427" descr="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4928" y="4892040"/>
            <a:ext cx="786384" cy="786384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8339328" y="4983480"/>
            <a:ext cx="3337559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1000" b="1">
                <a:solidFill>
                  <a:srgbClr val="0B5FA5"/>
                </a:solidFill>
                <a:latin typeface="Calibri"/>
              </a:rPr>
              <a:t>SCAN FOR THE REPOSITORY</a:t>
            </a:r>
          </a:p>
          <a:p>
            <a:pPr>
              <a:lnSpc>
                <a:spcPct val="98000"/>
              </a:lnSpc>
              <a:spcAft>
                <a:spcPts val="300"/>
              </a:spcAft>
              <a:buNone/>
            </a:pPr>
            <a:r>
              <a:rPr sz="950" b="0">
                <a:solidFill>
                  <a:srgbClr val="4A5A70"/>
                </a:solidFill>
                <a:latin typeface="Calibri"/>
              </a:rPr>
              <a:t>Public — source, tests and submission package.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