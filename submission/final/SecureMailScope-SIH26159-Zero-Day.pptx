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github.com/sgtsujith141-wq/securemailscope" TargetMode="External"/><Relationship Id="rId5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928" y="3163824"/>
            <a:ext cx="6766560" cy="2834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  <a:buNone/>
            </a:pPr>
            <a:r>
              <a:rPr sz="1500" b="0">
                <a:solidFill>
                  <a:srgbClr val="111B2A"/>
                </a:solidFill>
                <a:latin typeface="Calibri"/>
              </a:rPr>
              <a:t>Problem Statement ID – SIH26159</a:t>
            </a:r>
            <a:endParaRPr lang="en-US" dirty="0"/>
          </a:p>
          <a:p>
            <a:pPr>
              <a:lnSpc>
                <a:spcPct val="130000"/>
              </a:lnSpc>
              <a:spcAft>
                <a:spcPts val="300"/>
              </a:spcAft>
              <a:buNone/>
            </a:pPr>
            <a:r>
              <a:rPr sz="1500" b="0">
                <a:solidFill>
                  <a:srgbClr val="111B2A"/>
                </a:solidFill>
                <a:latin typeface="Calibri"/>
              </a:rPr>
              <a:t>Problem Statement Title – SecureMailScope: AI-Assisted Cryptographic Security Posture Assessment for Secure Email Communications</a:t>
            </a:r>
          </a:p>
          <a:p>
            <a:pPr>
              <a:lnSpc>
                <a:spcPct val="130000"/>
              </a:lnSpc>
              <a:spcAft>
                <a:spcPts val="300"/>
              </a:spcAft>
              <a:buNone/>
            </a:pPr>
            <a:r>
              <a:rPr sz="1500" b="0">
                <a:solidFill>
                  <a:srgbClr val="111B2A"/>
                </a:solidFill>
                <a:latin typeface="Calibri"/>
              </a:rPr>
              <a:t>Organisation – National Technical Research Organisation (NTRO)</a:t>
            </a:r>
          </a:p>
          <a:p>
            <a:pPr>
              <a:lnSpc>
                <a:spcPct val="130000"/>
              </a:lnSpc>
              <a:spcAft>
                <a:spcPts val="300"/>
              </a:spcAft>
              <a:buNone/>
            </a:pPr>
            <a:r>
              <a:rPr sz="1500" b="0">
                <a:solidFill>
                  <a:srgbClr val="111B2A"/>
                </a:solidFill>
                <a:latin typeface="Calibri"/>
              </a:rPr>
              <a:t>Theme – Blockchain &amp; Cybersecurity</a:t>
            </a:r>
          </a:p>
          <a:p>
            <a:pPr>
              <a:lnSpc>
                <a:spcPct val="130000"/>
              </a:lnSpc>
              <a:spcAft>
                <a:spcPts val="300"/>
              </a:spcAft>
              <a:buNone/>
            </a:pPr>
            <a:r>
              <a:rPr sz="1500" b="0">
                <a:solidFill>
                  <a:srgbClr val="111B2A"/>
                </a:solidFill>
                <a:latin typeface="Calibri"/>
              </a:rPr>
              <a:t>PS Category – Software</a:t>
            </a:r>
          </a:p>
          <a:p>
            <a:pPr>
              <a:lnSpc>
                <a:spcPct val="130000"/>
              </a:lnSpc>
              <a:spcAft>
                <a:spcPts val="300"/>
              </a:spcAft>
              <a:buNone/>
            </a:pPr>
            <a:r>
              <a:rPr sz="1500" b="0">
                <a:solidFill>
                  <a:srgbClr val="111B2A"/>
                </a:solidFill>
                <a:latin typeface="Calibri"/>
              </a:rPr>
              <a:t>Team ID – 146876</a:t>
            </a:r>
          </a:p>
          <a:p>
            <a:pPr>
              <a:lnSpc>
                <a:spcPct val="130000"/>
              </a:lnSpc>
              <a:spcAft>
                <a:spcPts val="300"/>
              </a:spcAft>
              <a:buNone/>
            </a:pPr>
            <a:r>
              <a:rPr sz="1500" b="0">
                <a:solidFill>
                  <a:srgbClr val="111B2A"/>
                </a:solidFill>
                <a:latin typeface="Calibri"/>
              </a:rPr>
              <a:t>Team Name (Registered on portal) – Zero-Day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66928" y="1938528"/>
            <a:ext cx="6766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300"/>
              </a:spcAft>
              <a:buNone/>
            </a:pPr>
            <a:r>
              <a:rPr sz="4000" b="1">
                <a:solidFill>
                  <a:srgbClr val="0B5FA5"/>
                </a:solidFill>
                <a:latin typeface="Calibri"/>
              </a:rPr>
              <a:t>SecureMailScope</a:t>
            </a:r>
          </a:p>
          <a:p>
            <a:pPr>
              <a:lnSpc>
                <a:spcPct val="104000"/>
              </a:lnSpc>
              <a:spcAft>
                <a:spcPts val="300"/>
              </a:spcAft>
              <a:buNone/>
            </a:pPr>
            <a:r>
              <a:rPr sz="1400" b="0">
                <a:solidFill>
                  <a:srgbClr val="1F2C3F"/>
                </a:solidFill>
                <a:latin typeface="Calibri"/>
              </a:rPr>
              <a:t>AI-Assisted Cryptographic Security Posture Assessment for Secure Email Communications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1847088"/>
            <a:ext cx="1188720" cy="45720"/>
          </a:xfrm>
          <a:prstGeom prst="rect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384048" y="969264"/>
            <a:ext cx="11430000" cy="5669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00000"/>
              </a:lnSpc>
              <a:spcAft>
                <a:spcPts val="300"/>
              </a:spcAft>
              <a:buFont typeface="Wingdings" panose="05000000000000000000" pitchFamily="2" charset="2"/>
              <a:buNone/>
            </a:pPr>
            <a:r>
              <a:rPr sz="2000" b="1">
                <a:solidFill>
                  <a:srgbClr val="0B5FA5"/>
                </a:solidFill>
                <a:latin typeface="Calibri"/>
              </a:rPr>
              <a:t>SecureMailScope turns passive email packet captures into evidence-backed cryptographic investigations.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000" b="1"/>
              <a:t>Zero-Day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384048" y="1664208"/>
            <a:ext cx="1700784" cy="71323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100" b="1">
                <a:solidFill>
                  <a:srgbClr val="111B2A"/>
                </a:solidFill>
                <a:latin typeface="Calibri"/>
              </a:rPr>
              <a:t>PCAP / PCAPNG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authorised capture</a:t>
            </a:r>
          </a:p>
        </p:txBody>
      </p:sp>
      <p:sp>
        <p:nvSpPr>
          <p:cNvPr id="15364" name="Right Arrow 15363"/>
          <p:cNvSpPr/>
          <p:nvPr/>
        </p:nvSpPr>
        <p:spPr>
          <a:xfrm>
            <a:off x="2103120" y="1938528"/>
            <a:ext cx="182880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5" name="Rounded Rectangle 15364"/>
          <p:cNvSpPr/>
          <p:nvPr/>
        </p:nvSpPr>
        <p:spPr>
          <a:xfrm>
            <a:off x="2313432" y="1664208"/>
            <a:ext cx="1700784" cy="71323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100" b="1">
                <a:solidFill>
                  <a:srgbClr val="111B2A"/>
                </a:solidFill>
                <a:latin typeface="Calibri"/>
              </a:rPr>
              <a:t>TCP RECONSTRUCTION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sessions rebuilt</a:t>
            </a:r>
          </a:p>
        </p:txBody>
      </p:sp>
      <p:sp>
        <p:nvSpPr>
          <p:cNvPr id="15366" name="Right Arrow 15365"/>
          <p:cNvSpPr/>
          <p:nvPr/>
        </p:nvSpPr>
        <p:spPr>
          <a:xfrm>
            <a:off x="4032504" y="1938528"/>
            <a:ext cx="182880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7" name="Rounded Rectangle 15366"/>
          <p:cNvSpPr/>
          <p:nvPr/>
        </p:nvSpPr>
        <p:spPr>
          <a:xfrm>
            <a:off x="4242816" y="1664208"/>
            <a:ext cx="1700784" cy="71323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100" b="1">
                <a:solidFill>
                  <a:srgbClr val="111B2A"/>
                </a:solidFill>
                <a:latin typeface="Calibri"/>
              </a:rPr>
              <a:t>SMTP · IMAP · POP3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from the dialogue</a:t>
            </a:r>
          </a:p>
        </p:txBody>
      </p:sp>
      <p:sp>
        <p:nvSpPr>
          <p:cNvPr id="15368" name="Right Arrow 15367"/>
          <p:cNvSpPr/>
          <p:nvPr/>
        </p:nvSpPr>
        <p:spPr>
          <a:xfrm>
            <a:off x="5961888" y="1938528"/>
            <a:ext cx="182880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9" name="Rounded Rectangle 15368"/>
          <p:cNvSpPr/>
          <p:nvPr/>
        </p:nvSpPr>
        <p:spPr>
          <a:xfrm>
            <a:off x="6172200" y="1664208"/>
            <a:ext cx="1700784" cy="71323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100" b="1">
                <a:solidFill>
                  <a:srgbClr val="111B2A"/>
                </a:solidFill>
                <a:latin typeface="Calibri"/>
              </a:rPr>
              <a:t>STARTTLS · STLS · TLS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upgrade and handshake</a:t>
            </a:r>
          </a:p>
        </p:txBody>
      </p:sp>
      <p:sp>
        <p:nvSpPr>
          <p:cNvPr id="15370" name="Right Arrow 15369"/>
          <p:cNvSpPr/>
          <p:nvPr/>
        </p:nvSpPr>
        <p:spPr>
          <a:xfrm>
            <a:off x="7891272" y="1938528"/>
            <a:ext cx="182880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1" name="Rounded Rectangle 15370"/>
          <p:cNvSpPr/>
          <p:nvPr/>
        </p:nvSpPr>
        <p:spPr>
          <a:xfrm>
            <a:off x="8101584" y="1664208"/>
            <a:ext cx="1700784" cy="71323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100" b="1">
                <a:solidFill>
                  <a:srgbClr val="111B2A"/>
                </a:solidFill>
                <a:latin typeface="Calibri"/>
              </a:rPr>
              <a:t>CRYPTOGRAPHIC EVIDENCE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versions, suites, certificates</a:t>
            </a:r>
          </a:p>
        </p:txBody>
      </p:sp>
      <p:sp>
        <p:nvSpPr>
          <p:cNvPr id="15372" name="Right Arrow 15371"/>
          <p:cNvSpPr/>
          <p:nvPr/>
        </p:nvSpPr>
        <p:spPr>
          <a:xfrm>
            <a:off x="9820656" y="1938528"/>
            <a:ext cx="182880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3" name="Rounded Rectangle 15372"/>
          <p:cNvSpPr/>
          <p:nvPr/>
        </p:nvSpPr>
        <p:spPr>
          <a:xfrm>
            <a:off x="10030968" y="1664208"/>
            <a:ext cx="1700784" cy="71323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100" b="1">
                <a:solidFill>
                  <a:srgbClr val="111B2A"/>
                </a:solidFill>
                <a:latin typeface="Calibri"/>
              </a:rPr>
              <a:t>RISK + REMEDIATION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ranked, with the fix</a:t>
            </a:r>
          </a:p>
        </p:txBody>
      </p:sp>
      <p:pic>
        <p:nvPicPr>
          <p:cNvPr id="15374" name="Picture 15373" descr="crop-0.11-0.022-1.0-0.2-02-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615184"/>
            <a:ext cx="7461504" cy="2589041"/>
          </a:xfrm>
          <a:prstGeom prst="rect">
            <a:avLst/>
          </a:prstGeom>
        </p:spPr>
      </p:pic>
      <p:sp>
        <p:nvSpPr>
          <p:cNvPr id="15375" name="Rectangle 15374"/>
          <p:cNvSpPr/>
          <p:nvPr/>
        </p:nvSpPr>
        <p:spPr>
          <a:xfrm>
            <a:off x="384048" y="2615184"/>
            <a:ext cx="7461504" cy="2589041"/>
          </a:xfrm>
          <a:prstGeom prst="rect">
            <a:avLst/>
          </a:prstGeom>
          <a:noFill/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6" name="TextBox 15375"/>
          <p:cNvSpPr txBox="1"/>
          <p:nvPr/>
        </p:nvSpPr>
        <p:spPr>
          <a:xfrm>
            <a:off x="384048" y="5240801"/>
            <a:ext cx="74615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4A5A70"/>
                </a:solidFill>
                <a:latin typeface="Calibri"/>
              </a:rPr>
              <a:t>The investigation opens on its conclusion. Actual product output.</a:t>
            </a:r>
          </a:p>
        </p:txBody>
      </p:sp>
      <p:sp>
        <p:nvSpPr>
          <p:cNvPr id="15377" name="Rounded Rectangle 15376"/>
          <p:cNvSpPr/>
          <p:nvPr/>
        </p:nvSpPr>
        <p:spPr>
          <a:xfrm>
            <a:off x="8065008" y="2615184"/>
            <a:ext cx="3749039" cy="93268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250" b="1">
                <a:solidFill>
                  <a:srgbClr val="0B5FA5"/>
                </a:solidFill>
                <a:latin typeface="Calibri"/>
              </a:rPr>
              <a:t>PASSIVE BY DESIGN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Existing captures only. No live probe, no connection back to the mail server, nothing leaves the machine.</a:t>
            </a:r>
          </a:p>
        </p:txBody>
      </p:sp>
      <p:sp>
        <p:nvSpPr>
          <p:cNvPr id="15378" name="Rounded Rectangle 15377"/>
          <p:cNvSpPr/>
          <p:nvPr/>
        </p:nvSpPr>
        <p:spPr>
          <a:xfrm>
            <a:off x="8065008" y="3639312"/>
            <a:ext cx="3749039" cy="93268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250" b="1">
                <a:solidFill>
                  <a:srgbClr val="0B5FA5"/>
                </a:solidFill>
                <a:latin typeface="Calibri"/>
              </a:rPr>
              <a:t>EVIDENCE-FIRST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Every finding traces back to the packets that establish it — number, timestamp and stream offset.</a:t>
            </a:r>
          </a:p>
        </p:txBody>
      </p:sp>
      <p:sp>
        <p:nvSpPr>
          <p:cNvPr id="15379" name="Rounded Rectangle 15378"/>
          <p:cNvSpPr/>
          <p:nvPr/>
        </p:nvSpPr>
        <p:spPr>
          <a:xfrm>
            <a:off x="8065008" y="4663440"/>
            <a:ext cx="3749039" cy="93268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250" b="1">
                <a:solidFill>
                  <a:srgbClr val="0B5FA5"/>
                </a:solidFill>
                <a:latin typeface="Calibri"/>
              </a:rPr>
              <a:t>CROSS-CAPTURE INTELLIGENCE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Cryptographic fingerprints, configuration drift and correlation across captures of the same service.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84048" y="950976"/>
            <a:ext cx="11430000" cy="329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00000"/>
              </a:lnSpc>
              <a:spcAft>
                <a:spcPts val="300"/>
              </a:spcAft>
              <a:buFont typeface="Arial" panose="020B0604020202020204" pitchFamily="34" charset="0"/>
              <a:buNone/>
            </a:pPr>
            <a:r>
              <a:rPr sz="1300" b="0">
                <a:solidFill>
                  <a:srgbClr val="4A5A70"/>
                </a:solidFill>
                <a:latin typeface="Calibri"/>
              </a:rPr>
              <a:t>Each stage consumes the previous stage’s evidence and preserves packet-level provenance.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000" b="1"/>
              <a:t>Zero-Day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335024"/>
            <a:ext cx="2103120" cy="2761488"/>
          </a:xfrm>
          <a:prstGeom prst="roundRect">
            <a:avLst/>
          </a:prstGeom>
          <a:solidFill>
            <a:srgbClr val="F7FAFD"/>
          </a:solidFill>
          <a:ln w="9525">
            <a:solidFill>
              <a:srgbClr val="DC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750" b="1">
                <a:solidFill>
                  <a:srgbClr val="8A9BB0"/>
                </a:solidFill>
                <a:latin typeface="Calibri"/>
              </a:rPr>
              <a:t>INPUT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2688336" y="1335024"/>
            <a:ext cx="3291840" cy="2761488"/>
          </a:xfrm>
          <a:prstGeom prst="roundRect">
            <a:avLst/>
          </a:prstGeom>
          <a:solidFill>
            <a:srgbClr val="F7FAFD"/>
          </a:solidFill>
          <a:ln w="9525">
            <a:solidFill>
              <a:srgbClr val="DC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750" b="1">
                <a:solidFill>
                  <a:srgbClr val="8A9BB0"/>
                </a:solidFill>
                <a:latin typeface="Calibri"/>
              </a:rPr>
              <a:t>RECONSTRUCTION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181344" y="1335024"/>
            <a:ext cx="2980944" cy="2761488"/>
          </a:xfrm>
          <a:prstGeom prst="roundRect">
            <a:avLst/>
          </a:prstGeom>
          <a:solidFill>
            <a:srgbClr val="F7FAFD"/>
          </a:solidFill>
          <a:ln w="9525">
            <a:solidFill>
              <a:srgbClr val="DC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750" b="1">
                <a:solidFill>
                  <a:srgbClr val="8A9BB0"/>
                </a:solidFill>
                <a:latin typeface="Calibri"/>
              </a:rPr>
              <a:t>CRYPTOGRAPHIC ASSESSMENT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9363456" y="1335024"/>
            <a:ext cx="2450592" cy="2761488"/>
          </a:xfrm>
          <a:prstGeom prst="roundRect">
            <a:avLst/>
          </a:prstGeom>
          <a:solidFill>
            <a:srgbClr val="F7FAFD"/>
          </a:solidFill>
          <a:ln w="9525">
            <a:solidFill>
              <a:srgbClr val="DC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750" b="1">
                <a:solidFill>
                  <a:srgbClr val="8A9BB0"/>
                </a:solidFill>
                <a:latin typeface="Calibri"/>
              </a:rPr>
              <a:t>OUTPUT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530352" y="1645920"/>
            <a:ext cx="1810512" cy="457200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PCAP / PCAPNG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authorised capture</a:t>
            </a:r>
          </a:p>
        </p:txBody>
      </p:sp>
      <p:sp>
        <p:nvSpPr>
          <p:cNvPr id="17416" name="Down Arrow 17415"/>
          <p:cNvSpPr/>
          <p:nvPr/>
        </p:nvSpPr>
        <p:spPr>
          <a:xfrm>
            <a:off x="1353311" y="2121408"/>
            <a:ext cx="164592" cy="146304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530352" y="2304288"/>
            <a:ext cx="1810512" cy="457200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Safe ingestion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format from the bytes, 8 limits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2834640" y="1645920"/>
            <a:ext cx="2999232" cy="365760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Packet decode</a:t>
            </a:r>
          </a:p>
        </p:txBody>
      </p:sp>
      <p:sp>
        <p:nvSpPr>
          <p:cNvPr id="17419" name="Down Arrow 17418"/>
          <p:cNvSpPr/>
          <p:nvPr/>
        </p:nvSpPr>
        <p:spPr>
          <a:xfrm>
            <a:off x="4251960" y="2029968"/>
            <a:ext cx="164592" cy="146304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2834640" y="2212848"/>
            <a:ext cx="2999232" cy="457200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TCP reassembly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reorder · retransmit · gaps</a:t>
            </a:r>
          </a:p>
        </p:txBody>
      </p:sp>
      <p:sp>
        <p:nvSpPr>
          <p:cNvPr id="17421" name="Down Arrow 17420"/>
          <p:cNvSpPr/>
          <p:nvPr/>
        </p:nvSpPr>
        <p:spPr>
          <a:xfrm>
            <a:off x="4251960" y="2688336"/>
            <a:ext cx="164592" cy="146304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2834640" y="2871216"/>
            <a:ext cx="2999232" cy="457200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SMTP · IMAP · POP3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state machines, not ports</a:t>
            </a:r>
          </a:p>
        </p:txBody>
      </p:sp>
      <p:sp>
        <p:nvSpPr>
          <p:cNvPr id="17423" name="Down Arrow 17422"/>
          <p:cNvSpPr/>
          <p:nvPr/>
        </p:nvSpPr>
        <p:spPr>
          <a:xfrm>
            <a:off x="4251960" y="3346704"/>
            <a:ext cx="164592" cy="146304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ounded Rectangle 17423"/>
          <p:cNvSpPr/>
          <p:nvPr/>
        </p:nvSpPr>
        <p:spPr>
          <a:xfrm>
            <a:off x="2834640" y="3529584"/>
            <a:ext cx="2999232" cy="457200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STARTTLS / STLS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advertised · requested · outcome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6327648" y="1645920"/>
            <a:ext cx="2688336" cy="457200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TLS handshake → X.509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version, suite, key exchange, chain</a:t>
            </a:r>
          </a:p>
        </p:txBody>
      </p:sp>
      <p:sp>
        <p:nvSpPr>
          <p:cNvPr id="17426" name="Down Arrow 17425"/>
          <p:cNvSpPr/>
          <p:nvPr/>
        </p:nvSpPr>
        <p:spPr>
          <a:xfrm>
            <a:off x="7589520" y="2121408"/>
            <a:ext cx="164592" cy="146304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ounded Rectangle 17426"/>
          <p:cNvSpPr/>
          <p:nvPr/>
        </p:nvSpPr>
        <p:spPr>
          <a:xfrm>
            <a:off x="6327648" y="2304288"/>
            <a:ext cx="2688336" cy="457200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25 policy rules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versioned and fingerprinted</a:t>
            </a:r>
          </a:p>
        </p:txBody>
      </p:sp>
      <p:sp>
        <p:nvSpPr>
          <p:cNvPr id="17428" name="Down Arrow 17427"/>
          <p:cNvSpPr/>
          <p:nvPr/>
        </p:nvSpPr>
        <p:spPr>
          <a:xfrm>
            <a:off x="7589520" y="2779776"/>
            <a:ext cx="164592" cy="146304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Rounded Rectangle 17428"/>
          <p:cNvSpPr/>
          <p:nvPr/>
        </p:nvSpPr>
        <p:spPr>
          <a:xfrm>
            <a:off x="6327648" y="2962656"/>
            <a:ext cx="2688336" cy="457200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Score · coverage · priority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arithmetic shown, not asserted</a:t>
            </a:r>
          </a:p>
        </p:txBody>
      </p:sp>
      <p:sp>
        <p:nvSpPr>
          <p:cNvPr id="17430" name="Down Arrow 17429"/>
          <p:cNvSpPr/>
          <p:nvPr/>
        </p:nvSpPr>
        <p:spPr>
          <a:xfrm>
            <a:off x="7589520" y="3438144"/>
            <a:ext cx="164592" cy="146304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Rounded Rectangle 17430"/>
          <p:cNvSpPr/>
          <p:nvPr/>
        </p:nvSpPr>
        <p:spPr>
          <a:xfrm>
            <a:off x="6327648" y="3621024"/>
            <a:ext cx="2688336" cy="457200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Fingerprint · drift · ML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ML is advisory only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9509760" y="1645920"/>
            <a:ext cx="2157984" cy="457200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Canonical report model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schema 1.4.0</a:t>
            </a:r>
          </a:p>
        </p:txBody>
      </p:sp>
      <p:sp>
        <p:nvSpPr>
          <p:cNvPr id="17433" name="Down Arrow 17432"/>
          <p:cNvSpPr/>
          <p:nvPr/>
        </p:nvSpPr>
        <p:spPr>
          <a:xfrm>
            <a:off x="10506456" y="2121408"/>
            <a:ext cx="164592" cy="146304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4" name="Rounded Rectangle 17433"/>
          <p:cNvSpPr/>
          <p:nvPr/>
        </p:nvSpPr>
        <p:spPr>
          <a:xfrm>
            <a:off x="9509760" y="2304288"/>
            <a:ext cx="2157984" cy="457200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FastAPI + SQLite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loopback only, token</a:t>
            </a:r>
          </a:p>
        </p:txBody>
      </p:sp>
      <p:sp>
        <p:nvSpPr>
          <p:cNvPr id="17435" name="Down Arrow 17434"/>
          <p:cNvSpPr/>
          <p:nvPr/>
        </p:nvSpPr>
        <p:spPr>
          <a:xfrm>
            <a:off x="10506456" y="2779776"/>
            <a:ext cx="164592" cy="146304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6" name="Rounded Rectangle 17435"/>
          <p:cNvSpPr/>
          <p:nvPr/>
        </p:nvSpPr>
        <p:spPr>
          <a:xfrm>
            <a:off x="9509760" y="2962656"/>
            <a:ext cx="2157984" cy="457200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React workspace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evidence-linked throughout</a:t>
            </a:r>
          </a:p>
        </p:txBody>
      </p:sp>
      <p:sp>
        <p:nvSpPr>
          <p:cNvPr id="17437" name="Down Arrow 17436"/>
          <p:cNvSpPr/>
          <p:nvPr/>
        </p:nvSpPr>
        <p:spPr>
          <a:xfrm>
            <a:off x="10506456" y="3438144"/>
            <a:ext cx="164592" cy="146304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8" name="Rounded Rectangle 17437"/>
          <p:cNvSpPr/>
          <p:nvPr/>
        </p:nvSpPr>
        <p:spPr>
          <a:xfrm>
            <a:off x="9509760" y="3621024"/>
            <a:ext cx="2157984" cy="457200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JSON · HTML · PDF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parity-tested</a:t>
            </a:r>
          </a:p>
        </p:txBody>
      </p:sp>
      <p:sp>
        <p:nvSpPr>
          <p:cNvPr id="17439" name="Right Arrow 17438"/>
          <p:cNvSpPr/>
          <p:nvPr/>
        </p:nvSpPr>
        <p:spPr>
          <a:xfrm>
            <a:off x="2505456" y="1810512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Right Arrow 17439"/>
          <p:cNvSpPr/>
          <p:nvPr/>
        </p:nvSpPr>
        <p:spPr>
          <a:xfrm>
            <a:off x="5998464" y="1810512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Right Arrow 17440"/>
          <p:cNvSpPr/>
          <p:nvPr/>
        </p:nvSpPr>
        <p:spPr>
          <a:xfrm>
            <a:off x="9180576" y="1810512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Rounded Rectangle 17441"/>
          <p:cNvSpPr/>
          <p:nvPr/>
        </p:nvSpPr>
        <p:spPr>
          <a:xfrm>
            <a:off x="384048" y="4242816"/>
            <a:ext cx="11430000" cy="786384"/>
          </a:xfrm>
          <a:prstGeom prst="roundRect">
            <a:avLst/>
          </a:prstGeom>
          <a:solidFill>
            <a:srgbClr val="F7FAFD"/>
          </a:solidFill>
          <a:ln w="9525">
            <a:solidFill>
              <a:srgbClr val="DC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750" b="1">
                <a:solidFill>
                  <a:srgbClr val="8A9BB0"/>
                </a:solidFill>
                <a:latin typeface="Calibri"/>
              </a:rPr>
              <a:t>EVIDENCE RAIL — WHAT EVERY FINDING CARRIES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603504" y="4535424"/>
            <a:ext cx="1645920" cy="3840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0B5FA5"/>
                </a:solidFill>
                <a:latin typeface="Calibri"/>
              </a:rPr>
              <a:t>PACKET</a:t>
            </a:r>
          </a:p>
        </p:txBody>
      </p:sp>
      <p:sp>
        <p:nvSpPr>
          <p:cNvPr id="17444" name="Right Arrow 17443"/>
          <p:cNvSpPr/>
          <p:nvPr/>
        </p:nvSpPr>
        <p:spPr>
          <a:xfrm>
            <a:off x="2276856" y="4663440"/>
            <a:ext cx="164592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5" name="Rounded Rectangle 17444"/>
          <p:cNvSpPr/>
          <p:nvPr/>
        </p:nvSpPr>
        <p:spPr>
          <a:xfrm>
            <a:off x="2487168" y="4535424"/>
            <a:ext cx="1645920" cy="3840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0B5FA5"/>
                </a:solidFill>
                <a:latin typeface="Calibri"/>
              </a:rPr>
              <a:t>OBSERVATION</a:t>
            </a:r>
          </a:p>
        </p:txBody>
      </p:sp>
      <p:sp>
        <p:nvSpPr>
          <p:cNvPr id="17446" name="Right Arrow 17445"/>
          <p:cNvSpPr/>
          <p:nvPr/>
        </p:nvSpPr>
        <p:spPr>
          <a:xfrm>
            <a:off x="4160520" y="4663440"/>
            <a:ext cx="164592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7" name="Rounded Rectangle 17446"/>
          <p:cNvSpPr/>
          <p:nvPr/>
        </p:nvSpPr>
        <p:spPr>
          <a:xfrm>
            <a:off x="4370831" y="4535424"/>
            <a:ext cx="1645920" cy="3840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0B5FA5"/>
                </a:solidFill>
                <a:latin typeface="Calibri"/>
              </a:rPr>
              <a:t>CRYPTO FACT</a:t>
            </a:r>
          </a:p>
        </p:txBody>
      </p:sp>
      <p:sp>
        <p:nvSpPr>
          <p:cNvPr id="17448" name="Right Arrow 17447"/>
          <p:cNvSpPr/>
          <p:nvPr/>
        </p:nvSpPr>
        <p:spPr>
          <a:xfrm>
            <a:off x="6044183" y="4663440"/>
            <a:ext cx="164592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9" name="Rounded Rectangle 17448"/>
          <p:cNvSpPr/>
          <p:nvPr/>
        </p:nvSpPr>
        <p:spPr>
          <a:xfrm>
            <a:off x="6254495" y="4535424"/>
            <a:ext cx="1645920" cy="3840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0B5FA5"/>
                </a:solidFill>
                <a:latin typeface="Calibri"/>
              </a:rPr>
              <a:t>RULE</a:t>
            </a:r>
          </a:p>
        </p:txBody>
      </p:sp>
      <p:sp>
        <p:nvSpPr>
          <p:cNvPr id="17450" name="Right Arrow 17449"/>
          <p:cNvSpPr/>
          <p:nvPr/>
        </p:nvSpPr>
        <p:spPr>
          <a:xfrm>
            <a:off x="7927847" y="4663440"/>
            <a:ext cx="164592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1" name="Rounded Rectangle 17450"/>
          <p:cNvSpPr/>
          <p:nvPr/>
        </p:nvSpPr>
        <p:spPr>
          <a:xfrm>
            <a:off x="8138159" y="4535424"/>
            <a:ext cx="1645920" cy="3840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0B5FA5"/>
                </a:solidFill>
                <a:latin typeface="Calibri"/>
              </a:rPr>
              <a:t>FINDING</a:t>
            </a:r>
          </a:p>
        </p:txBody>
      </p:sp>
      <p:sp>
        <p:nvSpPr>
          <p:cNvPr id="17452" name="Right Arrow 17451"/>
          <p:cNvSpPr/>
          <p:nvPr/>
        </p:nvSpPr>
        <p:spPr>
          <a:xfrm>
            <a:off x="9811511" y="4663440"/>
            <a:ext cx="164592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3" name="Rounded Rectangle 17452"/>
          <p:cNvSpPr/>
          <p:nvPr/>
        </p:nvSpPr>
        <p:spPr>
          <a:xfrm>
            <a:off x="10021824" y="4535424"/>
            <a:ext cx="1645920" cy="3840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0B5FA5"/>
                </a:solidFill>
                <a:latin typeface="Calibri"/>
              </a:rPr>
              <a:t>REMEDIATION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384048" y="5175504"/>
            <a:ext cx="2103120" cy="67665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4000"/>
              </a:lnSpc>
              <a:spcAft>
                <a:spcPts val="300"/>
              </a:spcAft>
              <a:buNone/>
            </a:pPr>
            <a:r>
              <a:rPr sz="1050" b="1">
                <a:solidFill>
                  <a:srgbClr val="0B5FA5"/>
                </a:solidFill>
                <a:latin typeface="Calibri"/>
              </a:rPr>
              <a:t>ENGINE</a:t>
            </a:r>
          </a:p>
          <a:p>
            <a:pPr>
              <a:lnSpc>
                <a:spcPct val="94000"/>
              </a:lnSpc>
              <a:spcAft>
                <a:spcPts val="300"/>
              </a:spcAft>
              <a:buNone/>
            </a:pPr>
            <a:r>
              <a:rPr sz="950" b="0">
                <a:solidFill>
                  <a:srgbClr val="1F2C3F"/>
                </a:solidFill>
                <a:latin typeface="Calibri"/>
              </a:rPr>
              <a:t>Python · Scapy · cryptography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2578608" y="5175504"/>
            <a:ext cx="2103120" cy="67665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4000"/>
              </a:lnSpc>
              <a:spcAft>
                <a:spcPts val="300"/>
              </a:spcAft>
              <a:buNone/>
            </a:pPr>
            <a:r>
              <a:rPr sz="1050" b="1">
                <a:solidFill>
                  <a:srgbClr val="0B5FA5"/>
                </a:solidFill>
                <a:latin typeface="Calibri"/>
              </a:rPr>
              <a:t>APPLICATION</a:t>
            </a:r>
          </a:p>
          <a:p>
            <a:pPr>
              <a:lnSpc>
                <a:spcPct val="94000"/>
              </a:lnSpc>
              <a:spcAft>
                <a:spcPts val="300"/>
              </a:spcAft>
              <a:buNone/>
            </a:pPr>
            <a:r>
              <a:rPr sz="950" b="0">
                <a:solidFill>
                  <a:srgbClr val="1F2C3F"/>
                </a:solidFill>
                <a:latin typeface="Calibri"/>
              </a:rPr>
              <a:t>FastAPI · SQLite · React · TypeScript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4773168" y="5175504"/>
            <a:ext cx="2103120" cy="67665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4000"/>
              </a:lnSpc>
              <a:spcAft>
                <a:spcPts val="300"/>
              </a:spcAft>
              <a:buNone/>
            </a:pPr>
            <a:r>
              <a:rPr sz="1050" b="1">
                <a:solidFill>
                  <a:srgbClr val="0B5FA5"/>
                </a:solidFill>
                <a:latin typeface="Calibri"/>
              </a:rPr>
              <a:t>ANALYTICS</a:t>
            </a:r>
          </a:p>
          <a:p>
            <a:pPr>
              <a:lnSpc>
                <a:spcPct val="94000"/>
              </a:lnSpc>
              <a:spcAft>
                <a:spcPts val="300"/>
              </a:spcAft>
              <a:buNone/>
            </a:pPr>
            <a:r>
              <a:rPr sz="950" b="0">
                <a:solidFill>
                  <a:srgbClr val="1F2C3F"/>
                </a:solidFill>
                <a:latin typeface="Calibri"/>
              </a:rPr>
              <a:t>scikit-learn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6967727" y="5175504"/>
            <a:ext cx="2103120" cy="67665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4000"/>
              </a:lnSpc>
              <a:spcAft>
                <a:spcPts val="300"/>
              </a:spcAft>
              <a:buNone/>
            </a:pPr>
            <a:r>
              <a:rPr sz="1050" b="1">
                <a:solidFill>
                  <a:srgbClr val="0B5FA5"/>
                </a:solidFill>
                <a:latin typeface="Calibri"/>
              </a:rPr>
              <a:t>VALIDATION</a:t>
            </a:r>
          </a:p>
          <a:p>
            <a:pPr>
              <a:lnSpc>
                <a:spcPct val="94000"/>
              </a:lnSpc>
              <a:spcAft>
                <a:spcPts val="300"/>
              </a:spcAft>
              <a:buNone/>
            </a:pPr>
            <a:r>
              <a:rPr sz="950" b="0">
                <a:solidFill>
                  <a:srgbClr val="1F2C3F"/>
                </a:solidFill>
                <a:latin typeface="Calibri"/>
              </a:rPr>
              <a:t>pytest · Playwright · TShark</a:t>
            </a:r>
          </a:p>
        </p:txBody>
      </p:sp>
      <p:sp>
        <p:nvSpPr>
          <p:cNvPr id="17458" name="Rounded Rectangle 17457"/>
          <p:cNvSpPr/>
          <p:nvPr/>
        </p:nvSpPr>
        <p:spPr>
          <a:xfrm>
            <a:off x="9162288" y="5175504"/>
            <a:ext cx="932688" cy="67665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00" b="1">
                <a:solidFill>
                  <a:srgbClr val="1B6B3A"/>
                </a:solidFill>
                <a:latin typeface="Calibri"/>
              </a:rPr>
              <a:t>PASSIVE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10149840" y="5175504"/>
            <a:ext cx="932688" cy="67665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00" b="1">
                <a:solidFill>
                  <a:srgbClr val="0B5FA5"/>
                </a:solidFill>
                <a:latin typeface="Calibri"/>
              </a:rPr>
              <a:t>LOCAL-FIRST</a:t>
            </a:r>
          </a:p>
        </p:txBody>
      </p:sp>
      <p:sp>
        <p:nvSpPr>
          <p:cNvPr id="17460" name="Rounded Rectangle 17459"/>
          <p:cNvSpPr/>
          <p:nvPr/>
        </p:nvSpPr>
        <p:spPr>
          <a:xfrm>
            <a:off x="11137392" y="5175504"/>
            <a:ext cx="932688" cy="67665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00" b="1">
                <a:solidFill>
                  <a:srgbClr val="A83A1E"/>
                </a:solidFill>
                <a:latin typeface="Calibri"/>
              </a:rPr>
              <a:t>EVIDENCE-LINKED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84048" y="950976"/>
            <a:ext cx="11430000" cy="329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sz="1300" b="0">
                <a:solidFill>
                  <a:srgbClr val="4A5A70"/>
                </a:solidFill>
                <a:latin typeface="Calibri"/>
              </a:rPr>
              <a:t>Feasible because it is built and measured. Every figure below was re-run on the release commit.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000" b="1"/>
              <a:t>Zero-Day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316736"/>
            <a:ext cx="1847088" cy="96926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6000"/>
              </a:lnSpc>
              <a:spcAft>
                <a:spcPts val="0"/>
              </a:spcAft>
              <a:buNone/>
            </a:pPr>
            <a:r>
              <a:rPr sz="3200" b="1">
                <a:solidFill>
                  <a:srgbClr val="0B5FA5"/>
                </a:solidFill>
                <a:latin typeface="Calibri"/>
              </a:rPr>
              <a:t>1,357</a:t>
            </a:r>
          </a:p>
          <a:p>
            <a:pPr algn="ctr">
              <a:lnSpc>
                <a:spcPct val="86000"/>
              </a:lnSpc>
              <a:spcAft>
                <a:spcPts val="0"/>
              </a:spcAft>
              <a:buNone/>
            </a:pPr>
            <a:r>
              <a:rPr sz="950" b="0">
                <a:solidFill>
                  <a:srgbClr val="4A5A70"/>
                </a:solidFill>
                <a:latin typeface="Calibri"/>
              </a:rPr>
              <a:t>backend tests pass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2322576" y="1316736"/>
            <a:ext cx="1847088" cy="96926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6000"/>
              </a:lnSpc>
              <a:spcAft>
                <a:spcPts val="0"/>
              </a:spcAft>
              <a:buNone/>
            </a:pPr>
            <a:r>
              <a:rPr sz="3200" b="1">
                <a:solidFill>
                  <a:srgbClr val="0B5FA5"/>
                </a:solidFill>
                <a:latin typeface="Calibri"/>
              </a:rPr>
              <a:t>1,367</a:t>
            </a:r>
          </a:p>
          <a:p>
            <a:pPr algn="ctr">
              <a:lnSpc>
                <a:spcPct val="86000"/>
              </a:lnSpc>
              <a:spcAft>
                <a:spcPts val="0"/>
              </a:spcAft>
              <a:buNone/>
            </a:pPr>
            <a:r>
              <a:rPr sz="950" b="0">
                <a:solidFill>
                  <a:srgbClr val="4A5A70"/>
                </a:solidFill>
                <a:latin typeface="Calibri"/>
              </a:rPr>
              <a:t>with the TShark cross-check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261104" y="1316736"/>
            <a:ext cx="1847088" cy="96926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6000"/>
              </a:lnSpc>
              <a:spcAft>
                <a:spcPts val="0"/>
              </a:spcAft>
              <a:buNone/>
            </a:pPr>
            <a:r>
              <a:rPr sz="3200" b="1">
                <a:solidFill>
                  <a:srgbClr val="0B5FA5"/>
                </a:solidFill>
                <a:latin typeface="Calibri"/>
              </a:rPr>
              <a:t>89</a:t>
            </a:r>
          </a:p>
          <a:p>
            <a:pPr algn="ctr">
              <a:lnSpc>
                <a:spcPct val="86000"/>
              </a:lnSpc>
              <a:spcAft>
                <a:spcPts val="0"/>
              </a:spcAft>
              <a:buNone/>
            </a:pPr>
            <a:r>
              <a:rPr sz="950" b="0">
                <a:solidFill>
                  <a:srgbClr val="4A5A70"/>
                </a:solidFill>
                <a:latin typeface="Calibri"/>
              </a:rPr>
              <a:t>frontend tests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199632" y="1316736"/>
            <a:ext cx="1847088" cy="96926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6000"/>
              </a:lnSpc>
              <a:spcAft>
                <a:spcPts val="0"/>
              </a:spcAft>
              <a:buNone/>
            </a:pPr>
            <a:r>
              <a:rPr sz="3200" b="1">
                <a:solidFill>
                  <a:srgbClr val="0B5FA5"/>
                </a:solidFill>
                <a:latin typeface="Calibri"/>
              </a:rPr>
              <a:t>5</a:t>
            </a:r>
          </a:p>
          <a:p>
            <a:pPr algn="ctr">
              <a:lnSpc>
                <a:spcPct val="86000"/>
              </a:lnSpc>
              <a:spcAft>
                <a:spcPts val="0"/>
              </a:spcAft>
              <a:buNone/>
            </a:pPr>
            <a:r>
              <a:rPr sz="950" b="0">
                <a:solidFill>
                  <a:srgbClr val="4A5A70"/>
                </a:solidFill>
                <a:latin typeface="Calibri"/>
              </a:rPr>
              <a:t>real-backend E2E specs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8138160" y="1316736"/>
            <a:ext cx="1847088" cy="96926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6000"/>
              </a:lnSpc>
              <a:spcAft>
                <a:spcPts val="0"/>
              </a:spcAft>
              <a:buNone/>
            </a:pPr>
            <a:r>
              <a:rPr sz="3200" b="1">
                <a:solidFill>
                  <a:srgbClr val="0B5FA5"/>
                </a:solidFill>
                <a:latin typeface="Calibri"/>
              </a:rPr>
              <a:t>158</a:t>
            </a:r>
          </a:p>
          <a:p>
            <a:pPr algn="ctr">
              <a:lnSpc>
                <a:spcPct val="86000"/>
              </a:lnSpc>
              <a:spcAft>
                <a:spcPts val="0"/>
              </a:spcAft>
              <a:buNone/>
            </a:pPr>
            <a:r>
              <a:rPr sz="950" b="0">
                <a:solidFill>
                  <a:srgbClr val="4A5A70"/>
                </a:solidFill>
                <a:latin typeface="Calibri"/>
              </a:rPr>
              <a:t>files ruff + mypy clean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10076688" y="1316736"/>
            <a:ext cx="1847088" cy="96926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6000"/>
              </a:lnSpc>
              <a:spcAft>
                <a:spcPts val="0"/>
              </a:spcAft>
              <a:buNone/>
            </a:pPr>
            <a:r>
              <a:rPr sz="3200" b="1">
                <a:solidFill>
                  <a:srgbClr val="1B6B3A"/>
                </a:solidFill>
                <a:latin typeface="Calibri"/>
              </a:rPr>
              <a:t>0</a:t>
            </a:r>
          </a:p>
          <a:p>
            <a:pPr algn="ctr">
              <a:lnSpc>
                <a:spcPct val="86000"/>
              </a:lnSpc>
              <a:spcAft>
                <a:spcPts val="0"/>
              </a:spcAft>
              <a:buNone/>
            </a:pPr>
            <a:r>
              <a:rPr sz="950" b="0">
                <a:solidFill>
                  <a:srgbClr val="4A5A70"/>
                </a:solidFill>
                <a:latin typeface="Calibri"/>
              </a:rPr>
              <a:t>known advisories at audit</a:t>
            </a:r>
          </a:p>
        </p:txBody>
      </p:sp>
      <p:pic>
        <p:nvPicPr>
          <p:cNvPr id="17417" name="Picture 17416" descr="crop-0.36-0.285-1.0-0.795-06-evidence-proven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432304"/>
            <a:ext cx="6492240" cy="2910679"/>
          </a:xfrm>
          <a:prstGeom prst="rect">
            <a:avLst/>
          </a:prstGeom>
        </p:spPr>
      </p:pic>
      <p:sp>
        <p:nvSpPr>
          <p:cNvPr id="17418" name="Rectangle 17417"/>
          <p:cNvSpPr/>
          <p:nvPr/>
        </p:nvSpPr>
        <p:spPr>
          <a:xfrm>
            <a:off x="384048" y="2432304"/>
            <a:ext cx="6492240" cy="2910679"/>
          </a:xfrm>
          <a:prstGeom prst="rect">
            <a:avLst/>
          </a:prstGeom>
          <a:noFill/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384048" y="5379559"/>
            <a:ext cx="649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4A5A70"/>
                </a:solidFill>
                <a:latin typeface="Calibri"/>
              </a:rPr>
              <a:t>TLS-KEX-001, HIGH — and the packets it was evaluated against. Actual product output.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7552944" y="2432304"/>
            <a:ext cx="4261104" cy="6583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6000"/>
              </a:lnSpc>
              <a:spcAft>
                <a:spcPts val="300"/>
              </a:spcAft>
              <a:buNone/>
            </a:pPr>
            <a:r>
              <a:rPr sz="1250" b="1">
                <a:solidFill>
                  <a:srgbClr val="0B5FA5"/>
                </a:solidFill>
                <a:latin typeface="Calibri"/>
              </a:rPr>
              <a:t>OBSERVE</a:t>
            </a:r>
          </a:p>
          <a:p>
            <a:pPr>
              <a:lnSpc>
                <a:spcPct val="96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Static RSA key exchange negotiated</a:t>
            </a:r>
          </a:p>
        </p:txBody>
      </p:sp>
      <p:sp>
        <p:nvSpPr>
          <p:cNvPr id="17421" name="Down Arrow 17420"/>
          <p:cNvSpPr/>
          <p:nvPr/>
        </p:nvSpPr>
        <p:spPr>
          <a:xfrm>
            <a:off x="9601200" y="3108960"/>
            <a:ext cx="164592" cy="146304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7552944" y="3273552"/>
            <a:ext cx="4261104" cy="6583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6000"/>
              </a:lnSpc>
              <a:spcAft>
                <a:spcPts val="300"/>
              </a:spcAft>
              <a:buNone/>
            </a:pPr>
            <a:r>
              <a:rPr sz="1250" b="1">
                <a:solidFill>
                  <a:srgbClr val="0B5FA5"/>
                </a:solidFill>
                <a:latin typeface="Calibri"/>
              </a:rPr>
              <a:t>TRACE</a:t>
            </a:r>
          </a:p>
          <a:p>
            <a:pPr>
              <a:lnSpc>
                <a:spcPct val="96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Packets #4 and #5, with timestamps</a:t>
            </a:r>
          </a:p>
        </p:txBody>
      </p:sp>
      <p:sp>
        <p:nvSpPr>
          <p:cNvPr id="17423" name="Down Arrow 17422"/>
          <p:cNvSpPr/>
          <p:nvPr/>
        </p:nvSpPr>
        <p:spPr>
          <a:xfrm>
            <a:off x="9601200" y="3950207"/>
            <a:ext cx="164592" cy="146304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ounded Rectangle 17423"/>
          <p:cNvSpPr/>
          <p:nvPr/>
        </p:nvSpPr>
        <p:spPr>
          <a:xfrm>
            <a:off x="7552944" y="4114800"/>
            <a:ext cx="4261104" cy="6583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6000"/>
              </a:lnSpc>
              <a:spcAft>
                <a:spcPts val="300"/>
              </a:spcAft>
              <a:buNone/>
            </a:pPr>
            <a:r>
              <a:rPr sz="1250" b="1">
                <a:solidFill>
                  <a:srgbClr val="0B5FA5"/>
                </a:solidFill>
                <a:latin typeface="Calibri"/>
              </a:rPr>
              <a:t>ASSESS</a:t>
            </a:r>
          </a:p>
          <a:p>
            <a:pPr>
              <a:lnSpc>
                <a:spcPct val="96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TLS-KEX-001 · HIGH · no forward secrecy</a:t>
            </a:r>
          </a:p>
        </p:txBody>
      </p:sp>
      <p:sp>
        <p:nvSpPr>
          <p:cNvPr id="17425" name="Down Arrow 17424"/>
          <p:cNvSpPr/>
          <p:nvPr/>
        </p:nvSpPr>
        <p:spPr>
          <a:xfrm>
            <a:off x="9601200" y="4791455"/>
            <a:ext cx="164592" cy="146304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Rounded Rectangle 17425"/>
          <p:cNvSpPr/>
          <p:nvPr/>
        </p:nvSpPr>
        <p:spPr>
          <a:xfrm>
            <a:off x="7552944" y="4956048"/>
            <a:ext cx="4261104" cy="6583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6000"/>
              </a:lnSpc>
              <a:spcAft>
                <a:spcPts val="300"/>
              </a:spcAft>
              <a:buNone/>
            </a:pPr>
            <a:r>
              <a:rPr sz="1250" b="1">
                <a:solidFill>
                  <a:srgbClr val="0B5FA5"/>
                </a:solidFill>
                <a:latin typeface="Calibri"/>
              </a:rPr>
              <a:t>REMEDIATE</a:t>
            </a:r>
          </a:p>
          <a:p>
            <a:pPr>
              <a:lnSpc>
                <a:spcPct val="96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Move to ephemeral key exchange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384048" y="5650992"/>
            <a:ext cx="11430000" cy="694944"/>
          </a:xfrm>
          <a:prstGeom prst="roundRect">
            <a:avLst/>
          </a:prstGeom>
          <a:solidFill>
            <a:srgbClr val="FDF2EC"/>
          </a:solidFill>
          <a:ln w="9525">
            <a:solidFill>
              <a:srgbClr val="EE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6000"/>
              </a:lnSpc>
              <a:spcAft>
                <a:spcPts val="300"/>
              </a:spcAft>
              <a:buNone/>
            </a:pPr>
            <a:r>
              <a:rPr sz="1100" b="1">
                <a:solidFill>
                  <a:srgbClr val="A83A1E"/>
                </a:solidFill>
                <a:latin typeface="Calibri"/>
              </a:rPr>
              <a:t>KNOWN BOUNDARIES</a:t>
            </a:r>
          </a:p>
          <a:p>
            <a:pPr>
              <a:lnSpc>
                <a:spcPct val="96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TLS 1.3 may encrypt certificate evidence a passive capture cannot recover; it is reported NOT AVAILABLE with the reason, never guessed.</a:t>
            </a:r>
          </a:p>
          <a:p>
            <a:pPr>
              <a:lnSpc>
                <a:spcPct val="96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The supervised classifier is experimental and never overrides a deterministic finding.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84048" y="950976"/>
            <a:ext cx="11430000" cy="329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sz="1300" b="0">
                <a:solidFill>
                  <a:srgbClr val="4A5A70"/>
                </a:solidFill>
                <a:latin typeface="Calibri"/>
              </a:rPr>
              <a:t>For authorised email-security investigation — and every claim below is what the product already outputs.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000" b="1"/>
              <a:t>Zero-Day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316736"/>
            <a:ext cx="2194560" cy="76809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94000"/>
              </a:lnSpc>
              <a:spcAft>
                <a:spcPts val="100"/>
              </a:spcAft>
              <a:buNone/>
            </a:pPr>
            <a:r>
              <a:rPr sz="1400" b="1">
                <a:solidFill>
                  <a:srgbClr val="0B5FA5"/>
                </a:solidFill>
                <a:latin typeface="Calibri"/>
              </a:rPr>
              <a:t>DISCOVER</a:t>
            </a:r>
          </a:p>
          <a:p>
            <a:pPr algn="ctr">
              <a:lnSpc>
                <a:spcPct val="94000"/>
              </a:lnSpc>
              <a:spcAft>
                <a:spcPts val="1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Observable weak cryptography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2670048" y="1316736"/>
            <a:ext cx="2194560" cy="76809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94000"/>
              </a:lnSpc>
              <a:spcAft>
                <a:spcPts val="100"/>
              </a:spcAft>
              <a:buNone/>
            </a:pPr>
            <a:r>
              <a:rPr sz="1400" b="1">
                <a:solidFill>
                  <a:srgbClr val="0B5FA5"/>
                </a:solidFill>
                <a:latin typeface="Calibri"/>
              </a:rPr>
              <a:t>EXPLAIN</a:t>
            </a:r>
          </a:p>
          <a:p>
            <a:pPr algn="ctr">
              <a:lnSpc>
                <a:spcPct val="94000"/>
              </a:lnSpc>
              <a:spcAft>
                <a:spcPts val="1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Packet-backed evidence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956048" y="1316736"/>
            <a:ext cx="2194560" cy="76809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94000"/>
              </a:lnSpc>
              <a:spcAft>
                <a:spcPts val="100"/>
              </a:spcAft>
              <a:buNone/>
            </a:pPr>
            <a:r>
              <a:rPr sz="1400" b="1">
                <a:solidFill>
                  <a:srgbClr val="0B5FA5"/>
                </a:solidFill>
                <a:latin typeface="Calibri"/>
              </a:rPr>
              <a:t>PRIORITIZE</a:t>
            </a:r>
          </a:p>
          <a:p>
            <a:pPr algn="ctr">
              <a:lnSpc>
                <a:spcPct val="94000"/>
              </a:lnSpc>
              <a:spcAft>
                <a:spcPts val="1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What to fix first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7242048" y="1316736"/>
            <a:ext cx="2194560" cy="76809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94000"/>
              </a:lnSpc>
              <a:spcAft>
                <a:spcPts val="100"/>
              </a:spcAft>
              <a:buNone/>
            </a:pPr>
            <a:r>
              <a:rPr sz="1400" b="1">
                <a:solidFill>
                  <a:srgbClr val="0B5FA5"/>
                </a:solidFill>
                <a:latin typeface="Calibri"/>
              </a:rPr>
              <a:t>TRACK</a:t>
            </a:r>
          </a:p>
          <a:p>
            <a:pPr algn="ctr">
              <a:lnSpc>
                <a:spcPct val="94000"/>
              </a:lnSpc>
              <a:spcAft>
                <a:spcPts val="1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Cryptographic drift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9528048" y="1316736"/>
            <a:ext cx="2194560" cy="76809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94000"/>
              </a:lnSpc>
              <a:spcAft>
                <a:spcPts val="100"/>
              </a:spcAft>
              <a:buNone/>
            </a:pPr>
            <a:r>
              <a:rPr sz="1400" b="1">
                <a:solidFill>
                  <a:srgbClr val="0B5FA5"/>
                </a:solidFill>
                <a:latin typeface="Calibri"/>
              </a:rPr>
              <a:t>REPORT</a:t>
            </a:r>
          </a:p>
          <a:p>
            <a:pPr algn="ctr">
              <a:lnSpc>
                <a:spcPct val="94000"/>
              </a:lnSpc>
              <a:spcAft>
                <a:spcPts val="1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Portable forensic output</a:t>
            </a:r>
          </a:p>
        </p:txBody>
      </p:sp>
      <p:pic>
        <p:nvPicPr>
          <p:cNvPr id="17416" name="Picture 17415" descr="crop-0.11-0.15-1.0-0.735-04-finding-evid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231136"/>
            <a:ext cx="6510528" cy="2647640"/>
          </a:xfrm>
          <a:prstGeom prst="rect">
            <a:avLst/>
          </a:prstGeom>
        </p:spPr>
      </p:pic>
      <p:sp>
        <p:nvSpPr>
          <p:cNvPr id="17417" name="Rectangle 17416"/>
          <p:cNvSpPr/>
          <p:nvPr/>
        </p:nvSpPr>
        <p:spPr>
          <a:xfrm>
            <a:off x="384048" y="2231136"/>
            <a:ext cx="6510528" cy="2647640"/>
          </a:xfrm>
          <a:prstGeom prst="rect">
            <a:avLst/>
          </a:prstGeom>
          <a:noFill/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384048" y="4915352"/>
            <a:ext cx="65105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4A5A70"/>
                </a:solidFill>
                <a:latin typeface="Calibri"/>
              </a:rPr>
              <a:t>DISCOVER · EXPLAIN · PRIORITIZE — one finding, its rule, its severity and its remediation.</a:t>
            </a:r>
          </a:p>
        </p:txBody>
      </p:sp>
      <p:pic>
        <p:nvPicPr>
          <p:cNvPr id="17419" name="Picture 17418" descr="crop-0.155-0.15-0.99-0.262-13-drift-ver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9168" y="2231136"/>
            <a:ext cx="4754880" cy="669100"/>
          </a:xfrm>
          <a:prstGeom prst="rect">
            <a:avLst/>
          </a:prstGeom>
        </p:spPr>
      </p:pic>
      <p:sp>
        <p:nvSpPr>
          <p:cNvPr id="17420" name="Rectangle 17419"/>
          <p:cNvSpPr/>
          <p:nvPr/>
        </p:nvSpPr>
        <p:spPr>
          <a:xfrm>
            <a:off x="7059168" y="2231136"/>
            <a:ext cx="4754880" cy="669100"/>
          </a:xfrm>
          <a:prstGeom prst="rect">
            <a:avLst/>
          </a:prstGeom>
          <a:noFill/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7059168" y="2936812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4A5A70"/>
                </a:solidFill>
                <a:latin typeface="Calibri"/>
              </a:rPr>
              <a:t>TRACK — the same observed service, two captures.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7059168" y="3675887"/>
            <a:ext cx="475488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300" b="1">
                <a:solidFill>
                  <a:srgbClr val="A83A1E"/>
                </a:solidFill>
                <a:latin typeface="Calibri"/>
              </a:rPr>
              <a:t>EARLIER  TLS 1.2      →  OBSERVED_CHANGE  →      LATER  TLS 1.0</a:t>
            </a:r>
          </a:p>
        </p:txBody>
      </p:sp>
      <p:pic>
        <p:nvPicPr>
          <p:cNvPr id="17423" name="Picture 17422" descr="crop-0.0-0.0-1.0-0.44-12-pd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9168" y="4389120"/>
            <a:ext cx="2139696" cy="1332713"/>
          </a:xfrm>
          <a:prstGeom prst="rect">
            <a:avLst/>
          </a:prstGeom>
        </p:spPr>
      </p:pic>
      <p:sp>
        <p:nvSpPr>
          <p:cNvPr id="17424" name="Rectangle 17423"/>
          <p:cNvSpPr/>
          <p:nvPr/>
        </p:nvSpPr>
        <p:spPr>
          <a:xfrm>
            <a:off x="7059168" y="4389120"/>
            <a:ext cx="2139696" cy="1332713"/>
          </a:xfrm>
          <a:prstGeom prst="rect">
            <a:avLst/>
          </a:prstGeom>
          <a:noFill/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7059168" y="5758409"/>
            <a:ext cx="21396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4A5A70"/>
                </a:solidFill>
                <a:latin typeface="Calibri"/>
              </a:rPr>
              <a:t>REPORT — the exported PDF.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9363456" y="4389120"/>
            <a:ext cx="2450592" cy="129844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150" b="1">
                <a:solidFill>
                  <a:srgbClr val="0B5FA5"/>
                </a:solidFill>
                <a:latin typeface="Calibri"/>
              </a:rPr>
              <a:t>The report carries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findings · packet references · remediation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JSON · standalone HTML · PDF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384048" y="5797296"/>
            <a:ext cx="6510528" cy="384048"/>
          </a:xfrm>
          <a:prstGeom prst="roundRect">
            <a:avLst/>
          </a:prstGeom>
          <a:solidFill>
            <a:srgbClr val="E4EEE6"/>
          </a:solidFill>
          <a:ln w="9525">
            <a:solidFill>
              <a:srgbClr val="BED8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1">
                <a:solidFill>
                  <a:srgbClr val="1F2C3F"/>
                </a:solidFill>
                <a:latin typeface="Calibri"/>
              </a:rPr>
              <a:t>Demonstrated on controlled synthetic captures; no production deployment claim.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84048" y="950976"/>
            <a:ext cx="11430000" cy="329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sz="1300" b="0">
                <a:solidFill>
                  <a:srgbClr val="4A5A70"/>
                </a:solidFill>
                <a:latin typeface="Calibri"/>
              </a:rPr>
              <a:t>The standards the rules cite, and the pipeline every claim in this deck is checked by.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000" b="1"/>
              <a:t>Zero-Day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316736"/>
            <a:ext cx="3749039" cy="142646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250" b="1">
                <a:solidFill>
                  <a:srgbClr val="0B5FA5"/>
                </a:solidFill>
                <a:latin typeface="Calibri"/>
              </a:rPr>
              <a:t>CORE TLS / PKI</a:t>
            </a:r>
          </a:p>
          <a:p>
            <a:pPr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RFC 8446 — TLS 1.3</a:t>
            </a:r>
          </a:p>
          <a:p>
            <a:pPr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RFC 9325 — secure use of TLS</a:t>
            </a:r>
          </a:p>
          <a:p>
            <a:pPr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RFC 5280 — X.509 and CRL profile</a:t>
            </a:r>
          </a:p>
          <a:p>
            <a:pPr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NIST SP 800-52 Rev. 2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224528" y="1316736"/>
            <a:ext cx="3749039" cy="142646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250" b="1">
                <a:solidFill>
                  <a:srgbClr val="0B5FA5"/>
                </a:solidFill>
                <a:latin typeface="Calibri"/>
              </a:rPr>
              <a:t>EMAIL SECURITY</a:t>
            </a:r>
          </a:p>
          <a:p>
            <a:pPr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RFC 5321 — SMTP</a:t>
            </a:r>
          </a:p>
          <a:p>
            <a:pPr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RFC 3207 — STARTTLS</a:t>
            </a:r>
          </a:p>
          <a:p>
            <a:pPr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RFC 9051 — IMAP 4rev2</a:t>
            </a:r>
          </a:p>
          <a:p>
            <a:pPr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RFC 1939 / RFC 2595 — POP3 and TLS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8065008" y="1316736"/>
            <a:ext cx="3749039" cy="142646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250" b="1">
                <a:solidFill>
                  <a:srgbClr val="0B5FA5"/>
                </a:solidFill>
                <a:latin typeface="Calibri"/>
              </a:rPr>
              <a:t>VALIDATION / TOOLING</a:t>
            </a:r>
          </a:p>
          <a:p>
            <a:pPr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Wireshark / TShark</a:t>
            </a:r>
          </a:p>
          <a:p>
            <a:pPr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Scapy</a:t>
            </a:r>
          </a:p>
          <a:p>
            <a:pPr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cryptography</a:t>
            </a:r>
          </a:p>
          <a:p>
            <a:pPr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pytest · Playwright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384048" y="2926080"/>
            <a:ext cx="11430000" cy="1627632"/>
          </a:xfrm>
          <a:prstGeom prst="roundRect">
            <a:avLst/>
          </a:prstGeom>
          <a:solidFill>
            <a:srgbClr val="F7FAFD"/>
          </a:solidFill>
          <a:ln w="9525">
            <a:solidFill>
              <a:srgbClr val="DC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750" b="1">
                <a:solidFill>
                  <a:srgbClr val="8A9BB0"/>
                </a:solidFill>
                <a:latin typeface="Calibri"/>
              </a:rPr>
              <a:t>HOW EVERY CLAIM IS CHECKED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548640" y="3273552"/>
            <a:ext cx="1682496" cy="11155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CONTROLLED FIXTURES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one fixed seed, identical bytes everywhere</a:t>
            </a:r>
          </a:p>
        </p:txBody>
      </p:sp>
      <p:sp>
        <p:nvSpPr>
          <p:cNvPr id="17416" name="Right Arrow 17415"/>
          <p:cNvSpPr/>
          <p:nvPr/>
        </p:nvSpPr>
        <p:spPr>
          <a:xfrm>
            <a:off x="2258568" y="3767328"/>
            <a:ext cx="164592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2450591" y="3273552"/>
            <a:ext cx="1682496" cy="11155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HAND-DERIVED EXPECTATIONS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written by hand, committed, not read back</a:t>
            </a:r>
          </a:p>
        </p:txBody>
      </p:sp>
      <p:sp>
        <p:nvSpPr>
          <p:cNvPr id="17418" name="Right Arrow 17417"/>
          <p:cNvSpPr/>
          <p:nvPr/>
        </p:nvSpPr>
        <p:spPr>
          <a:xfrm>
            <a:off x="4160520" y="3767328"/>
            <a:ext cx="164592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4352544" y="3273552"/>
            <a:ext cx="1682496" cy="11155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ENGINE UNDER TEST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1,357 tests; captures stay out of git</a:t>
            </a:r>
          </a:p>
        </p:txBody>
      </p:sp>
      <p:sp>
        <p:nvSpPr>
          <p:cNvPr id="17420" name="Right Arrow 17419"/>
          <p:cNvSpPr/>
          <p:nvPr/>
        </p:nvSpPr>
        <p:spPr>
          <a:xfrm>
            <a:off x="6062472" y="3767328"/>
            <a:ext cx="164592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6254496" y="3273552"/>
            <a:ext cx="1682496" cy="11155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INDEPENDENT TSHARK CROSS-CHECK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against Wireshark's own dissector</a:t>
            </a:r>
          </a:p>
        </p:txBody>
      </p:sp>
      <p:sp>
        <p:nvSpPr>
          <p:cNvPr id="17422" name="Right Arrow 17421"/>
          <p:cNvSpPr/>
          <p:nvPr/>
        </p:nvSpPr>
        <p:spPr>
          <a:xfrm>
            <a:off x="7964423" y="3767328"/>
            <a:ext cx="164592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Rounded Rectangle 17422"/>
          <p:cNvSpPr/>
          <p:nvPr/>
        </p:nvSpPr>
        <p:spPr>
          <a:xfrm>
            <a:off x="8156448" y="3273552"/>
            <a:ext cx="1682496" cy="11155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REAL-BACKEND PLAYWRIGHT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five browser specs, including a restart</a:t>
            </a:r>
          </a:p>
        </p:txBody>
      </p:sp>
      <p:sp>
        <p:nvSpPr>
          <p:cNvPr id="17424" name="Right Arrow 17423"/>
          <p:cNvSpPr/>
          <p:nvPr/>
        </p:nvSpPr>
        <p:spPr>
          <a:xfrm>
            <a:off x="9866376" y="3767328"/>
            <a:ext cx="164592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Rounded Rectangle 17424"/>
          <p:cNvSpPr/>
          <p:nvPr/>
        </p:nvSpPr>
        <p:spPr>
          <a:xfrm>
            <a:off x="10058400" y="3273552"/>
            <a:ext cx="1682496" cy="11155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REPORT PARITY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JSON, HTML and PDF asserted to agree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384048" y="4736592"/>
            <a:ext cx="8284464" cy="102412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250" b="1">
                <a:solidFill>
                  <a:srgbClr val="0B5FA5"/>
                </a:solidFill>
                <a:latin typeface="Calibri"/>
              </a:rPr>
              <a:t>PROJECT</a:t>
            </a:r>
          </a:p>
          <a:p>
            <a:pPr>
              <a:lnSpc>
                <a:spcPct val="88000"/>
              </a:lnSpc>
              <a:spcAft>
                <a:spcPts val="200"/>
              </a:spcAft>
            </a:pPr>
            <a:r>
              <a:rPr sz="1200" b="1">
                <a:solidFill>
                  <a:srgbClr val="111B2A"/>
                </a:solidFill>
                <a:latin typeface="Calibri"/>
              </a:rPr>
              <a:t>GitHub repository  </a:t>
            </a:r>
            <a:r>
              <a:rPr sz="1200" u="sng">
                <a:solidFill>
                  <a:srgbClr val="0B5FA5"/>
                </a:solidFill>
                <a:latin typeface="Calibri"/>
                <a:hlinkClick r:id="rId4"/>
              </a:rPr>
              <a:t>https://github.com/sgtsujith141-wq/securemailscope</a:t>
            </a:r>
          </a:p>
          <a:p>
            <a:pPr>
              <a:lnSpc>
                <a:spcPct val="88000"/>
              </a:lnSpc>
              <a:spcAft>
                <a:spcPts val="200"/>
              </a:spcAft>
            </a:pPr>
            <a:r>
              <a:rPr sz="1200" b="1">
                <a:solidFill>
                  <a:srgbClr val="111B2A"/>
                </a:solidFill>
                <a:latin typeface="Calibri"/>
              </a:rPr>
              <a:t>Demonstration video  </a:t>
            </a:r>
            <a:r>
              <a:rPr sz="1200" i="1">
                <a:solidFill>
                  <a:srgbClr val="4A5A70"/>
                </a:solidFill>
                <a:latin typeface="Calibri"/>
              </a:rPr>
              <a:t>Included in the submission package.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8833104" y="4736592"/>
            <a:ext cx="2980944" cy="102412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400" b="0">
                <a:solidFill>
                  <a:srgbClr val="4A5A70"/>
                </a:solidFill>
                <a:latin typeface="Calibri"/>
              </a:rPr>
              <a:t/>
            </a:r>
          </a:p>
        </p:txBody>
      </p:sp>
      <p:pic>
        <p:nvPicPr>
          <p:cNvPr id="17428" name="Picture 17427" descr="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4846320"/>
            <a:ext cx="804672" cy="804672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9875520" y="4882896"/>
            <a:ext cx="184708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00" b="1">
                <a:solidFill>
                  <a:srgbClr val="0B5FA5"/>
                </a:solidFill>
                <a:latin typeface="Calibri"/>
              </a:rPr>
              <a:t>SCAN FOR THE REPOSITORY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950" b="0">
                <a:solidFill>
                  <a:srgbClr val="4A5A70"/>
                </a:solidFill>
                <a:latin typeface="Calibri"/>
              </a:rPr>
              <a:t>Public repository — source, tests and submission package.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