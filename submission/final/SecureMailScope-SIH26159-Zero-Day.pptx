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sgtsujith141-wq/securemailscope" TargetMode="External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3163824"/>
            <a:ext cx="6766560" cy="2834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Problem Statement ID – SIH26159</a:t>
            </a:r>
            <a:endParaRPr lang="en-US" dirty="0"/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Problem Statement Title – SecureMailScope: AI-Assisted Cryptographic Security Posture Assessment for Secure Email Communications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Organisation – National Technical Research Organisation (NTRO)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Theme – Blockchain &amp; Cybersecurity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PS Category – Software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Team ID – 146876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500" b="0">
                <a:solidFill>
                  <a:srgbClr val="111B2A"/>
                </a:solidFill>
                <a:latin typeface="Calibri"/>
              </a:rPr>
              <a:t>Team Name (Registered on portal) – 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1938528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4000" b="1">
                <a:solidFill>
                  <a:srgbClr val="0B5FA5"/>
                </a:solidFill>
                <a:latin typeface="Calibri"/>
              </a:rPr>
              <a:t>SecureMailScope</a:t>
            </a:r>
          </a:p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F2C3F"/>
                </a:solidFill>
                <a:latin typeface="Calibri"/>
              </a:rPr>
              <a:t>AI-Assisted Cryptographic Security Posture Assessment for Secure Email Communications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1847088"/>
            <a:ext cx="1188720" cy="45720"/>
          </a:xfrm>
          <a:prstGeom prst="rect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84048" y="969264"/>
            <a:ext cx="11430000" cy="566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00000"/>
              </a:lnSpc>
              <a:spcAft>
                <a:spcPts val="300"/>
              </a:spcAft>
              <a:buFont typeface="Wingdings" panose="05000000000000000000" pitchFamily="2" charset="2"/>
              <a:buNone/>
            </a:pPr>
            <a:r>
              <a:rPr sz="2000" b="1">
                <a:solidFill>
                  <a:srgbClr val="0B5FA5"/>
                </a:solidFill>
                <a:latin typeface="Calibri"/>
              </a:rPr>
              <a:t>SecureMailScope turns passive email packet captures into evidence-backed cryptographic investigations.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384048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5364" name="Right Arrow 15363"/>
          <p:cNvSpPr/>
          <p:nvPr/>
        </p:nvSpPr>
        <p:spPr>
          <a:xfrm>
            <a:off x="2103120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Rounded Rectangle 15364"/>
          <p:cNvSpPr/>
          <p:nvPr/>
        </p:nvSpPr>
        <p:spPr>
          <a:xfrm>
            <a:off x="2313432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TCP RECONSTRUCTION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sessions rebuilt</a:t>
            </a:r>
          </a:p>
        </p:txBody>
      </p:sp>
      <p:sp>
        <p:nvSpPr>
          <p:cNvPr id="15366" name="Right Arrow 15365"/>
          <p:cNvSpPr/>
          <p:nvPr/>
        </p:nvSpPr>
        <p:spPr>
          <a:xfrm>
            <a:off x="4032504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4242816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from the dialogue</a:t>
            </a:r>
          </a:p>
        </p:txBody>
      </p:sp>
      <p:sp>
        <p:nvSpPr>
          <p:cNvPr id="15368" name="Right Arrow 15367"/>
          <p:cNvSpPr/>
          <p:nvPr/>
        </p:nvSpPr>
        <p:spPr>
          <a:xfrm>
            <a:off x="5961888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6172200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STARTTLS / 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upgrade and handshake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7891272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8101584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CRYPTOGRAPHIC EVIDENCE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versions, suites, certificates</a:t>
            </a:r>
          </a:p>
        </p:txBody>
      </p:sp>
      <p:sp>
        <p:nvSpPr>
          <p:cNvPr id="15372" name="Right Arrow 15371"/>
          <p:cNvSpPr/>
          <p:nvPr/>
        </p:nvSpPr>
        <p:spPr>
          <a:xfrm>
            <a:off x="9820656" y="1938528"/>
            <a:ext cx="182880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10030968" y="1664208"/>
            <a:ext cx="1700784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100" b="1">
                <a:solidFill>
                  <a:srgbClr val="111B2A"/>
                </a:solidFill>
                <a:latin typeface="Calibri"/>
              </a:rPr>
              <a:t>RISK + REMEDIATION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ranked, with the fix</a:t>
            </a:r>
          </a:p>
        </p:txBody>
      </p:sp>
      <p:pic>
        <p:nvPicPr>
          <p:cNvPr id="15374" name="Picture 15373" descr="crop-0.11-0.022-1.0-0.2-02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615184"/>
            <a:ext cx="7461504" cy="2589041"/>
          </a:xfrm>
          <a:prstGeom prst="rect">
            <a:avLst/>
          </a:prstGeom>
        </p:spPr>
      </p:pic>
      <p:sp>
        <p:nvSpPr>
          <p:cNvPr id="15375" name="Rectangle 15374"/>
          <p:cNvSpPr/>
          <p:nvPr/>
        </p:nvSpPr>
        <p:spPr>
          <a:xfrm>
            <a:off x="384048" y="2615184"/>
            <a:ext cx="7461504" cy="2589041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384048" y="5240801"/>
            <a:ext cx="7461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The investigation opens on its conclusion. Actual product output.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8065008" y="2615184"/>
            <a:ext cx="3749039" cy="9326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PASSIVE BY DESIGN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Existing captures only. No live probe, no connection back to the mail server, nothing leaves the machine.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8065008" y="3639312"/>
            <a:ext cx="3749039" cy="9326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EVIDENCE-FIRST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Every finding traces back to the packets that establish it — number, timestamp and stream offset.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8065008" y="4663440"/>
            <a:ext cx="3749039" cy="9326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CROSS-CAPTURE INTELLIGENCE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Cryptographic fingerprints, configuration drift and correlation across captures of the same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0000"/>
              </a:lnSpc>
              <a:spcAft>
                <a:spcPts val="300"/>
              </a:spcAft>
              <a:buFont typeface="Arial" panose="020B0604020202020204" pitchFamily="34" charset="0"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One direction of flow. Each stage reads only what the previous one produced, and records the packets it read it from.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35024"/>
            <a:ext cx="2103120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INPUT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88336" y="1335024"/>
            <a:ext cx="3291840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RECONSTRUCTION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81344" y="1335024"/>
            <a:ext cx="2980944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CRYPTOGRAPHIC ASSESSMENT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363456" y="1335024"/>
            <a:ext cx="2450592" cy="276148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OUTPUT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30352" y="1645920"/>
            <a:ext cx="181051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1353311" y="212140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530352" y="2304288"/>
            <a:ext cx="181051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Safe ingestion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format from the bytes, 8 limits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834640" y="1645920"/>
            <a:ext cx="2999232" cy="36576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Packet decode</a:t>
            </a:r>
          </a:p>
        </p:txBody>
      </p:sp>
      <p:sp>
        <p:nvSpPr>
          <p:cNvPr id="17419" name="Down Arrow 17418"/>
          <p:cNvSpPr/>
          <p:nvPr/>
        </p:nvSpPr>
        <p:spPr>
          <a:xfrm>
            <a:off x="4251960" y="202996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2834640" y="2212848"/>
            <a:ext cx="299923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TCP reassembly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reorder · retransmit · gaps</a:t>
            </a:r>
          </a:p>
        </p:txBody>
      </p:sp>
      <p:sp>
        <p:nvSpPr>
          <p:cNvPr id="17421" name="Down Arrow 17420"/>
          <p:cNvSpPr/>
          <p:nvPr/>
        </p:nvSpPr>
        <p:spPr>
          <a:xfrm>
            <a:off x="4251960" y="2688336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2834640" y="2871216"/>
            <a:ext cx="299923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state machines, not ports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4251960" y="3346704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2834640" y="3529584"/>
            <a:ext cx="2999232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STARTTLS / STLS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advertised · requested · outcome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327648" y="1645920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TLS handshake → X.509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version, suite, key exchange, chain</a:t>
            </a:r>
          </a:p>
        </p:txBody>
      </p:sp>
      <p:sp>
        <p:nvSpPr>
          <p:cNvPr id="17426" name="Down Arrow 17425"/>
          <p:cNvSpPr/>
          <p:nvPr/>
        </p:nvSpPr>
        <p:spPr>
          <a:xfrm>
            <a:off x="7589520" y="212140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6327648" y="2304288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25 policy rules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versioned and fingerprinted</a:t>
            </a:r>
          </a:p>
        </p:txBody>
      </p:sp>
      <p:sp>
        <p:nvSpPr>
          <p:cNvPr id="17428" name="Down Arrow 17427"/>
          <p:cNvSpPr/>
          <p:nvPr/>
        </p:nvSpPr>
        <p:spPr>
          <a:xfrm>
            <a:off x="7589520" y="2779776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6327648" y="2962656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Score · coverage · priority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arithmetic shown, not asserted</a:t>
            </a:r>
          </a:p>
        </p:txBody>
      </p:sp>
      <p:sp>
        <p:nvSpPr>
          <p:cNvPr id="17430" name="Down Arrow 17429"/>
          <p:cNvSpPr/>
          <p:nvPr/>
        </p:nvSpPr>
        <p:spPr>
          <a:xfrm>
            <a:off x="7589520" y="3438144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6327648" y="3621024"/>
            <a:ext cx="2688336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Fingerprint · drift · ML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ML is advisory only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9509760" y="1645920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Canonical report model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schema 1.4.0</a:t>
            </a:r>
          </a:p>
        </p:txBody>
      </p:sp>
      <p:sp>
        <p:nvSpPr>
          <p:cNvPr id="17433" name="Down Arrow 17432"/>
          <p:cNvSpPr/>
          <p:nvPr/>
        </p:nvSpPr>
        <p:spPr>
          <a:xfrm>
            <a:off x="10506456" y="2121408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9509760" y="2304288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FastAPI + SQLite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loopback only, token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10506456" y="2779776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9509760" y="2962656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React workspace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evidence-linked throughout</a:t>
            </a:r>
          </a:p>
        </p:txBody>
      </p:sp>
      <p:sp>
        <p:nvSpPr>
          <p:cNvPr id="17437" name="Down Arrow 17436"/>
          <p:cNvSpPr/>
          <p:nvPr/>
        </p:nvSpPr>
        <p:spPr>
          <a:xfrm>
            <a:off x="10506456" y="3438144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9509760" y="3621024"/>
            <a:ext cx="2157984" cy="457200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JSON · HTML · PDF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parity-tested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2505456" y="181051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ight Arrow 17439"/>
          <p:cNvSpPr/>
          <p:nvPr/>
        </p:nvSpPr>
        <p:spPr>
          <a:xfrm>
            <a:off x="5998464" y="181051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ight Arrow 17440"/>
          <p:cNvSpPr/>
          <p:nvPr/>
        </p:nvSpPr>
        <p:spPr>
          <a:xfrm>
            <a:off x="9180576" y="181051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384048" y="4242816"/>
            <a:ext cx="11430000" cy="786384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EVIDENCE RAIL — WHAT EVERY FINDING CARRIES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03504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PACKET</a:t>
            </a:r>
          </a:p>
        </p:txBody>
      </p:sp>
      <p:sp>
        <p:nvSpPr>
          <p:cNvPr id="17444" name="Right Arrow 17443"/>
          <p:cNvSpPr/>
          <p:nvPr/>
        </p:nvSpPr>
        <p:spPr>
          <a:xfrm>
            <a:off x="2276856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2487168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OBSERVATION</a:t>
            </a:r>
          </a:p>
        </p:txBody>
      </p:sp>
      <p:sp>
        <p:nvSpPr>
          <p:cNvPr id="17446" name="Right Arrow 17445"/>
          <p:cNvSpPr/>
          <p:nvPr/>
        </p:nvSpPr>
        <p:spPr>
          <a:xfrm>
            <a:off x="4160520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Rounded Rectangle 17446"/>
          <p:cNvSpPr/>
          <p:nvPr/>
        </p:nvSpPr>
        <p:spPr>
          <a:xfrm>
            <a:off x="4370831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CRYPTO FACT</a:t>
            </a:r>
          </a:p>
        </p:txBody>
      </p:sp>
      <p:sp>
        <p:nvSpPr>
          <p:cNvPr id="17448" name="Right Arrow 17447"/>
          <p:cNvSpPr/>
          <p:nvPr/>
        </p:nvSpPr>
        <p:spPr>
          <a:xfrm>
            <a:off x="6044183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ounded Rectangle 17448"/>
          <p:cNvSpPr/>
          <p:nvPr/>
        </p:nvSpPr>
        <p:spPr>
          <a:xfrm>
            <a:off x="6254495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RULE</a:t>
            </a:r>
          </a:p>
        </p:txBody>
      </p:sp>
      <p:sp>
        <p:nvSpPr>
          <p:cNvPr id="17450" name="Right Arrow 17449"/>
          <p:cNvSpPr/>
          <p:nvPr/>
        </p:nvSpPr>
        <p:spPr>
          <a:xfrm>
            <a:off x="7927847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Rounded Rectangle 17450"/>
          <p:cNvSpPr/>
          <p:nvPr/>
        </p:nvSpPr>
        <p:spPr>
          <a:xfrm>
            <a:off x="8138159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FINDING</a:t>
            </a:r>
          </a:p>
        </p:txBody>
      </p:sp>
      <p:sp>
        <p:nvSpPr>
          <p:cNvPr id="17452" name="Right Arrow 17451"/>
          <p:cNvSpPr/>
          <p:nvPr/>
        </p:nvSpPr>
        <p:spPr>
          <a:xfrm>
            <a:off x="9811511" y="4663440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Rounded Rectangle 17452"/>
          <p:cNvSpPr/>
          <p:nvPr/>
        </p:nvSpPr>
        <p:spPr>
          <a:xfrm>
            <a:off x="10021824" y="4535424"/>
            <a:ext cx="1645920" cy="3840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REMEDIATION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384048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ENGINE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Python · Scapy · cryptography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2578608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APPLICATION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FastAPI · SQLite · React · TypeScript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4773168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ANALYTICS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scikit-learn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6967727" y="5175504"/>
            <a:ext cx="2103120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VALIDATION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1F2C3F"/>
                </a:solidFill>
                <a:latin typeface="Calibri"/>
              </a:rPr>
              <a:t>pytest · Playwright · TShark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9162288" y="5175504"/>
            <a:ext cx="932688" cy="6766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1B6B3A"/>
                </a:solidFill>
                <a:latin typeface="Calibri"/>
              </a:rPr>
              <a:t>PASSIVE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10149840" y="5175504"/>
            <a:ext cx="932688" cy="6766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0B5FA5"/>
                </a:solidFill>
                <a:latin typeface="Calibri"/>
              </a:rPr>
              <a:t>LOCAL-FIRST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11137392" y="5175504"/>
            <a:ext cx="932688" cy="6766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A83A1E"/>
                </a:solidFill>
                <a:latin typeface="Calibri"/>
              </a:rPr>
              <a:t>EVIDENCE-LINKED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Feasible because it is built and measured. Every figure below was re-run on the release commit.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1,357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backend tests pass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322576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1,367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with the TShark cross-check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61104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89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frontend tests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99632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5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real-backend E2E specs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38160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0B5FA5"/>
                </a:solidFill>
                <a:latin typeface="Calibri"/>
              </a:rPr>
              <a:t>156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files ruff + mypy clean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0076688" y="1316736"/>
            <a:ext cx="1847088" cy="9692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3200" b="1">
                <a:solidFill>
                  <a:srgbClr val="1B6B3A"/>
                </a:solidFill>
                <a:latin typeface="Calibri"/>
              </a:rPr>
              <a:t>0</a:t>
            </a:r>
          </a:p>
          <a:p>
            <a:pPr algn="ctr">
              <a:lnSpc>
                <a:spcPct val="86000"/>
              </a:lnSpc>
              <a:spcAft>
                <a:spcPts val="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known advisories at audit</a:t>
            </a:r>
          </a:p>
        </p:txBody>
      </p:sp>
      <p:pic>
        <p:nvPicPr>
          <p:cNvPr id="17417" name="Picture 17416" descr="crop-0.36-0.285-1.0-0.795-06-evidence-proven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32304"/>
            <a:ext cx="6492240" cy="2910679"/>
          </a:xfrm>
          <a:prstGeom prst="rect">
            <a:avLst/>
          </a:prstGeom>
        </p:spPr>
      </p:pic>
      <p:sp>
        <p:nvSpPr>
          <p:cNvPr id="17418" name="Rectangle 17417"/>
          <p:cNvSpPr/>
          <p:nvPr/>
        </p:nvSpPr>
        <p:spPr>
          <a:xfrm>
            <a:off x="384048" y="2432304"/>
            <a:ext cx="6492240" cy="2910679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384048" y="5379559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TLS-KEX-001, HIGH — and the packets it was evaluated against. Actual product output.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7552944" y="2432304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OBSERVE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Static RSA key exchange negotiated</a:t>
            </a:r>
          </a:p>
        </p:txBody>
      </p:sp>
      <p:sp>
        <p:nvSpPr>
          <p:cNvPr id="17421" name="Down Arrow 17420"/>
          <p:cNvSpPr/>
          <p:nvPr/>
        </p:nvSpPr>
        <p:spPr>
          <a:xfrm>
            <a:off x="9601200" y="3108960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7552944" y="3273552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TRACE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Packets #4 and #5, with timestamps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9601200" y="3950207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7552944" y="4114800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ASSESS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TLS-KEX-001 · HIGH · no forward secrecy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9601200" y="4791455"/>
            <a:ext cx="164592" cy="14630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7552944" y="4956048"/>
            <a:ext cx="4261104" cy="6583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REMEDIATE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Move to ephemeral key exchange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84048" y="5650992"/>
            <a:ext cx="11430000" cy="694944"/>
          </a:xfrm>
          <a:prstGeom prst="roundRect">
            <a:avLst/>
          </a:prstGeom>
          <a:solidFill>
            <a:srgbClr val="FDF2EC"/>
          </a:solidFill>
          <a:ln w="9525">
            <a:solidFill>
              <a:srgbClr val="EE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1100" b="1">
                <a:solidFill>
                  <a:srgbClr val="A83A1E"/>
                </a:solidFill>
                <a:latin typeface="Calibri"/>
              </a:rPr>
              <a:t>KNOWN BOUNDARIES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TLS 1.3 may encrypt certificate evidence a passive capture cannot recover; it is reported NOT AVAILABLE with the reason, never guessed.</a:t>
            </a:r>
          </a:p>
          <a:p>
            <a:pPr>
              <a:lnSpc>
                <a:spcPct val="96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The supervised classifier is experimental and never overrides a deterministic finding.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For authorised email-security investigation — and every claim below is what the product already outputs.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DISCOVER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Observable weak cryptography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70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EXPLAIN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Packet-backed evidence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956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PRIORITIZE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What to fix first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242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TRACK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Cryptographic drift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528048" y="1316736"/>
            <a:ext cx="2194560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REPORT</a:t>
            </a:r>
          </a:p>
          <a:p>
            <a:pPr algn="ctr">
              <a:lnSpc>
                <a:spcPct val="94000"/>
              </a:lnSpc>
              <a:spcAft>
                <a:spcPts val="1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Portable forensic output</a:t>
            </a:r>
          </a:p>
        </p:txBody>
      </p:sp>
      <p:pic>
        <p:nvPicPr>
          <p:cNvPr id="17416" name="Picture 17415" descr="crop-0.11-0.15-1.0-0.735-04-finding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231136"/>
            <a:ext cx="6510528" cy="2647640"/>
          </a:xfrm>
          <a:prstGeom prst="rect">
            <a:avLst/>
          </a:prstGeom>
        </p:spPr>
      </p:pic>
      <p:sp>
        <p:nvSpPr>
          <p:cNvPr id="17417" name="Rectangle 17416"/>
          <p:cNvSpPr/>
          <p:nvPr/>
        </p:nvSpPr>
        <p:spPr>
          <a:xfrm>
            <a:off x="384048" y="2231136"/>
            <a:ext cx="6510528" cy="2647640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4915352"/>
            <a:ext cx="6510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DISCOVER · EXPLAIN · PRIORITIZE — one finding, its rule, its severity and its remediation.</a:t>
            </a:r>
          </a:p>
        </p:txBody>
      </p:sp>
      <p:pic>
        <p:nvPicPr>
          <p:cNvPr id="17419" name="Picture 17418" descr="crop-0.155-0.15-0.99-0.262-13-drift-ver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9168" y="2231136"/>
            <a:ext cx="4754880" cy="669100"/>
          </a:xfrm>
          <a:prstGeom prst="rect">
            <a:avLst/>
          </a:prstGeom>
        </p:spPr>
      </p:pic>
      <p:sp>
        <p:nvSpPr>
          <p:cNvPr id="17420" name="Rectangle 17419"/>
          <p:cNvSpPr/>
          <p:nvPr/>
        </p:nvSpPr>
        <p:spPr>
          <a:xfrm>
            <a:off x="7059168" y="2231136"/>
            <a:ext cx="4754880" cy="669100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7059168" y="293681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TRACK — the same observed service, two captures.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7059168" y="3675887"/>
            <a:ext cx="475488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300" b="1">
                <a:solidFill>
                  <a:srgbClr val="A83A1E"/>
                </a:solidFill>
                <a:latin typeface="Calibri"/>
              </a:rPr>
              <a:t>EARLIER  TLS 1.2      →  OBSERVED_CHANGE  →      LATER  TLS 1.0</a:t>
            </a:r>
          </a:p>
        </p:txBody>
      </p:sp>
      <p:pic>
        <p:nvPicPr>
          <p:cNvPr id="17423" name="Picture 17422" descr="crop-0.0-0.0-1.0-0.44-12-p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9168" y="4389120"/>
            <a:ext cx="2139696" cy="1332713"/>
          </a:xfrm>
          <a:prstGeom prst="rect">
            <a:avLst/>
          </a:prstGeom>
        </p:spPr>
      </p:pic>
      <p:sp>
        <p:nvSpPr>
          <p:cNvPr id="17424" name="Rectangle 17423"/>
          <p:cNvSpPr/>
          <p:nvPr/>
        </p:nvSpPr>
        <p:spPr>
          <a:xfrm>
            <a:off x="7059168" y="4389120"/>
            <a:ext cx="2139696" cy="1332713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7059168" y="5758409"/>
            <a:ext cx="2139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REPORT — the exported PDF.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363456" y="4389120"/>
            <a:ext cx="2450592" cy="129844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The report carries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findings · packet references · remediation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JSON · standalone HTML · PDF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84048" y="5797296"/>
            <a:ext cx="6510528" cy="384048"/>
          </a:xfrm>
          <a:prstGeom prst="roundRect">
            <a:avLst/>
          </a:prstGeom>
          <a:solidFill>
            <a:srgbClr val="E4EEE6"/>
          </a:solidFill>
          <a:ln w="9525">
            <a:solidFill>
              <a:srgbClr val="BED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1">
                <a:solidFill>
                  <a:srgbClr val="1F2C3F"/>
                </a:solidFill>
                <a:latin typeface="Calibri"/>
              </a:rPr>
              <a:t>Demonstrated on controlled synthetic captures; no production deployment claim.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50976"/>
            <a:ext cx="114300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The standards the rules cite, and the pipeline every claim in this deck is checked by.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16736"/>
            <a:ext cx="3749039" cy="14264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CORE TLS / PKI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8446 — TLS 1.3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9325 — secure use of TLS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5280 — X.509 and CRL profile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NIST SP 800-52 Rev. 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24528" y="1316736"/>
            <a:ext cx="3749039" cy="14264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EMAIL SECURITY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5321 — SMTP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3207 — STARTTLS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9051 — IMAP 4rev2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RFC 1939 / RFC 2595 — POP3 and TLS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65008" y="1316736"/>
            <a:ext cx="3749039" cy="142646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VALIDATION / TOOLING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Wireshark / TShark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Scapy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cryptography</a:t>
            </a:r>
          </a:p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pytest · Playwright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926080"/>
            <a:ext cx="11430000" cy="1627632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HOW EVERY CLAIM IS CHECKED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8640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CONTROLLED FIXTURES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one fixed seed, identical bytes everywhere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2258568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2450591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HAND-DERIVED EXPECTATIONS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written by hand, committed, not read back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4160520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352544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ENGINE UNDER TEST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1,357 tests; captures stay out of git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6062472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254496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INDEPENDENT TSHARK CROSS-CHECK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against Wireshark's own dissector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7964423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8156448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REAL-BACKEND PLAYWRIGHT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five browser specs, including a restart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9866376" y="3767328"/>
            <a:ext cx="16459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10058400" y="3273552"/>
            <a:ext cx="1682496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REPORT PARITY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JSON, HTML and PDF asserted to agree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736592"/>
            <a:ext cx="8284464" cy="10241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PROJECT</a:t>
            </a:r>
          </a:p>
          <a:p>
            <a:pPr>
              <a:lnSpc>
                <a:spcPct val="88000"/>
              </a:lnSpc>
              <a:spcAft>
                <a:spcPts val="200"/>
              </a:spcAft>
            </a:pPr>
            <a:r>
              <a:rPr sz="1200" b="1">
                <a:solidFill>
                  <a:srgbClr val="111B2A"/>
                </a:solidFill>
                <a:latin typeface="Calibri"/>
              </a:rPr>
              <a:t>GitHub repository  </a:t>
            </a:r>
            <a:r>
              <a:rPr sz="1200" u="sng">
                <a:solidFill>
                  <a:srgbClr val="0B5FA5"/>
                </a:solidFill>
                <a:latin typeface="Calibri"/>
                <a:hlinkClick r:id="rId4"/>
              </a:rPr>
              <a:t>https://github.com/sgtsujith141-wq/securemailscope</a:t>
            </a:r>
          </a:p>
          <a:p>
            <a:pPr>
              <a:lnSpc>
                <a:spcPct val="88000"/>
              </a:lnSpc>
              <a:spcAft>
                <a:spcPts val="200"/>
              </a:spcAft>
            </a:pPr>
            <a:r>
              <a:rPr sz="1200" b="1">
                <a:solidFill>
                  <a:srgbClr val="111B2A"/>
                </a:solidFill>
                <a:latin typeface="Calibri"/>
              </a:rPr>
              <a:t>Demonstration  </a:t>
            </a:r>
            <a:r>
              <a:rPr sz="1200" i="1">
                <a:solidFill>
                  <a:srgbClr val="4A5A70"/>
                </a:solidFill>
                <a:latin typeface="Calibri"/>
              </a:rPr>
              <a:t>Demo video included in submission package.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8833104" y="4736592"/>
            <a:ext cx="2980944" cy="10241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400" b="0">
                <a:solidFill>
                  <a:srgbClr val="4A5A70"/>
                </a:solidFill>
                <a:latin typeface="Calibri"/>
              </a:rPr>
              <a:t/>
            </a:r>
          </a:p>
        </p:txBody>
      </p:sp>
      <p:pic>
        <p:nvPicPr>
          <p:cNvPr id="17428" name="Picture 17427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846320"/>
            <a:ext cx="804672" cy="80467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875520" y="4882896"/>
            <a:ext cx="18470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SCAN FOR THE REPOSITORY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Private until the team publishes it.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